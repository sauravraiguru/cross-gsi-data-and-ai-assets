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notesMasterIdLst>
    <p:notesMasterId r:id="rId15"/>
  </p:notesMasterIdLst>
  <p:sldIdLst>
    <p:sldId id="268" r:id="rId2"/>
    <p:sldId id="359" r:id="rId3"/>
    <p:sldId id="397" r:id="rId4"/>
    <p:sldId id="395" r:id="rId5"/>
    <p:sldId id="387" r:id="rId6"/>
    <p:sldId id="400" r:id="rId7"/>
    <p:sldId id="401" r:id="rId8"/>
    <p:sldId id="402" r:id="rId9"/>
    <p:sldId id="388" r:id="rId10"/>
    <p:sldId id="392" r:id="rId11"/>
    <p:sldId id="399" r:id="rId12"/>
    <p:sldId id="390" r:id="rId13"/>
    <p:sldId id="35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94684"/>
  </p:normalViewPr>
  <p:slideViewPr>
    <p:cSldViewPr snapToGrid="0" snapToObjects="1">
      <p:cViewPr varScale="1">
        <p:scale>
          <a:sx n="113" d="100"/>
          <a:sy n="113" d="100"/>
        </p:scale>
        <p:origin x="176" y="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37C310-117B-484F-9E63-DB4C87B9CC85}" type="datetimeFigureOut">
              <a:rPr lang="en-US" smtClean="0"/>
              <a:t>8/18/20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B886A-816F-7243-A09F-3D96EC8A0E8F}" type="slidenum">
              <a:rPr lang="en-US" smtClean="0"/>
              <a:t>‹#›</a:t>
            </a:fld>
            <a:endParaRPr lang="en-US"/>
          </a:p>
        </p:txBody>
      </p:sp>
    </p:spTree>
    <p:extLst>
      <p:ext uri="{BB962C8B-B14F-4D97-AF65-F5344CB8AC3E}">
        <p14:creationId xmlns:p14="http://schemas.microsoft.com/office/powerpoint/2010/main" val="2055049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sz="900" b="1" dirty="0">
                <a:solidFill>
                  <a:schemeClr val="tx1"/>
                </a:solidFill>
              </a:rPr>
              <a:t>Title</a:t>
            </a:r>
          </a:p>
          <a:p>
            <a:r>
              <a:rPr lang="en-US" sz="900" dirty="0">
                <a:solidFill>
                  <a:schemeClr val="tx1"/>
                </a:solidFill>
              </a:rPr>
              <a:t>Watson Studio Premium Modernization Upgrade – SPSS Modeler</a:t>
            </a:r>
          </a:p>
          <a:p>
            <a:endParaRPr lang="en-US" sz="900" dirty="0">
              <a:solidFill>
                <a:schemeClr val="tx1"/>
              </a:solidFill>
            </a:endParaRPr>
          </a:p>
          <a:p>
            <a:r>
              <a:rPr lang="en-US" sz="900" b="1" dirty="0">
                <a:solidFill>
                  <a:schemeClr val="tx1"/>
                </a:solidFill>
              </a:rPr>
              <a:t>Abstract:</a:t>
            </a:r>
          </a:p>
          <a:p>
            <a:r>
              <a:rPr lang="en-US" sz="900" dirty="0">
                <a:solidFill>
                  <a:schemeClr val="tx1"/>
                </a:solidFill>
              </a:rPr>
              <a:t>[Watson Studio Premium Modernization Upgrade] EXCLUSIVELY AVAILABLE for IBM SPSS Modeler and IBM Decision Optimization / CPLEX clients</a:t>
            </a:r>
          </a:p>
          <a:p>
            <a:endParaRPr lang="en-US" sz="900" dirty="0">
              <a:solidFill>
                <a:schemeClr val="tx1"/>
              </a:solidFill>
            </a:endParaRPr>
          </a:p>
          <a:p>
            <a:r>
              <a:rPr lang="en-US" sz="900" b="0" i="0" dirty="0">
                <a:solidFill>
                  <a:schemeClr val="tx1"/>
                </a:solidFill>
              </a:rPr>
              <a:t>As we go through business disruptions and unchartered territories, one thing is clear: data Science and AI is more vital than ever.  </a:t>
            </a:r>
            <a:r>
              <a:rPr lang="en-US" sz="900" dirty="0">
                <a:solidFill>
                  <a:schemeClr val="tx1"/>
                </a:solidFill>
              </a:rPr>
              <a:t>In today’s world, you need to rev up your innovation engine while keeping the lights on. This is why IBM is offering the Watson Studio Premium Modernization Upgrade to our valued clients.  </a:t>
            </a:r>
          </a:p>
          <a:p>
            <a:endParaRPr lang="en-US" sz="900" dirty="0">
              <a:solidFill>
                <a:schemeClr val="tx1"/>
              </a:solidFill>
            </a:endParaRPr>
          </a:p>
          <a:p>
            <a:r>
              <a:rPr lang="en-US" sz="900" dirty="0">
                <a:solidFill>
                  <a:schemeClr val="tx1"/>
                </a:solidFill>
              </a:rPr>
              <a:t>Watson Studio Premium Modernization Upgrade offers existing clients of IBM SPSS Modeler a cost-effective way to benefit from SPSS Modeler and Cloud Pak for Data while modernizing at their own pace - all with a heavy discount. </a:t>
            </a:r>
            <a:r>
              <a:rPr lang="en-US" sz="900" b="0" i="0" dirty="0">
                <a:solidFill>
                  <a:schemeClr val="tx1"/>
                </a:solidFill>
              </a:rPr>
              <a:t>We also improved licensing and reduced pricing for Watson Studio Premium for Cloud Pak Data.  In essence, with this offer, you can chart your own path to modernize data science at your own pace. </a:t>
            </a:r>
          </a:p>
          <a:p>
            <a:endParaRPr lang="en-US" sz="900" dirty="0">
              <a:solidFill>
                <a:schemeClr val="tx1"/>
              </a:solidFill>
            </a:endParaRPr>
          </a:p>
          <a:p>
            <a:r>
              <a:rPr lang="en-US" sz="900" dirty="0">
                <a:solidFill>
                  <a:schemeClr val="tx1"/>
                </a:solidFill>
              </a:rPr>
              <a:t>As an IBM client, you can keep your existing SPSS Modeler investments and build data and AI services with prediction and optimization on a modern data science and AI platform.  In this presentation, we will discuss the benefits of Watson Studio Premium Modernization Upgrade, review sizing examples and outline how you can include this new offer as part of your data science and AI journey.</a:t>
            </a:r>
          </a:p>
          <a:p>
            <a:endParaRPr lang="en-US" sz="900" dirty="0">
              <a:solidFill>
                <a:schemeClr val="tx1"/>
              </a:solidFill>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2999707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Now we’d like to move onto another feature of Watson Studio Premium – </a:t>
            </a:r>
            <a:r>
              <a:rPr lang="en-US" dirty="0" err="1"/>
              <a:t>Decisio</a:t>
            </a:r>
            <a:r>
              <a:rPr lang="en-US" dirty="0"/>
              <a:t> Optimization. In previous slides, we’ve focused on how WSP improves predictive analytics; however, with predictive analytics alone, you’re only getting half the story.  You have the “what is likely to happen”, but you’re missing the “what to do about it”.  </a:t>
            </a:r>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3787364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sz="1000" b="1" dirty="0">
                <a:latin typeface="Arial" panose="020B0604020202020204" pitchFamily="34" charset="0"/>
                <a:cs typeface="Arial" panose="020B0604020202020204" pitchFamily="34" charset="0"/>
              </a:rPr>
              <a:t>IBM Decision Optimization for Watson Studio delivers leading-edge prescriptive analytics </a:t>
            </a:r>
          </a:p>
          <a:p>
            <a:endParaRPr lang="en-US" sz="10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Talking points: </a:t>
            </a:r>
            <a:endParaRPr lang="en-US" sz="1000" kern="1200" dirty="0">
              <a:solidFill>
                <a:schemeClr val="tx1"/>
              </a:solidFill>
              <a:effectLst/>
              <a:latin typeface="Arial" panose="020B0604020202020204" pitchFamily="34" charset="0"/>
              <a:cs typeface="Arial" panose="020B0604020202020204" pitchFamily="34" charset="0"/>
            </a:endParaRPr>
          </a:p>
          <a:p>
            <a:pPr marL="171450" indent="-171450" fontAlgn="base">
              <a:buFont typeface="Arial" panose="020B0604020202020204" pitchFamily="34" charset="0"/>
              <a:buChar char="•"/>
            </a:pPr>
            <a:r>
              <a:rPr lang="en-US" sz="1000" b="0" i="0" kern="1200" dirty="0">
                <a:solidFill>
                  <a:schemeClr val="tx1"/>
                </a:solidFill>
                <a:effectLst/>
                <a:latin typeface="Arial" panose="020B0604020202020204" pitchFamily="34" charset="0"/>
                <a:ea typeface="+mn-ea"/>
                <a:cs typeface="Arial" panose="020B0604020202020204" pitchFamily="34" charset="0"/>
              </a:rPr>
              <a:t>Once you’ve used data to predict what will happen, the next step is to decide what to do about it. </a:t>
            </a:r>
          </a:p>
          <a:p>
            <a:pPr marL="171450" indent="-171450" fontAlgn="base">
              <a:buFont typeface="Arial" panose="020B0604020202020204" pitchFamily="34" charset="0"/>
              <a:buChar char="•"/>
            </a:pPr>
            <a:r>
              <a:rPr lang="en-US" sz="1000" b="0" i="0" kern="1200" dirty="0">
                <a:solidFill>
                  <a:schemeClr val="tx1"/>
                </a:solidFill>
                <a:effectLst/>
                <a:latin typeface="Arial" panose="020B0604020202020204" pitchFamily="34" charset="0"/>
                <a:ea typeface="+mn-ea"/>
                <a:cs typeface="Arial" panose="020B0604020202020204" pitchFamily="34" charset="0"/>
              </a:rPr>
              <a:t>Combining massive data resources with cutting-edge analytics and optimization tools, IBM Decision Optimization reduces the effort, time and risk associated with finding answers. </a:t>
            </a:r>
          </a:p>
          <a:p>
            <a:pPr marL="171450" indent="-171450" fontAlgn="base">
              <a:buFont typeface="Arial" panose="020B0604020202020204" pitchFamily="34" charset="0"/>
              <a:buChar char="•"/>
            </a:pPr>
            <a:r>
              <a:rPr lang="en-US" sz="1000" b="0" i="0" kern="1200" dirty="0">
                <a:solidFill>
                  <a:schemeClr val="tx1"/>
                </a:solidFill>
                <a:effectLst/>
                <a:latin typeface="Arial" panose="020B0604020202020204" pitchFamily="34" charset="0"/>
                <a:ea typeface="+mn-ea"/>
                <a:cs typeface="Arial" panose="020B0604020202020204" pitchFamily="34" charset="0"/>
              </a:rPr>
              <a:t>With </a:t>
            </a:r>
            <a:r>
              <a:rPr lang="en-US" sz="1000" dirty="0">
                <a:latin typeface="Arial" panose="020B0604020202020204" pitchFamily="34" charset="0"/>
                <a:cs typeface="Arial" panose="020B0604020202020204" pitchFamily="34" charset="0"/>
              </a:rPr>
              <a:t>IBM Decision Optimization, you can simplify complex business decisions using data science.</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602140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pPr marL="91440" lvl="1"/>
            <a:r>
              <a:rPr lang="en-US" sz="900" b="1" dirty="0">
                <a:latin typeface="Arial" panose="020B0604020202020204" pitchFamily="34" charset="0"/>
                <a:cs typeface="Arial" panose="020B0604020202020204" pitchFamily="34" charset="0"/>
              </a:rPr>
              <a:t>Predictive analytics consists of a couple of broad categories:</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Basic (supervised): you know the answer and you teach the machine how to find it </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More advanced</a:t>
            </a:r>
          </a:p>
          <a:p>
            <a:pPr marL="605790" lvl="3"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Unsupervised learning: machine discovers patterns</a:t>
            </a:r>
          </a:p>
          <a:p>
            <a:pPr marL="605790" lvl="3"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Reinforcement learning: awards indicate success </a:t>
            </a:r>
            <a:r>
              <a:rPr lang="mr-IN" sz="900" dirty="0">
                <a:latin typeface="Arial" panose="020B0604020202020204" pitchFamily="34" charset="0"/>
              </a:rPr>
              <a:t>–</a:t>
            </a:r>
            <a:r>
              <a:rPr lang="en-US" sz="900" dirty="0">
                <a:latin typeface="Arial" panose="020B0604020202020204" pitchFamily="34" charset="0"/>
                <a:cs typeface="Arial" panose="020B0604020202020204" pitchFamily="34" charset="0"/>
              </a:rPr>
              <a:t> think self-driving cars</a:t>
            </a:r>
          </a:p>
          <a:p>
            <a:pPr marL="605790" lvl="3"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Deep learning: pattern/image/object/speech recognition, text processing, time series analysis</a:t>
            </a:r>
          </a:p>
          <a:p>
            <a:pPr marL="91440"/>
            <a:endParaRPr lang="en-US" sz="900" dirty="0">
              <a:latin typeface="Arial" panose="020B0604020202020204" pitchFamily="34" charset="0"/>
              <a:cs typeface="Arial" panose="020B0604020202020204" pitchFamily="34" charset="0"/>
            </a:endParaRPr>
          </a:p>
          <a:p>
            <a:pPr marL="91440" marR="0" lvl="1" indent="0" algn="l" defTabSz="685800"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cs typeface="Arial" panose="020B0604020202020204" pitchFamily="34" charset="0"/>
              </a:rPr>
              <a:t>Optimization (prescriptive analytics) is different:</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You don’t know the answer, and you teach the machine the logic to find it</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Capture business goals, decision variables, and constraints </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More advanced </a:t>
            </a:r>
            <a:r>
              <a:rPr lang="mr-IN" sz="900" dirty="0">
                <a:latin typeface="Arial" panose="020B0604020202020204" pitchFamily="34" charset="0"/>
              </a:rPr>
              <a:t>–</a:t>
            </a:r>
            <a:r>
              <a:rPr lang="en-US" sz="900" dirty="0">
                <a:latin typeface="Arial" panose="020B0604020202020204" pitchFamily="34" charset="0"/>
                <a:cs typeface="Arial" panose="020B0604020202020204" pitchFamily="34" charset="0"/>
              </a:rPr>
              <a:t> robust/stochastic</a:t>
            </a:r>
          </a:p>
          <a:p>
            <a:pPr marL="91440" lvl="1"/>
            <a:endParaRPr lang="en-US" sz="900" dirty="0">
              <a:latin typeface="Arial" panose="020B0604020202020204" pitchFamily="34" charset="0"/>
              <a:cs typeface="Arial" panose="020B0604020202020204" pitchFamily="34" charset="0"/>
            </a:endParaRPr>
          </a:p>
          <a:p>
            <a:pPr marL="91440" marR="0" lvl="0" indent="0" algn="l" defTabSz="685800"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cs typeface="Arial" panose="020B0604020202020204" pitchFamily="34" charset="0"/>
              </a:rPr>
              <a:t>Parallels between machine learning &amp; decision optimization </a:t>
            </a:r>
          </a:p>
          <a:p>
            <a:pPr marL="26289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Complexity</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Both involve complex mathematics and algorithms</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Both require experts to effectively build &amp; deploy solutions</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Both involve exponential network growth (e.g. MIP trees, deep nets), and often weights &amp; probabilities (e.g. stochastic)</a:t>
            </a:r>
          </a:p>
          <a:p>
            <a:pPr marL="26289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Proven </a:t>
            </a:r>
            <a:r>
              <a:rPr lang="mr-IN" sz="900" dirty="0">
                <a:latin typeface="Arial" panose="020B0604020202020204" pitchFamily="34" charset="0"/>
              </a:rPr>
              <a:t>–</a:t>
            </a:r>
            <a:r>
              <a:rPr lang="en-US" sz="900" dirty="0">
                <a:latin typeface="Arial" panose="020B0604020202020204" pitchFamily="34" charset="0"/>
                <a:cs typeface="Arial" panose="020B0604020202020204" pitchFamily="34" charset="0"/>
              </a:rPr>
              <a:t> both have been around for decades</a:t>
            </a:r>
          </a:p>
          <a:p>
            <a:pPr marL="26289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Data</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Results depend on the quality of data</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Require analysis to verify the accuracy of results (training vs post-optimization analysis)</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927997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sz="1000" b="0" dirty="0">
                <a:solidFill>
                  <a:schemeClr val="bg1"/>
                </a:solidFill>
                <a:latin typeface="IBM Plex Sans" panose="020B0503050203000203" pitchFamily="34" charset="0"/>
              </a:rPr>
              <a:t>You’re likely using SPSS Modeler for things like discovering trends and patterns, finding correlations and uncovering insights for hypotheses.  Or you might be predicting customer segmentation and attrition, optimizing your contact center, predicting maintenance on machines or preventing fraud.</a:t>
            </a:r>
          </a:p>
          <a:p>
            <a:endParaRPr lang="en-US" sz="1000" b="0" dirty="0">
              <a:solidFill>
                <a:schemeClr val="bg1"/>
              </a:solidFill>
              <a:latin typeface="IBM Plex Sans" panose="020B0503050203000203" pitchFamily="34" charset="0"/>
            </a:endParaRPr>
          </a:p>
          <a:p>
            <a:r>
              <a:rPr lang="en-US" sz="1000" b="0" dirty="0">
                <a:solidFill>
                  <a:schemeClr val="bg1"/>
                </a:solidFill>
                <a:latin typeface="IBM Plex Sans" panose="020B0503050203000203" pitchFamily="34" charset="0"/>
              </a:rPr>
              <a:t>What can get interesting here that you can now apply decision optimization into the insight you just generated.  This includes</a:t>
            </a:r>
          </a:p>
          <a:p>
            <a:pPr marL="171446" marR="0" lvl="0" indent="-171446" algn="l" defTabSz="787380" rtl="0" eaLnBrk="1" fontAlgn="auto" latinLnBrk="0" hangingPunct="1">
              <a:lnSpc>
                <a:spcPct val="80000"/>
              </a:lnSpc>
              <a:spcBef>
                <a:spcPct val="30000"/>
              </a:spcBef>
              <a:spcAft>
                <a:spcPts val="0"/>
              </a:spcAft>
              <a:buClrTx/>
              <a:buSzTx/>
              <a:buFont typeface="System Font Regular"/>
              <a:buChar char="–"/>
              <a:tabLst/>
              <a:defRPr/>
            </a:pPr>
            <a:r>
              <a:rPr kumimoji="0" lang="en-US" sz="1000" b="0" i="0" u="none" strike="noStrike" kern="1200" cap="none" spc="0" normalizeH="0" baseline="0" noProof="0" dirty="0">
                <a:ln>
                  <a:noFill/>
                </a:ln>
                <a:solidFill>
                  <a:srgbClr val="000000"/>
                </a:solidFill>
                <a:effectLst/>
                <a:uLnTx/>
                <a:uFillTx/>
                <a:latin typeface="IBM Plex Sans" panose="020B0503050203000203" pitchFamily="34" charset="0"/>
                <a:ea typeface="ＭＳ Ｐゴシック" charset="-128"/>
                <a:cs typeface="+mn-cs"/>
                <a:sym typeface="Calibri"/>
              </a:rPr>
              <a:t>Scheduling</a:t>
            </a:r>
          </a:p>
          <a:p>
            <a:pPr marL="171446" marR="0" lvl="0" indent="-171446" algn="l" defTabSz="787380" rtl="0" eaLnBrk="1" fontAlgn="auto" latinLnBrk="0" hangingPunct="1">
              <a:lnSpc>
                <a:spcPct val="80000"/>
              </a:lnSpc>
              <a:spcBef>
                <a:spcPct val="30000"/>
              </a:spcBef>
              <a:spcAft>
                <a:spcPts val="0"/>
              </a:spcAft>
              <a:buClrTx/>
              <a:buSzTx/>
              <a:buFont typeface="System Font Regular"/>
              <a:buChar char="–"/>
              <a:tabLst/>
              <a:defRPr/>
            </a:pPr>
            <a:r>
              <a:rPr kumimoji="0" lang="en-US" altLang="zh-CN" sz="1000" b="0" i="0" u="none" strike="noStrike" kern="1200" cap="none" spc="0" normalizeH="0" baseline="0" noProof="0" dirty="0">
                <a:ln>
                  <a:noFill/>
                </a:ln>
                <a:solidFill>
                  <a:srgbClr val="000000"/>
                </a:solidFill>
                <a:effectLst/>
                <a:uLnTx/>
                <a:uFillTx/>
                <a:latin typeface="IBM Plex Sans" panose="020B0503050203000203" pitchFamily="34" charset="0"/>
                <a:ea typeface="SimSun" charset="-122"/>
                <a:cs typeface="+mn-cs"/>
                <a:sym typeface="Calibri"/>
              </a:rPr>
              <a:t>Demand and supply matching</a:t>
            </a:r>
          </a:p>
          <a:p>
            <a:pPr marL="171446" marR="0" lvl="0" indent="-171446" algn="l" defTabSz="787380" rtl="0" eaLnBrk="1" fontAlgn="auto" latinLnBrk="0" hangingPunct="1">
              <a:lnSpc>
                <a:spcPct val="80000"/>
              </a:lnSpc>
              <a:spcBef>
                <a:spcPct val="30000"/>
              </a:spcBef>
              <a:spcAft>
                <a:spcPts val="0"/>
              </a:spcAft>
              <a:buClrTx/>
              <a:buSzTx/>
              <a:buFont typeface="System Font Regular"/>
              <a:buChar char="–"/>
              <a:tabLst/>
              <a:defRPr/>
            </a:pPr>
            <a:r>
              <a:rPr kumimoji="0" lang="en-US" altLang="zh-CN" sz="1000" b="0" i="0" u="none" strike="noStrike" kern="0" cap="none" spc="0" normalizeH="0" baseline="0" noProof="0" dirty="0">
                <a:ln>
                  <a:noFill/>
                </a:ln>
                <a:solidFill>
                  <a:srgbClr val="000000"/>
                </a:solidFill>
                <a:effectLst/>
                <a:uLnTx/>
                <a:uFillTx/>
                <a:latin typeface="IBM Plex Sans" panose="020B0503050203000203" pitchFamily="34" charset="0"/>
                <a:ea typeface="SimSun" charset="-122"/>
                <a:cs typeface="+mn-cs"/>
                <a:sym typeface="Calibri"/>
              </a:rPr>
              <a:t>Allocation</a:t>
            </a:r>
          </a:p>
          <a:p>
            <a:pPr marL="171446" marR="0" lvl="0" indent="-171446" algn="l" defTabSz="787380" rtl="0" eaLnBrk="1" fontAlgn="auto" latinLnBrk="0" hangingPunct="1">
              <a:lnSpc>
                <a:spcPct val="80000"/>
              </a:lnSpc>
              <a:spcBef>
                <a:spcPct val="30000"/>
              </a:spcBef>
              <a:spcAft>
                <a:spcPts val="0"/>
              </a:spcAft>
              <a:buClrTx/>
              <a:buSzTx/>
              <a:buFont typeface="System Font Regular"/>
              <a:buChar char="–"/>
              <a:tabLst/>
              <a:defRPr/>
            </a:pPr>
            <a:r>
              <a:rPr kumimoji="0" lang="en-US" altLang="zh-CN" sz="1000" b="0" i="0" u="none" strike="noStrike" kern="0" cap="none" spc="0" normalizeH="0" baseline="0" noProof="0" dirty="0">
                <a:ln>
                  <a:noFill/>
                </a:ln>
                <a:solidFill>
                  <a:srgbClr val="000000"/>
                </a:solidFill>
                <a:effectLst/>
                <a:uLnTx/>
                <a:uFillTx/>
                <a:latin typeface="IBM Plex Sans" panose="020B0503050203000203" pitchFamily="34" charset="0"/>
                <a:ea typeface="SimSun" charset="-122"/>
                <a:cs typeface="+mn-cs"/>
                <a:sym typeface="Calibri"/>
              </a:rPr>
              <a:t>Logistics </a:t>
            </a:r>
          </a:p>
          <a:p>
            <a:pPr marL="171446" marR="0" lvl="0" indent="-171446" algn="l" defTabSz="787380" rtl="0" eaLnBrk="1" fontAlgn="auto" latinLnBrk="0" hangingPunct="1">
              <a:lnSpc>
                <a:spcPct val="80000"/>
              </a:lnSpc>
              <a:spcBef>
                <a:spcPct val="30000"/>
              </a:spcBef>
              <a:spcAft>
                <a:spcPts val="0"/>
              </a:spcAft>
              <a:buClrTx/>
              <a:buSzTx/>
              <a:buFont typeface="System Font Regular"/>
              <a:buChar char="–"/>
              <a:tabLst/>
              <a:defRPr/>
            </a:pPr>
            <a:r>
              <a:rPr kumimoji="0" lang="en-US" altLang="zh-CN" sz="1000" b="0" i="0" u="none" strike="noStrike" kern="0" cap="none" spc="0" normalizeH="0" baseline="0" noProof="0" dirty="0">
                <a:ln>
                  <a:noFill/>
                </a:ln>
                <a:solidFill>
                  <a:srgbClr val="000000"/>
                </a:solidFill>
                <a:effectLst/>
                <a:uLnTx/>
                <a:uFillTx/>
                <a:latin typeface="IBM Plex Sans" panose="020B0503050203000203" pitchFamily="34" charset="0"/>
                <a:ea typeface="SimSun" charset="-122"/>
                <a:cs typeface="+mn-cs"/>
                <a:sym typeface="Calibri"/>
              </a:rPr>
              <a:t>Pricing and category management</a:t>
            </a:r>
          </a:p>
          <a:p>
            <a:pPr marL="171446" marR="0" lvl="0" indent="-171446" algn="l" defTabSz="787380" rtl="0" eaLnBrk="1" fontAlgn="auto" latinLnBrk="0" hangingPunct="1">
              <a:lnSpc>
                <a:spcPct val="80000"/>
              </a:lnSpc>
              <a:spcBef>
                <a:spcPct val="30000"/>
              </a:spcBef>
              <a:spcAft>
                <a:spcPts val="0"/>
              </a:spcAft>
              <a:buClrTx/>
              <a:buSzTx/>
              <a:buFont typeface="System Font Regular"/>
              <a:buChar char="–"/>
              <a:tabLst/>
              <a:defRPr/>
            </a:pPr>
            <a:r>
              <a:rPr kumimoji="0" lang="en-US" altLang="zh-CN" sz="1000" b="0" i="0" u="none" strike="noStrike" kern="0" cap="none" spc="0" normalizeH="0" baseline="0" noProof="0" dirty="0">
                <a:ln>
                  <a:noFill/>
                </a:ln>
                <a:solidFill>
                  <a:srgbClr val="000000"/>
                </a:solidFill>
                <a:effectLst/>
                <a:uLnTx/>
                <a:uFillTx/>
                <a:latin typeface="IBM Plex Sans" panose="020B0503050203000203" pitchFamily="34" charset="0"/>
                <a:ea typeface="SimSun" charset="-122"/>
                <a:cs typeface="+mn-cs"/>
                <a:sym typeface="Calibri"/>
              </a:rPr>
              <a:t>Scenario planning</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874907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102225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IBM Decision Optimization can speed the process of building optimization models quickly. Decision Optimization on Watson Studio premium offers a modern and intuitive model builder development experience.  You can easily create an optimization model by coding in Python or using the built-in modeling assistant.  Modeling Assistant enables a no-coding approach and uses natural language to build optimization models. It also uses visual dashboards and other tools to simplify the process of testing multiple scenarios.</a:t>
            </a:r>
            <a:endParaRPr lang="en-US" dirty="0">
              <a:cs typeface="Calibri" panose="020F0502020204030204"/>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2330975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pPr marL="91440" lvl="1"/>
            <a:r>
              <a:rPr lang="en-US" sz="900" b="1" dirty="0">
                <a:latin typeface="Arial" panose="020B0604020202020204" pitchFamily="34" charset="0"/>
                <a:cs typeface="Arial" panose="020B0604020202020204" pitchFamily="34" charset="0"/>
              </a:rPr>
              <a:t>Learning 101 </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Basic (supervised): you know the answer and you teach the machine how to find it </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More advanced</a:t>
            </a:r>
          </a:p>
          <a:p>
            <a:pPr marL="605790" lvl="3"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Unsupervised learning: machine discovers patterns</a:t>
            </a:r>
          </a:p>
          <a:p>
            <a:pPr marL="605790" lvl="3"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Reinforcement learning: awards indicate success </a:t>
            </a:r>
            <a:r>
              <a:rPr lang="mr-IN" sz="900" dirty="0">
                <a:latin typeface="Arial" panose="020B0604020202020204" pitchFamily="34" charset="0"/>
              </a:rPr>
              <a:t>–</a:t>
            </a:r>
            <a:r>
              <a:rPr lang="en-US" sz="900" dirty="0">
                <a:latin typeface="Arial" panose="020B0604020202020204" pitchFamily="34" charset="0"/>
                <a:cs typeface="Arial" panose="020B0604020202020204" pitchFamily="34" charset="0"/>
              </a:rPr>
              <a:t> think self-driving cars</a:t>
            </a:r>
          </a:p>
          <a:p>
            <a:pPr marL="605790" lvl="3"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Deep learning: pattern/image/object/speech recognition, text processing, time series analysis</a:t>
            </a:r>
          </a:p>
          <a:p>
            <a:pPr marL="91440"/>
            <a:endParaRPr lang="en-US" sz="900" dirty="0">
              <a:latin typeface="Arial" panose="020B0604020202020204" pitchFamily="34" charset="0"/>
              <a:cs typeface="Arial" panose="020B0604020202020204" pitchFamily="34" charset="0"/>
            </a:endParaRPr>
          </a:p>
          <a:p>
            <a:pPr marL="91440" marR="0" lvl="1" indent="0" algn="l" defTabSz="685800"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cs typeface="Arial" panose="020B0604020202020204" pitchFamily="34" charset="0"/>
              </a:rPr>
              <a:t>Optimization 101</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You don’t know the answer, and you teach the machine the logic to find it</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Capture business goals, decision variables, and constraints </a:t>
            </a:r>
          </a:p>
          <a:p>
            <a:pPr marL="262890" lvl="1"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More advanced </a:t>
            </a:r>
            <a:r>
              <a:rPr lang="mr-IN" sz="900" dirty="0">
                <a:latin typeface="Arial" panose="020B0604020202020204" pitchFamily="34" charset="0"/>
              </a:rPr>
              <a:t>–</a:t>
            </a:r>
            <a:r>
              <a:rPr lang="en-US" sz="900" dirty="0">
                <a:latin typeface="Arial" panose="020B0604020202020204" pitchFamily="34" charset="0"/>
                <a:cs typeface="Arial" panose="020B0604020202020204" pitchFamily="34" charset="0"/>
              </a:rPr>
              <a:t> robust/stochastic</a:t>
            </a:r>
          </a:p>
          <a:p>
            <a:pPr marL="91440" lvl="1"/>
            <a:endParaRPr lang="en-US" sz="900" dirty="0">
              <a:latin typeface="Arial" panose="020B0604020202020204" pitchFamily="34" charset="0"/>
              <a:cs typeface="Arial" panose="020B0604020202020204" pitchFamily="34" charset="0"/>
            </a:endParaRPr>
          </a:p>
          <a:p>
            <a:pPr marL="91440" marR="0" lvl="0" indent="0" algn="l" defTabSz="685800"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cs typeface="Arial" panose="020B0604020202020204" pitchFamily="34" charset="0"/>
              </a:rPr>
              <a:t>Parallels between machine learning &amp; decision optimization </a:t>
            </a:r>
          </a:p>
          <a:p>
            <a:pPr marL="26289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Complexity</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Both involve complex mathematics and algorithms</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Both require experts to effectively build &amp; deploy solutions</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Both involve exponential network growth (e.g. MIP trees, deep nets), and often weights &amp; probabilities (e.g. stochastic)</a:t>
            </a:r>
          </a:p>
          <a:p>
            <a:pPr marL="26289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Proven </a:t>
            </a:r>
            <a:r>
              <a:rPr lang="mr-IN" sz="900" dirty="0">
                <a:latin typeface="Arial" panose="020B0604020202020204" pitchFamily="34" charset="0"/>
              </a:rPr>
              <a:t>–</a:t>
            </a:r>
            <a:r>
              <a:rPr lang="en-US" sz="900" dirty="0">
                <a:latin typeface="Arial" panose="020B0604020202020204" pitchFamily="34" charset="0"/>
                <a:cs typeface="Arial" panose="020B0604020202020204" pitchFamily="34" charset="0"/>
              </a:rPr>
              <a:t> both have been around for decades</a:t>
            </a:r>
          </a:p>
          <a:p>
            <a:pPr marL="26289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Data</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Results depend on the quality of data</a:t>
            </a:r>
          </a:p>
          <a:p>
            <a:pPr marL="605790" lvl="2"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Require analysis to verify the accuracy of results (training vs post-optimization analysis)</a:t>
            </a:r>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754102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Prescriptive analytics has many uses.  We’ve listed a few on this slide.</a:t>
            </a:r>
          </a:p>
        </p:txBody>
      </p:sp>
      <p:sp>
        <p:nvSpPr>
          <p:cNvPr id="4" name="Slide Number Placeholder 3"/>
          <p:cNvSpPr>
            <a:spLocks noGrp="1"/>
          </p:cNvSpPr>
          <p:nvPr>
            <p:ph type="sldNum" sz="quarter" idx="5"/>
          </p:nvPr>
        </p:nvSpPr>
        <p:spPr/>
        <p:txBody>
          <a:bodyPr/>
          <a:lstStyle/>
          <a:p>
            <a:fld id="{6E2E38B8-B0B4-AD41-AC6E-B781F46A9FD3}" type="slidenum">
              <a:rPr lang="en-US" smtClean="0"/>
              <a:pPr/>
              <a:t>9</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2097720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As you can see, clients from a wide array of industries have seen tremendous ROI from optimization.  </a:t>
            </a:r>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714004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As with SPSS Modeler, Decision Optimization in Watson Studio Premium has to features that are not found in the standalone version.  For example, DO in WSP allows you to building optimization models using natural language, eliminating the need to code.  It also includes model builder – a modern and intuitive development experience with visualization and scenario management .  </a:t>
            </a:r>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174657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sz="1000" b="0" dirty="0">
                <a:solidFill>
                  <a:schemeClr val="tx1"/>
                </a:solidFill>
                <a:latin typeface="IBM Plex Sans" panose="020B0503050203000203" pitchFamily="34" charset="0"/>
              </a:rPr>
              <a:t>This combination of capabilities is uniquely available with Watson Studio Premium for Cloud Pak for Data. It helps you dramatically i</a:t>
            </a:r>
            <a:r>
              <a:rPr lang="en-US" sz="1000" i="0" dirty="0">
                <a:solidFill>
                  <a:schemeClr val="tx1"/>
                </a:solidFill>
                <a:latin typeface="IBM Plex Sans" panose="020B0503050203000203" pitchFamily="34" charset="77"/>
              </a:rPr>
              <a:t>ncrease your returns on AI investment</a:t>
            </a:r>
            <a:r>
              <a:rPr kumimoji="0" lang="en-US" sz="1000" b="0" i="0" u="none" strike="noStrike" kern="1200" cap="none" spc="0" normalizeH="0" baseline="0" noProof="0" dirty="0">
                <a:ln>
                  <a:noFill/>
                </a:ln>
                <a:solidFill>
                  <a:schemeClr val="tx1"/>
                </a:solidFill>
                <a:effectLst/>
                <a:uLnTx/>
                <a:uFillTx/>
                <a:latin typeface="IBM Plex Sans" panose="020B0503050203000203" pitchFamily="34" charset="77"/>
                <a:ea typeface="+mn-ea"/>
                <a:cs typeface="+mn-cs"/>
              </a:rPr>
              <a:t> by applying decision optimization to your discovery and prediction.</a:t>
            </a:r>
          </a:p>
          <a:p>
            <a:endParaRPr kumimoji="0" lang="en-US" sz="1000" b="0" i="0" u="none" strike="noStrike" kern="1200" cap="none" spc="0" normalizeH="0" baseline="0" noProof="0" dirty="0">
              <a:ln>
                <a:noFill/>
              </a:ln>
              <a:solidFill>
                <a:schemeClr val="tx1"/>
              </a:solidFill>
              <a:effectLst/>
              <a:uLnTx/>
              <a:uFillTx/>
              <a:latin typeface="IBM Plex Sans" panose="020B0503050203000203" pitchFamily="34" charset="77"/>
              <a:ea typeface="+mn-ea"/>
              <a:cs typeface="+mn-cs"/>
            </a:endParaRPr>
          </a:p>
          <a:p>
            <a:pPr marL="0" marR="0" lvl="0" indent="0" algn="l" defTabSz="455474" rtl="0" eaLnBrk="1" fontAlgn="auto" latinLnBrk="0" hangingPunct="1">
              <a:lnSpc>
                <a:spcPct val="100000"/>
              </a:lnSpc>
              <a:spcBef>
                <a:spcPts val="0"/>
              </a:spcBef>
              <a:spcAft>
                <a:spcPts val="0"/>
              </a:spcAft>
              <a:buClrTx/>
              <a:buSzTx/>
              <a:buFontTx/>
              <a:buNone/>
              <a:tabLst/>
              <a:defRPr/>
            </a:pPr>
            <a:r>
              <a:rPr lang="en-US" sz="1000" kern="0" dirty="0">
                <a:solidFill>
                  <a:schemeClr val="tx1"/>
                </a:solidFill>
                <a:latin typeface="IBM Plex Sans"/>
                <a:ea typeface="+mn-ea"/>
                <a:cs typeface="+mn-cs"/>
                <a:sym typeface="Calibri"/>
              </a:rPr>
              <a:t>Watson Studio Premium combines SPSS Modeler + Decision Optimization + Hadoop Execution Engine and is expressly designed to empower you to accelerate time to value. </a:t>
            </a:r>
          </a:p>
          <a:p>
            <a:pPr marL="0" marR="0" lvl="0" indent="0" algn="l" defTabSz="455474" rtl="0" eaLnBrk="1" fontAlgn="auto" latinLnBrk="0" hangingPunct="1">
              <a:lnSpc>
                <a:spcPct val="100000"/>
              </a:lnSpc>
              <a:spcBef>
                <a:spcPts val="0"/>
              </a:spcBef>
              <a:spcAft>
                <a:spcPts val="0"/>
              </a:spcAft>
              <a:buClrTx/>
              <a:buSzTx/>
              <a:buFontTx/>
              <a:buNone/>
              <a:tabLst/>
              <a:defRPr/>
            </a:pPr>
            <a:endParaRPr lang="en-US" sz="1000" kern="0" dirty="0">
              <a:solidFill>
                <a:schemeClr val="tx1"/>
              </a:solidFill>
              <a:latin typeface="IBM Plex Sans"/>
              <a:ea typeface="+mn-ea"/>
              <a:cs typeface="+mn-cs"/>
              <a:sym typeface="Calibri"/>
            </a:endParaRPr>
          </a:p>
          <a:p>
            <a:pPr marL="0" marR="0" lvl="0" indent="0" algn="l" defTabSz="455474" rtl="0" eaLnBrk="1" fontAlgn="auto" latinLnBrk="0" hangingPunct="1">
              <a:lnSpc>
                <a:spcPct val="100000"/>
              </a:lnSpc>
              <a:spcBef>
                <a:spcPts val="0"/>
              </a:spcBef>
              <a:spcAft>
                <a:spcPts val="0"/>
              </a:spcAft>
              <a:buClrTx/>
              <a:buSzTx/>
              <a:buFontTx/>
              <a:buNone/>
              <a:tabLst/>
              <a:defRPr/>
            </a:pPr>
            <a:r>
              <a:rPr lang="en-US" sz="1000" kern="0" dirty="0">
                <a:solidFill>
                  <a:schemeClr val="tx1"/>
                </a:solidFill>
                <a:latin typeface="IBM Plex Sans"/>
                <a:ea typeface="+mn-ea"/>
                <a:cs typeface="+mn-cs"/>
                <a:sym typeface="Calibri"/>
              </a:rPr>
              <a:t>With IBM Cloud Pak for Data you can:</a:t>
            </a:r>
          </a:p>
          <a:p>
            <a:endParaRPr kumimoji="0" lang="en-US" sz="1000" b="0" i="0" u="none" strike="noStrike" kern="1200" cap="none" spc="0" normalizeH="0" baseline="0" noProof="0" dirty="0">
              <a:ln>
                <a:noFill/>
              </a:ln>
              <a:solidFill>
                <a:schemeClr val="tx1"/>
              </a:solidFill>
              <a:effectLst/>
              <a:uLnTx/>
              <a:uFillTx/>
              <a:latin typeface="IBM Plex Sans"/>
              <a:ea typeface="+mn-ea"/>
              <a:cs typeface="+mn-cs"/>
            </a:endParaRPr>
          </a:p>
          <a:p>
            <a:pPr marL="0" marR="0" lvl="0" indent="0" algn="l" defTabSz="4554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IBM Plex Sans" panose="020B0503050203000203" pitchFamily="34" charset="0"/>
                <a:cs typeface="Arial" charset="0"/>
              </a:rPr>
              <a:t>Automate AI life cycle management as part of the base</a:t>
            </a:r>
          </a:p>
          <a:p>
            <a:pPr marL="0" marR="0" lvl="0" indent="0" algn="l" defTabSz="4554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IBM Plex Sans" panose="020B0503050203000203" pitchFamily="34" charset="0"/>
                <a:cs typeface="Arial" charset="0"/>
              </a:rPr>
              <a:t>Empower data and analytics experts with SPSS Modeler</a:t>
            </a:r>
          </a:p>
          <a:p>
            <a:pPr marL="0" marR="0" lvl="0" indent="0" algn="l" defTabSz="4554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IBM Plex Sans" panose="020B0503050203000203" pitchFamily="34" charset="0"/>
                <a:cs typeface="Arial" charset="0"/>
              </a:rPr>
              <a:t>Predict and optimize business outcomes with Decision Optimization</a:t>
            </a:r>
          </a:p>
          <a:p>
            <a:pPr marL="0" marR="0" lvl="0" indent="0" algn="l" defTabSz="4554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IBM Plex Sans" panose="020B0503050203000203" pitchFamily="34" charset="0"/>
                <a:cs typeface="Arial" charset="0"/>
              </a:rPr>
              <a:t>Bring analytics closer to data with Hadoop Execution</a:t>
            </a:r>
          </a:p>
          <a:p>
            <a:pPr marL="0" marR="0" lvl="0" indent="0" algn="l" defTabSz="45547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IBM Plex Sans" panose="020B0503050203000203" pitchFamily="34" charset="0"/>
              <a:cs typeface="Arial" charset="0"/>
            </a:endParaRPr>
          </a:p>
          <a:p>
            <a:pPr marL="0" marR="0" lvl="0" indent="0" algn="l" defTabSz="45547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IBM Plex Sans" panose="020B0503050203000203" pitchFamily="34" charset="0"/>
                <a:cs typeface="Arial" charset="0"/>
              </a:rPr>
              <a:t>Supporting the base Watson Studio components where you can deploy open source data science with extensive data connectivity, this extension further helps you solve talent, data and trust issues that every organization must tackle to get ahead.</a:t>
            </a:r>
            <a:endParaRPr kumimoji="0" lang="en-US" sz="1050" b="0" i="0" u="none" strike="noStrike" kern="1200" cap="none" spc="0" normalizeH="0" baseline="0" noProof="0" dirty="0">
              <a:ln>
                <a:noFill/>
              </a:ln>
              <a:solidFill>
                <a:srgbClr val="FFFFFF"/>
              </a:solidFill>
              <a:effectLst/>
              <a:uLnTx/>
              <a:uFillTx/>
              <a:latin typeface="IBM Plex Sans" panose="020B0503050203000203" pitchFamily="34" charset="0"/>
              <a:cs typeface="Arial" charset="0"/>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dirty="0"/>
          </a:p>
        </p:txBody>
      </p:sp>
      <p:sp>
        <p:nvSpPr>
          <p:cNvPr id="5" name="Footer Placeholder 4"/>
          <p:cNvSpPr>
            <a:spLocks noGrp="1"/>
          </p:cNvSpPr>
          <p:nvPr>
            <p:ph type="ftr" sz="quarter" idx="4"/>
          </p:nvPr>
        </p:nvSpPr>
        <p:spPr/>
        <p:txBody>
          <a:bodyPr/>
          <a:lstStyle/>
          <a:p>
            <a:r>
              <a:rPr lang="en-US"/>
              <a:t>Group Name / DOC ID / Month XX, 2019 / © 2019 IBM Corporation</a:t>
            </a:r>
            <a:endParaRPr lang="en-US" dirty="0"/>
          </a:p>
        </p:txBody>
      </p:sp>
    </p:spTree>
    <p:extLst>
      <p:ext uri="{BB962C8B-B14F-4D97-AF65-F5344CB8AC3E}">
        <p14:creationId xmlns:p14="http://schemas.microsoft.com/office/powerpoint/2010/main" val="161689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0EA9FD6-4140-1742-8E40-1120FD9174C2}" type="datetimeFigureOut">
              <a:rPr lang="en-US" smtClean="0"/>
              <a:t>8/18/20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1476083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0EA9FD6-4140-1742-8E40-1120FD9174C2}" type="datetimeFigureOut">
              <a:rPr lang="en-US" smtClean="0"/>
              <a:t>8/18/20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1660096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EA9FD6-4140-1742-8E40-1120FD9174C2}" type="datetimeFigureOut">
              <a:rPr lang="en-US" smtClean="0"/>
              <a:t>8/18/20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159791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0EA9FD6-4140-1742-8E40-1120FD9174C2}" type="datetimeFigureOut">
              <a:rPr lang="en-US" smtClean="0"/>
              <a:t>8/18/20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140423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0EA9FD6-4140-1742-8E40-1120FD9174C2}" type="datetimeFigureOut">
              <a:rPr lang="en-US" smtClean="0"/>
              <a:t>8/18/20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343480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0EA9FD6-4140-1742-8E40-1120FD9174C2}" type="datetimeFigureOut">
              <a:rPr lang="en-US" smtClean="0"/>
              <a:t>8/18/20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327794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EA9FD6-4140-1742-8E40-1120FD9174C2}" type="datetimeFigureOut">
              <a:rPr lang="en-US" smtClean="0"/>
              <a:t>8/18/20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4031636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0EA9FD6-4140-1742-8E40-1120FD9174C2}" type="datetimeFigureOut">
              <a:rPr lang="en-US" smtClean="0"/>
              <a:t>8/18/20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377879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0EA9FD6-4140-1742-8E40-1120FD9174C2}" type="datetimeFigureOut">
              <a:rPr lang="en-US" smtClean="0"/>
              <a:t>8/18/20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4059483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0EA9FD6-4140-1742-8E40-1120FD9174C2}" type="datetimeFigureOut">
              <a:rPr lang="en-US" smtClean="0"/>
              <a:t>8/18/20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823120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0EA9FD6-4140-1742-8E40-1120FD9174C2}" type="datetimeFigureOut">
              <a:rPr lang="en-US" smtClean="0"/>
              <a:t>8/18/20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833FF-A589-6A42-A95D-67873FF96FCC}" type="slidenum">
              <a:rPr lang="en-US" smtClean="0"/>
              <a:t>‹#›</a:t>
            </a:fld>
            <a:endParaRPr lang="en-US"/>
          </a:p>
        </p:txBody>
      </p:sp>
    </p:spTree>
    <p:extLst>
      <p:ext uri="{BB962C8B-B14F-4D97-AF65-F5344CB8AC3E}">
        <p14:creationId xmlns:p14="http://schemas.microsoft.com/office/powerpoint/2010/main" val="3578664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p>
            <a:r>
              <a:rPr lang="en-US"/>
              <a:t>Click to edit Master title style</a:t>
            </a:r>
            <a:endParaRPr lang="en-US" dirty="0"/>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p>
            <a:r>
              <a:rPr lang="en-US"/>
              <a:t>© 2020 IBM Corporation</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04632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endParaRPr lang="en-US" dirty="0"/>
          </a:p>
        </p:txBody>
      </p:sp>
      <p:sp>
        <p:nvSpPr>
          <p:cNvPr id="3" name="Footer Placeholder"/>
          <p:cNvSpPr>
            <a:spLocks noGrp="1"/>
          </p:cNvSpPr>
          <p:nvPr>
            <p:ph type="ftr" sz="quarter" idx="10"/>
          </p:nvPr>
        </p:nvSpPr>
        <p:spPr/>
        <p:txBody>
          <a:bodyPr/>
          <a:lstStyle/>
          <a:p>
            <a:r>
              <a:rPr lang="en-US"/>
              <a:t>© 2020 IBM Corporation</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211098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p>
            <a:r>
              <a:rPr lang="en-US"/>
              <a:t>Click to edit Master title style</a:t>
            </a:r>
            <a:endParaRPr lang="en-US" dirty="0"/>
          </a:p>
        </p:txBody>
      </p:sp>
      <p:sp>
        <p:nvSpPr>
          <p:cNvPr id="6" name="Text Placeholder 1"/>
          <p:cNvSpPr>
            <a:spLocks noGrp="1"/>
          </p:cNvSpPr>
          <p:nvPr>
            <p:ph type="body" sz="quarter" idx="12"/>
          </p:nvPr>
        </p:nvSpPr>
        <p:spPr>
          <a:xfrm>
            <a:off x="292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3340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6388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9436608" y="1658112"/>
            <a:ext cx="2450592" cy="433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p>
            <a:r>
              <a:rPr lang="en-US"/>
              <a:t>© 2020 IBM Corporation</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80560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ver">
    <p:bg>
      <p:bgPr>
        <a:solidFill>
          <a:schemeClr val="accent2"/>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bg1"/>
                </a:solidFill>
              </a:defRPr>
            </a:lvl1pPr>
          </a:lstStyle>
          <a:p>
            <a:r>
              <a:rPr lang="en-US" dirty="0"/>
              <a:t>Click to edit Master title style</a:t>
            </a:r>
          </a:p>
        </p:txBody>
      </p:sp>
      <p:pic>
        <p:nvPicPr>
          <p:cNvPr id="5" name="Picture"/>
          <p:cNvPicPr>
            <a:picLocks noChangeAspect="1"/>
          </p:cNvPicPr>
          <p:nvPr userDrawn="1"/>
        </p:nvPicPr>
        <p:blipFill>
          <a:blip r:embed="rId2"/>
          <a:stretch>
            <a:fillRect/>
          </a:stretch>
        </p:blipFill>
        <p:spPr>
          <a:xfrm>
            <a:off x="11191750" y="6257437"/>
            <a:ext cx="695452" cy="275721"/>
          </a:xfrm>
          <a:prstGeom prst="rect">
            <a:avLst/>
          </a:prstGeom>
        </p:spPr>
      </p:pic>
    </p:spTree>
    <p:extLst>
      <p:ext uri="{BB962C8B-B14F-4D97-AF65-F5344CB8AC3E}">
        <p14:creationId xmlns:p14="http://schemas.microsoft.com/office/powerpoint/2010/main" val="2917281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ibm sign-off">
    <p:bg>
      <p:bgPr>
        <a:solidFill>
          <a:schemeClr val="tx1"/>
        </a:solidFill>
        <a:effectLst/>
      </p:bgPr>
    </p:bg>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bg1"/>
                </a:solidFill>
              </a:defRPr>
            </a:lvl1pPr>
          </a:lstStyle>
          <a:p>
            <a:r>
              <a:rPr lang="en-US"/>
              <a:t>© 2020 IBM Corporation</a:t>
            </a:r>
            <a:endParaRPr lang="en-US" dirty="0"/>
          </a:p>
        </p:txBody>
      </p:sp>
      <p:sp>
        <p:nvSpPr>
          <p:cNvPr id="4" name="Slide Number Placeholder"/>
          <p:cNvSpPr>
            <a:spLocks noGrp="1"/>
          </p:cNvSpPr>
          <p:nvPr>
            <p:ph type="sldNum" sz="quarter" idx="11"/>
          </p:nvPr>
        </p:nvSpPr>
        <p:spPr/>
        <p:txBody>
          <a:bodyPr/>
          <a:lstStyle>
            <a:lvl1pPr>
              <a:defRPr>
                <a:solidFill>
                  <a:schemeClr val="bg1"/>
                </a:solidFill>
              </a:defRPr>
            </a:lvl1pPr>
          </a:lstStyle>
          <a:p>
            <a:fld id="{59395FB3-9C97-154F-86B2-7E381B951268}" type="slidenum">
              <a:rPr lang="en-US" smtClean="0"/>
              <a:pPr/>
              <a:t>‹#›</a:t>
            </a:fld>
            <a:endParaRPr lang="en-US" dirty="0"/>
          </a:p>
        </p:txBody>
      </p:sp>
      <p:pic>
        <p:nvPicPr>
          <p:cNvPr id="6" name="Picture 5">
            <a:extLst>
              <a:ext uri="{FF2B5EF4-FFF2-40B4-BE49-F238E27FC236}">
                <a16:creationId xmlns:a16="http://schemas.microsoft.com/office/drawing/2014/main" id="{E9F9B627-0F89-514D-85B9-78E485ABC781}"/>
              </a:ext>
            </a:extLst>
          </p:cNvPr>
          <p:cNvPicPr>
            <a:picLocks noChangeAspect="1"/>
          </p:cNvPicPr>
          <p:nvPr userDrawn="1"/>
        </p:nvPicPr>
        <p:blipFill>
          <a:blip r:embed="rId2"/>
          <a:stretch>
            <a:fillRect/>
          </a:stretch>
        </p:blipFill>
        <p:spPr>
          <a:xfrm>
            <a:off x="5232737" y="3074990"/>
            <a:ext cx="1714163" cy="712380"/>
          </a:xfrm>
          <a:prstGeom prst="rect">
            <a:avLst/>
          </a:prstGeom>
        </p:spPr>
      </p:pic>
    </p:spTree>
    <p:extLst>
      <p:ext uri="{BB962C8B-B14F-4D97-AF65-F5344CB8AC3E}">
        <p14:creationId xmlns:p14="http://schemas.microsoft.com/office/powerpoint/2010/main" val="316105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A9FD6-4140-1742-8E40-1120FD9174C2}" type="datetimeFigureOut">
              <a:rPr lang="en-US" smtClean="0"/>
              <a:t>8/18/20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1833FF-A589-6A42-A95D-67873FF96FCC}" type="slidenum">
              <a:rPr lang="en-US" smtClean="0"/>
              <a:t>‹#›</a:t>
            </a:fld>
            <a:endParaRPr lang="en-US"/>
          </a:p>
        </p:txBody>
      </p:sp>
    </p:spTree>
    <p:extLst>
      <p:ext uri="{BB962C8B-B14F-4D97-AF65-F5344CB8AC3E}">
        <p14:creationId xmlns:p14="http://schemas.microsoft.com/office/powerpoint/2010/main" val="13650842"/>
      </p:ext>
    </p:extLst>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8" r:id="rId15"/>
    <p:sldLayoutId id="214748367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7.png"/><Relationship Id="rId7"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emf"/><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280415" y="268224"/>
            <a:ext cx="9857007" cy="5726176"/>
          </a:xfrm>
        </p:spPr>
        <p:txBody>
          <a:bodyPr/>
          <a:lstStyle/>
          <a:p>
            <a:pPr>
              <a:lnSpc>
                <a:spcPct val="100000"/>
              </a:lnSpc>
            </a:pPr>
            <a:r>
              <a:rPr lang="en-US" dirty="0">
                <a:solidFill>
                  <a:schemeClr val="tx1"/>
                </a:solidFill>
              </a:rPr>
              <a:t>Watson Studio — Decision Optimization</a:t>
            </a:r>
            <a:br>
              <a:rPr lang="en-US" dirty="0">
                <a:solidFill>
                  <a:schemeClr val="tx1"/>
                </a:solidFill>
              </a:rPr>
            </a:br>
            <a:br>
              <a:rPr lang="en-US" dirty="0">
                <a:solidFill>
                  <a:schemeClr val="tx1"/>
                </a:solidFill>
              </a:rPr>
            </a:br>
            <a:r>
              <a:rPr lang="en-US" sz="2800" dirty="0">
                <a:solidFill>
                  <a:schemeClr val="tx1"/>
                </a:solidFill>
                <a:latin typeface="IBM Plex Sans Light" panose="020B0403050203000203" pitchFamily="34" charset="0"/>
              </a:rPr>
              <a:t>Collect. Optimize. Transform your business.</a:t>
            </a:r>
            <a:br>
              <a:rPr lang="en-US" sz="2800" dirty="0">
                <a:solidFill>
                  <a:schemeClr val="tx1"/>
                </a:solidFill>
                <a:latin typeface="IBM Plex Sans Light" panose="020B0403050203000203" pitchFamily="34" charset="0"/>
              </a:rPr>
            </a:br>
            <a:br>
              <a:rPr lang="en-US" sz="2800" dirty="0">
                <a:solidFill>
                  <a:schemeClr val="tx1"/>
                </a:solidFill>
                <a:latin typeface="IBM Plex Sans Light" panose="020B0403050203000203" pitchFamily="34" charset="0"/>
              </a:rPr>
            </a:br>
            <a:r>
              <a:rPr lang="en-US" sz="2133" dirty="0">
                <a:solidFill>
                  <a:schemeClr val="tx1"/>
                </a:solidFill>
              </a:rPr>
              <a:t>—</a:t>
            </a:r>
            <a:br>
              <a:rPr lang="en-US" sz="2133" dirty="0">
                <a:solidFill>
                  <a:schemeClr val="tx1"/>
                </a:solidFill>
              </a:rPr>
            </a:br>
            <a:r>
              <a:rPr lang="en-US" sz="1600" dirty="0">
                <a:solidFill>
                  <a:schemeClr val="tx1"/>
                </a:solidFill>
              </a:rPr>
              <a:t>Presenter Name</a:t>
            </a:r>
            <a:br>
              <a:rPr lang="en-US" sz="1600" dirty="0">
                <a:solidFill>
                  <a:schemeClr val="tx1"/>
                </a:solidFill>
              </a:rPr>
            </a:br>
            <a:r>
              <a:rPr lang="en-US" sz="1600" dirty="0">
                <a:solidFill>
                  <a:schemeClr val="tx1"/>
                </a:solidFill>
              </a:rPr>
              <a:t>Presenter Title</a:t>
            </a:r>
            <a:br>
              <a:rPr lang="en-US" sz="1600" dirty="0">
                <a:solidFill>
                  <a:schemeClr val="tx1"/>
                </a:solidFill>
              </a:rPr>
            </a:br>
            <a:r>
              <a:rPr lang="en-US" sz="1600" dirty="0">
                <a:solidFill>
                  <a:schemeClr val="tx1"/>
                </a:solidFill>
              </a:rPr>
              <a:t>BU</a:t>
            </a:r>
            <a:br>
              <a:rPr lang="en-US" sz="1600" dirty="0">
                <a:solidFill>
                  <a:schemeClr val="tx1"/>
                </a:solidFill>
              </a:rPr>
            </a:br>
            <a:r>
              <a:rPr lang="en-US" sz="1600" dirty="0">
                <a:solidFill>
                  <a:schemeClr val="tx1"/>
                </a:solidFill>
              </a:rPr>
              <a:t>IBM</a:t>
            </a:r>
            <a:br>
              <a:rPr lang="en-US" sz="1600" dirty="0">
                <a:solidFill>
                  <a:schemeClr val="tx1"/>
                </a:solidFill>
              </a:rPr>
            </a:br>
            <a:r>
              <a:rPr lang="en-US" sz="1600" dirty="0">
                <a:solidFill>
                  <a:schemeClr val="tx1"/>
                </a:solidFill>
              </a:rPr>
              <a:t>Email:  xxx</a:t>
            </a:r>
            <a:br>
              <a:rPr lang="en-US" sz="1600" dirty="0">
                <a:solidFill>
                  <a:schemeClr val="tx1"/>
                </a:solidFill>
              </a:rPr>
            </a:br>
            <a:r>
              <a:rPr lang="en-US" sz="1600" dirty="0" err="1">
                <a:solidFill>
                  <a:schemeClr val="tx1"/>
                </a:solidFill>
              </a:rPr>
              <a:t>Linkedin</a:t>
            </a:r>
            <a:r>
              <a:rPr lang="en-US" sz="1600" dirty="0">
                <a:solidFill>
                  <a:schemeClr val="tx1"/>
                </a:solidFill>
              </a:rPr>
              <a:t>: xxx</a:t>
            </a:r>
            <a:br>
              <a:rPr lang="en-US" sz="1600" dirty="0">
                <a:solidFill>
                  <a:schemeClr val="tx1"/>
                </a:solidFill>
              </a:rPr>
            </a:br>
            <a:br>
              <a:rPr lang="en-US" sz="1600" dirty="0">
                <a:solidFill>
                  <a:schemeClr val="tx1"/>
                </a:solidFill>
              </a:rPr>
            </a:br>
            <a:endParaRPr lang="en-US" sz="1600" dirty="0">
              <a:solidFill>
                <a:schemeClr val="tx1"/>
              </a:solidFill>
            </a:endParaRPr>
          </a:p>
        </p:txBody>
      </p:sp>
    </p:spTree>
    <p:extLst>
      <p:ext uri="{BB962C8B-B14F-4D97-AF65-F5344CB8AC3E}">
        <p14:creationId xmlns:p14="http://schemas.microsoft.com/office/powerpoint/2010/main" val="4231649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7D082B8-DAC2-CD48-8645-00EA477C36D4}"/>
              </a:ext>
            </a:extLst>
          </p:cNvPr>
          <p:cNvSpPr/>
          <p:nvPr/>
        </p:nvSpPr>
        <p:spPr bwMode="auto">
          <a:xfrm>
            <a:off x="408027" y="5011036"/>
            <a:ext cx="4394756" cy="1219200"/>
          </a:xfrm>
          <a:prstGeom prst="rect">
            <a:avLst/>
          </a:prstGeom>
          <a:gradFill>
            <a:gsLst>
              <a:gs pos="0">
                <a:srgbClr val="054ADA"/>
              </a:gs>
              <a:gs pos="52000">
                <a:srgbClr val="0530AD"/>
              </a:gs>
            </a:gsLst>
            <a:lin ang="8100000" scaled="0"/>
          </a:gradFill>
          <a:ln w="1270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rgbClr val="FF0000"/>
              </a:solidFill>
              <a:highlight>
                <a:srgbClr val="FFFF00"/>
              </a:highlight>
              <a:latin typeface="IBM Plex Sans" charset="0"/>
              <a:ea typeface="IBM Plex Sans" charset="0"/>
              <a:cs typeface="IBM Plex Sans" charset="0"/>
            </a:endParaRPr>
          </a:p>
        </p:txBody>
      </p:sp>
      <p:sp>
        <p:nvSpPr>
          <p:cNvPr id="23" name="Rectangle 22">
            <a:extLst>
              <a:ext uri="{FF2B5EF4-FFF2-40B4-BE49-F238E27FC236}">
                <a16:creationId xmlns:a16="http://schemas.microsoft.com/office/drawing/2014/main" id="{2ED7D87D-5AF5-7A42-8EBA-9E321FD3CB2C}"/>
              </a:ext>
            </a:extLst>
          </p:cNvPr>
          <p:cNvSpPr/>
          <p:nvPr/>
        </p:nvSpPr>
        <p:spPr bwMode="auto">
          <a:xfrm>
            <a:off x="408027" y="2300980"/>
            <a:ext cx="4394756" cy="1219200"/>
          </a:xfrm>
          <a:prstGeom prst="rect">
            <a:avLst/>
          </a:prstGeom>
          <a:gradFill>
            <a:gsLst>
              <a:gs pos="0">
                <a:srgbClr val="408BFC"/>
              </a:gs>
              <a:gs pos="52000">
                <a:srgbClr val="0062FF"/>
              </a:gs>
            </a:gsLst>
            <a:lin ang="8100000" scaled="0"/>
          </a:gradFill>
          <a:ln w="1270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2" name="Title"/>
          <p:cNvSpPr>
            <a:spLocks noGrp="1"/>
          </p:cNvSpPr>
          <p:nvPr>
            <p:ph type="title"/>
          </p:nvPr>
        </p:nvSpPr>
        <p:spPr>
          <a:xfrm>
            <a:off x="383554" y="824036"/>
            <a:ext cx="6654483" cy="558483"/>
          </a:xfrm>
        </p:spPr>
        <p:txBody>
          <a:bodyPr>
            <a:normAutofit fontScale="90000"/>
          </a:bodyPr>
          <a:lstStyle/>
          <a:p>
            <a:r>
              <a:rPr lang="en-US" dirty="0">
                <a:latin typeface="IBM Plex Sans" charset="0"/>
                <a:ea typeface="IBM Plex Sans" charset="0"/>
                <a:cs typeface="IBM Plex Sans" charset="0"/>
              </a:rPr>
              <a:t>With predictive analytics alone, you’re only getting half the story</a:t>
            </a:r>
          </a:p>
        </p:txBody>
      </p:sp>
      <p:sp>
        <p:nvSpPr>
          <p:cNvPr id="43" name="Text Placeholder 42">
            <a:extLst>
              <a:ext uri="{FF2B5EF4-FFF2-40B4-BE49-F238E27FC236}">
                <a16:creationId xmlns:a16="http://schemas.microsoft.com/office/drawing/2014/main" id="{8D0AE55B-B0E4-1C4D-A708-8F26126CC772}"/>
              </a:ext>
            </a:extLst>
          </p:cNvPr>
          <p:cNvSpPr>
            <a:spLocks noGrp="1"/>
          </p:cNvSpPr>
          <p:nvPr>
            <p:ph type="body" sz="quarter" idx="13"/>
          </p:nvPr>
        </p:nvSpPr>
        <p:spPr>
          <a:xfrm>
            <a:off x="6774579" y="2771710"/>
            <a:ext cx="4751695" cy="307525"/>
          </a:xfrm>
        </p:spPr>
        <p:txBody>
          <a:bodyPr>
            <a:normAutofit fontScale="92500" lnSpcReduction="20000"/>
          </a:bodyPr>
          <a:lstStyle/>
          <a:p>
            <a:r>
              <a:rPr lang="en-US" sz="2000" dirty="0">
                <a:latin typeface="IBM Plex Sans Light" panose="020B0403050203000203" pitchFamily="34" charset="0"/>
              </a:rPr>
              <a:t>Tells you what is likely to happen</a:t>
            </a:r>
          </a:p>
        </p:txBody>
      </p:sp>
      <p:sp>
        <p:nvSpPr>
          <p:cNvPr id="5" name="Text Placeholder"/>
          <p:cNvSpPr>
            <a:spLocks noGrp="1"/>
          </p:cNvSpPr>
          <p:nvPr>
            <p:ph type="body" sz="quarter" idx="12"/>
          </p:nvPr>
        </p:nvSpPr>
        <p:spPr>
          <a:xfrm>
            <a:off x="1413925" y="5484941"/>
            <a:ext cx="2438399" cy="425712"/>
          </a:xfrm>
        </p:spPr>
        <p:txBody>
          <a:bodyPr>
            <a:normAutofit fontScale="55000" lnSpcReduction="20000"/>
          </a:bodyPr>
          <a:lstStyle/>
          <a:p>
            <a:r>
              <a:rPr lang="en-US" dirty="0">
                <a:latin typeface="IBM Plex Sans" charset="0"/>
                <a:ea typeface="IBM Plex Sans" charset="0"/>
                <a:cs typeface="IBM Plex Sans" charset="0"/>
              </a:rPr>
              <a:t>Prescriptive analytics</a:t>
            </a:r>
            <a:endParaRPr lang="en-US" dirty="0">
              <a:latin typeface="IBM Plex Sans Light" panose="020B0403050203000203" pitchFamily="34" charset="0"/>
            </a:endParaRPr>
          </a:p>
        </p:txBody>
      </p:sp>
      <p:sp>
        <p:nvSpPr>
          <p:cNvPr id="4" name="Slide Number Placeholder"/>
          <p:cNvSpPr>
            <a:spLocks noGrp="1"/>
          </p:cNvSpPr>
          <p:nvPr>
            <p:ph type="sldNum" sz="quarter" idx="11"/>
          </p:nvPr>
        </p:nvSpPr>
        <p:spPr/>
        <p:txBody>
          <a:bodyPr/>
          <a:lstStyle/>
          <a:p>
            <a:fld id="{59395FB3-9C97-154F-86B2-7E381B951268}" type="slidenum">
              <a:rPr lang="en-US" smtClean="0"/>
              <a:pPr/>
              <a:t>2</a:t>
            </a:fld>
            <a:endParaRPr lang="en-US" dirty="0"/>
          </a:p>
        </p:txBody>
      </p:sp>
      <p:sp>
        <p:nvSpPr>
          <p:cNvPr id="9" name="Text Placeholder 2">
            <a:extLst>
              <a:ext uri="{FF2B5EF4-FFF2-40B4-BE49-F238E27FC236}">
                <a16:creationId xmlns:a16="http://schemas.microsoft.com/office/drawing/2014/main" id="{73F3EB58-E077-E847-A6CD-2E4F87B2E2D9}"/>
              </a:ext>
            </a:extLst>
          </p:cNvPr>
          <p:cNvSpPr txBox="1">
            <a:spLocks/>
          </p:cNvSpPr>
          <p:nvPr/>
        </p:nvSpPr>
        <p:spPr>
          <a:xfrm>
            <a:off x="1413925" y="2754046"/>
            <a:ext cx="2438400" cy="325188"/>
          </a:xfrm>
          <a:prstGeom prst="rect">
            <a:avLst/>
          </a:prstGeom>
        </p:spPr>
        <p:txBody>
          <a:bodyPr vert="horz" lIns="0" tIns="0" rIns="0" bIns="0" rtlCol="0">
            <a:noAutofit/>
          </a:bodyPr>
          <a:lstStyle>
            <a:lvl1pPr marL="0" indent="0" algn="l" rtl="0" eaLnBrk="1" fontAlgn="base" hangingPunct="1">
              <a:lnSpc>
                <a:spcPct val="100000"/>
              </a:lnSpc>
              <a:spcBef>
                <a:spcPts val="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0" indent="0" algn="l" rtl="0" eaLnBrk="1" fontAlgn="base" hangingPunct="1">
              <a:lnSpc>
                <a:spcPct val="100000"/>
              </a:lnSpc>
              <a:spcBef>
                <a:spcPts val="0"/>
              </a:spcBef>
              <a:spcAft>
                <a:spcPct val="0"/>
              </a:spcAft>
              <a:buClr>
                <a:schemeClr val="bg1"/>
              </a:buClr>
              <a:buSzPct val="100000"/>
              <a:buFont typeface=".AppleSystemUIFont" charset="-12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0" indent="0" algn="l" rtl="0" eaLnBrk="1" fontAlgn="base" hangingPunct="1">
              <a:lnSpc>
                <a:spcPct val="100000"/>
              </a:lnSpc>
              <a:spcBef>
                <a:spcPts val="0"/>
              </a:spcBef>
              <a:spcAft>
                <a:spcPct val="0"/>
              </a:spcAft>
              <a:buClr>
                <a:schemeClr val="bg1"/>
              </a:buClr>
              <a:buSzPct val="100000"/>
              <a:buFont typeface="Arial" panose="020B0604020202020204" pitchFamily="34" charset="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0" indent="0" algn="l" rtl="0" eaLnBrk="1" fontAlgn="base" hangingPunct="1">
              <a:lnSpc>
                <a:spcPct val="100000"/>
              </a:lnSpc>
              <a:spcBef>
                <a:spcPts val="0"/>
              </a:spcBef>
              <a:spcAft>
                <a:spcPct val="0"/>
              </a:spcAft>
              <a:buClr>
                <a:schemeClr val="bg1"/>
              </a:buClr>
              <a:buSzPct val="100000"/>
              <a:buFont typeface=".AppleSystemUIFont" charset="-120"/>
              <a:buNone/>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0" indent="0" algn="l" rtl="0" eaLnBrk="1" fontAlgn="base" hangingPunct="1">
              <a:lnSpc>
                <a:spcPct val="100000"/>
              </a:lnSpc>
              <a:spcBef>
                <a:spcPts val="0"/>
              </a:spcBef>
              <a:spcAft>
                <a:spcPct val="0"/>
              </a:spcAft>
              <a:buClr>
                <a:schemeClr val="bg1"/>
              </a:buClr>
              <a:buFont typeface=".AppleSystemUIFont" charset="-12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defTabSz="1219170"/>
            <a:r>
              <a:rPr lang="en-US" sz="1867" dirty="0">
                <a:latin typeface="IBM Plex Sans" charset="0"/>
                <a:ea typeface="IBM Plex Sans" charset="0"/>
                <a:cs typeface="IBM Plex Sans" charset="0"/>
              </a:rPr>
              <a:t>Predictive analytics</a:t>
            </a:r>
            <a:endParaRPr lang="en-US" sz="1867" kern="0" dirty="0">
              <a:latin typeface="IBM Plex Sans Light" panose="020B0403050203000203" pitchFamily="34" charset="0"/>
            </a:endParaRPr>
          </a:p>
        </p:txBody>
      </p:sp>
      <p:grpSp>
        <p:nvGrpSpPr>
          <p:cNvPr id="7" name="Group 6">
            <a:extLst>
              <a:ext uri="{FF2B5EF4-FFF2-40B4-BE49-F238E27FC236}">
                <a16:creationId xmlns:a16="http://schemas.microsoft.com/office/drawing/2014/main" id="{1455E7FC-BE85-9C4E-AC3D-B61A313C424E}"/>
              </a:ext>
            </a:extLst>
          </p:cNvPr>
          <p:cNvGrpSpPr/>
          <p:nvPr/>
        </p:nvGrpSpPr>
        <p:grpSpPr>
          <a:xfrm>
            <a:off x="4802782" y="2910580"/>
            <a:ext cx="1868659" cy="2710056"/>
            <a:chOff x="3524733" y="1766076"/>
            <a:chExt cx="1253213" cy="2032542"/>
          </a:xfrm>
        </p:grpSpPr>
        <p:cxnSp>
          <p:nvCxnSpPr>
            <p:cNvPr id="25" name="Straight Connector 24">
              <a:extLst>
                <a:ext uri="{FF2B5EF4-FFF2-40B4-BE49-F238E27FC236}">
                  <a16:creationId xmlns:a16="http://schemas.microsoft.com/office/drawing/2014/main" id="{FB23AEC8-D31C-B444-BAC0-0BAC1D5DDE13}"/>
                </a:ext>
              </a:extLst>
            </p:cNvPr>
            <p:cNvCxnSpPr>
              <a:cxnSpLocks/>
            </p:cNvCxnSpPr>
            <p:nvPr/>
          </p:nvCxnSpPr>
          <p:spPr bwMode="auto">
            <a:xfrm>
              <a:off x="3524733" y="1766076"/>
              <a:ext cx="1253213" cy="0"/>
            </a:xfrm>
            <a:prstGeom prst="line">
              <a:avLst/>
            </a:prstGeom>
            <a:ln w="6350">
              <a:solidFill>
                <a:srgbClr val="408BFC"/>
              </a:solidFill>
              <a:prstDash val="dash"/>
              <a:headEnd type="none" w="med" len="med"/>
              <a:tailEnd type="arrow"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47190E2-1A52-AB4F-B44C-BA1205C7BF8C}"/>
                </a:ext>
              </a:extLst>
            </p:cNvPr>
            <p:cNvCxnSpPr>
              <a:cxnSpLocks/>
            </p:cNvCxnSpPr>
            <p:nvPr/>
          </p:nvCxnSpPr>
          <p:spPr bwMode="auto">
            <a:xfrm>
              <a:off x="3524733" y="3798618"/>
              <a:ext cx="1253213" cy="0"/>
            </a:xfrm>
            <a:prstGeom prst="line">
              <a:avLst/>
            </a:prstGeom>
            <a:ln w="6350">
              <a:solidFill>
                <a:srgbClr val="408BFC"/>
              </a:solidFill>
              <a:prstDash val="dash"/>
              <a:headEnd type="none" w="med" len="med"/>
              <a:tailEnd type="arrow" w="med" len="med"/>
            </a:ln>
            <a:effectLst/>
          </p:spPr>
          <p:style>
            <a:lnRef idx="1">
              <a:schemeClr val="dk1"/>
            </a:lnRef>
            <a:fillRef idx="0">
              <a:schemeClr val="dk1"/>
            </a:fillRef>
            <a:effectRef idx="0">
              <a:schemeClr val="dk1"/>
            </a:effectRef>
            <a:fontRef idx="minor">
              <a:schemeClr val="tx1"/>
            </a:fontRef>
          </p:style>
        </p:cxnSp>
      </p:grpSp>
      <p:sp>
        <p:nvSpPr>
          <p:cNvPr id="27" name="Text Placeholder 42">
            <a:extLst>
              <a:ext uri="{FF2B5EF4-FFF2-40B4-BE49-F238E27FC236}">
                <a16:creationId xmlns:a16="http://schemas.microsoft.com/office/drawing/2014/main" id="{9B5B6774-7620-4944-8B6B-B6A6FB5153EF}"/>
              </a:ext>
            </a:extLst>
          </p:cNvPr>
          <p:cNvSpPr txBox="1">
            <a:spLocks/>
          </p:cNvSpPr>
          <p:nvPr/>
        </p:nvSpPr>
        <p:spPr>
          <a:xfrm>
            <a:off x="6671441" y="4917908"/>
            <a:ext cx="4751695" cy="307525"/>
          </a:xfrm>
          <a:prstGeom prst="rect">
            <a:avLst/>
          </a:prstGeom>
        </p:spPr>
        <p:txBody>
          <a:bodyPr vert="horz" lIns="0" tIns="0" rIns="0" bIns="0" rtlCol="0">
            <a:noAutofit/>
          </a:bodyPr>
          <a:lstStyle>
            <a:lvl1pPr marL="0" indent="0" algn="l" rtl="0" eaLnBrk="1" fontAlgn="base" hangingPunct="1">
              <a:lnSpc>
                <a:spcPct val="100000"/>
              </a:lnSpc>
              <a:spcBef>
                <a:spcPts val="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0" indent="0" algn="l" rtl="0" eaLnBrk="1" fontAlgn="base" hangingPunct="1">
              <a:lnSpc>
                <a:spcPct val="100000"/>
              </a:lnSpc>
              <a:spcBef>
                <a:spcPts val="0"/>
              </a:spcBef>
              <a:spcAft>
                <a:spcPct val="0"/>
              </a:spcAft>
              <a:buClr>
                <a:schemeClr val="bg1"/>
              </a:buClr>
              <a:buSzPct val="100000"/>
              <a:buFont typeface=".AppleSystemUIFont" charset="-12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0" indent="0" algn="l" rtl="0" eaLnBrk="1" fontAlgn="base" hangingPunct="1">
              <a:lnSpc>
                <a:spcPct val="100000"/>
              </a:lnSpc>
              <a:spcBef>
                <a:spcPts val="0"/>
              </a:spcBef>
              <a:spcAft>
                <a:spcPct val="0"/>
              </a:spcAft>
              <a:buClr>
                <a:schemeClr val="bg1"/>
              </a:buClr>
              <a:buSzPct val="100000"/>
              <a:buFont typeface="Arial" panose="020B0604020202020204" pitchFamily="34" charset="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0" indent="0" algn="l" rtl="0" eaLnBrk="1" fontAlgn="base" hangingPunct="1">
              <a:lnSpc>
                <a:spcPct val="100000"/>
              </a:lnSpc>
              <a:spcBef>
                <a:spcPts val="0"/>
              </a:spcBef>
              <a:spcAft>
                <a:spcPct val="0"/>
              </a:spcAft>
              <a:buClr>
                <a:schemeClr val="bg1"/>
              </a:buClr>
              <a:buSzPct val="100000"/>
              <a:buFont typeface=".AppleSystemUIFont" charset="-120"/>
              <a:buNone/>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0" indent="0" algn="l" rtl="0" eaLnBrk="1" fontAlgn="base" hangingPunct="1">
              <a:lnSpc>
                <a:spcPct val="100000"/>
              </a:lnSpc>
              <a:spcBef>
                <a:spcPts val="0"/>
              </a:spcBef>
              <a:spcAft>
                <a:spcPct val="0"/>
              </a:spcAft>
              <a:buClr>
                <a:schemeClr val="bg1"/>
              </a:buClr>
              <a:buFont typeface=".AppleSystemUIFont" charset="-12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defTabSz="1219170"/>
            <a:r>
              <a:rPr lang="en-US" sz="2000" kern="0" dirty="0">
                <a:latin typeface="IBM Plex Sans Light" panose="020B0403050203000203" pitchFamily="34" charset="0"/>
              </a:rPr>
              <a:t>Tells you what to do about it</a:t>
            </a:r>
          </a:p>
        </p:txBody>
      </p:sp>
      <p:pic>
        <p:nvPicPr>
          <p:cNvPr id="29" name="Picture 28">
            <a:extLst>
              <a:ext uri="{FF2B5EF4-FFF2-40B4-BE49-F238E27FC236}">
                <a16:creationId xmlns:a16="http://schemas.microsoft.com/office/drawing/2014/main" id="{77C52746-44DD-3C48-9898-13423133CD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685" y="5341236"/>
            <a:ext cx="558800" cy="558800"/>
          </a:xfrm>
          <a:prstGeom prst="rect">
            <a:avLst/>
          </a:prstGeom>
        </p:spPr>
      </p:pic>
      <p:pic>
        <p:nvPicPr>
          <p:cNvPr id="31" name="Picture 74">
            <a:extLst>
              <a:ext uri="{FF2B5EF4-FFF2-40B4-BE49-F238E27FC236}">
                <a16:creationId xmlns:a16="http://schemas.microsoft.com/office/drawing/2014/main" id="{F8678D89-B64E-F242-8AE2-55D7FF63F4DB}"/>
              </a:ext>
            </a:extLst>
          </p:cNvPr>
          <p:cNvPicPr>
            <a:picLocks/>
          </p:cNvPicPr>
          <p:nvPr/>
        </p:nvPicPr>
        <p:blipFill>
          <a:blip r:embed="rId4">
            <a:extLst>
              <a:ext uri="{96DAC541-7B7A-43D3-8B79-37D633B846F1}">
                <asvg:svgBlip xmlns:asvg="http://schemas.microsoft.com/office/drawing/2016/SVG/main" r:embed="rId5"/>
              </a:ext>
            </a:extLst>
          </a:blip>
          <a:srcRect/>
          <a:stretch/>
        </p:blipFill>
        <p:spPr>
          <a:xfrm>
            <a:off x="559012" y="2590344"/>
            <a:ext cx="640473" cy="640473"/>
          </a:xfrm>
          <a:prstGeom prst="rect">
            <a:avLst/>
          </a:prstGeom>
        </p:spPr>
      </p:pic>
      <p:sp>
        <p:nvSpPr>
          <p:cNvPr id="16" name="Text Placeholder 42">
            <a:extLst>
              <a:ext uri="{FF2B5EF4-FFF2-40B4-BE49-F238E27FC236}">
                <a16:creationId xmlns:a16="http://schemas.microsoft.com/office/drawing/2014/main" id="{C87B219B-0408-9246-BF50-33B0B71D3544}"/>
              </a:ext>
            </a:extLst>
          </p:cNvPr>
          <p:cNvSpPr txBox="1">
            <a:spLocks/>
          </p:cNvSpPr>
          <p:nvPr/>
        </p:nvSpPr>
        <p:spPr>
          <a:xfrm>
            <a:off x="6901850" y="5467153"/>
            <a:ext cx="3563771" cy="230644"/>
          </a:xfrm>
          <a:prstGeom prst="rect">
            <a:avLst/>
          </a:prstGeom>
        </p:spPr>
        <p:txBody>
          <a:bodyPr vert="horz" lIns="0" tIns="0" rIns="0" bIns="0" rtlCol="0">
            <a:noAutofit/>
          </a:bodyPr>
          <a:lstStyle>
            <a:lvl1pPr marL="0" indent="0" algn="l" rtl="0" eaLnBrk="1" fontAlgn="base" hangingPunct="1">
              <a:lnSpc>
                <a:spcPct val="100000"/>
              </a:lnSpc>
              <a:spcBef>
                <a:spcPts val="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0" indent="0" algn="l" rtl="0" eaLnBrk="1" fontAlgn="base" hangingPunct="1">
              <a:lnSpc>
                <a:spcPct val="100000"/>
              </a:lnSpc>
              <a:spcBef>
                <a:spcPts val="0"/>
              </a:spcBef>
              <a:spcAft>
                <a:spcPct val="0"/>
              </a:spcAft>
              <a:buClr>
                <a:schemeClr val="bg1"/>
              </a:buClr>
              <a:buSzPct val="100000"/>
              <a:buFont typeface=".AppleSystemUIFont" charset="-12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0" indent="0" algn="l" rtl="0" eaLnBrk="1" fontAlgn="base" hangingPunct="1">
              <a:lnSpc>
                <a:spcPct val="100000"/>
              </a:lnSpc>
              <a:spcBef>
                <a:spcPts val="0"/>
              </a:spcBef>
              <a:spcAft>
                <a:spcPct val="0"/>
              </a:spcAft>
              <a:buClr>
                <a:schemeClr val="bg1"/>
              </a:buClr>
              <a:buSzPct val="100000"/>
              <a:buFont typeface="Arial" panose="020B0604020202020204" pitchFamily="34" charset="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0" indent="0" algn="l" rtl="0" eaLnBrk="1" fontAlgn="base" hangingPunct="1">
              <a:lnSpc>
                <a:spcPct val="100000"/>
              </a:lnSpc>
              <a:spcBef>
                <a:spcPts val="0"/>
              </a:spcBef>
              <a:spcAft>
                <a:spcPct val="0"/>
              </a:spcAft>
              <a:buClr>
                <a:schemeClr val="bg1"/>
              </a:buClr>
              <a:buSzPct val="100000"/>
              <a:buFont typeface=".AppleSystemUIFont" charset="-120"/>
              <a:buNone/>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0" indent="0" algn="l" rtl="0" eaLnBrk="1" fontAlgn="base" hangingPunct="1">
              <a:lnSpc>
                <a:spcPct val="100000"/>
              </a:lnSpc>
              <a:spcBef>
                <a:spcPts val="0"/>
              </a:spcBef>
              <a:spcAft>
                <a:spcPct val="0"/>
              </a:spcAft>
              <a:buClr>
                <a:schemeClr val="bg1"/>
              </a:buClr>
              <a:buFont typeface=".AppleSystemUIFont" charset="-120"/>
              <a:buNone/>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285750" indent="-285750" defTabSz="914400">
              <a:buFont typeface="Arial" panose="020B0604020202020204" pitchFamily="34" charset="0"/>
              <a:buChar char="•"/>
            </a:pPr>
            <a:r>
              <a:rPr lang="en-US" sz="1800" kern="0" dirty="0">
                <a:solidFill>
                  <a:schemeClr val="tx1"/>
                </a:solidFill>
                <a:latin typeface="IBM Plex Sans Light" panose="020B0403050203000203" pitchFamily="34" charset="0"/>
              </a:rPr>
              <a:t>Tells you what to do about it</a:t>
            </a:r>
          </a:p>
        </p:txBody>
      </p:sp>
    </p:spTree>
    <p:extLst>
      <p:ext uri="{BB962C8B-B14F-4D97-AF65-F5344CB8AC3E}">
        <p14:creationId xmlns:p14="http://schemas.microsoft.com/office/powerpoint/2010/main" val="3157335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EF80C-D701-0648-86FF-B71102C42125}"/>
              </a:ext>
            </a:extLst>
          </p:cNvPr>
          <p:cNvSpPr>
            <a:spLocks noGrp="1"/>
          </p:cNvSpPr>
          <p:nvPr>
            <p:ph type="title"/>
          </p:nvPr>
        </p:nvSpPr>
        <p:spPr>
          <a:xfrm>
            <a:off x="370064" y="720632"/>
            <a:ext cx="6111418" cy="1072896"/>
          </a:xfrm>
        </p:spPr>
        <p:txBody>
          <a:bodyPr>
            <a:normAutofit fontScale="90000"/>
          </a:bodyPr>
          <a:lstStyle/>
          <a:p>
            <a:r>
              <a:rPr lang="en-US" dirty="0"/>
              <a:t>Solve for what to do next </a:t>
            </a:r>
            <a:br>
              <a:rPr lang="en-US" dirty="0"/>
            </a:br>
            <a:r>
              <a:rPr lang="en-US" sz="2400" dirty="0"/>
              <a:t>with machine learning and prescriptive and predictive analytics </a:t>
            </a:r>
          </a:p>
        </p:txBody>
      </p:sp>
      <p:sp>
        <p:nvSpPr>
          <p:cNvPr id="4" name="Slide Number Placeholder 3">
            <a:extLst>
              <a:ext uri="{FF2B5EF4-FFF2-40B4-BE49-F238E27FC236}">
                <a16:creationId xmlns:a16="http://schemas.microsoft.com/office/drawing/2014/main" id="{275B3F49-A54A-A644-9D16-49564D21A1C4}"/>
              </a:ext>
            </a:extLst>
          </p:cNvPr>
          <p:cNvSpPr>
            <a:spLocks noGrp="1"/>
          </p:cNvSpPr>
          <p:nvPr>
            <p:ph type="sldNum" sz="quarter" idx="11"/>
          </p:nvPr>
        </p:nvSpPr>
        <p:spPr/>
        <p:txBody>
          <a:bodyPr/>
          <a:lstStyle/>
          <a:p>
            <a:fld id="{59395FB3-9C97-154F-86B2-7E381B951268}" type="slidenum">
              <a:rPr lang="en-US" smtClean="0"/>
              <a:pPr/>
              <a:t>3</a:t>
            </a:fld>
            <a:endParaRPr lang="en-US" dirty="0"/>
          </a:p>
        </p:txBody>
      </p:sp>
      <p:sp>
        <p:nvSpPr>
          <p:cNvPr id="6" name="Text Placeholder 2">
            <a:extLst>
              <a:ext uri="{FF2B5EF4-FFF2-40B4-BE49-F238E27FC236}">
                <a16:creationId xmlns:a16="http://schemas.microsoft.com/office/drawing/2014/main" id="{C55F6C95-264F-F844-A5CC-01EBEB2C96F6}"/>
              </a:ext>
            </a:extLst>
          </p:cNvPr>
          <p:cNvSpPr txBox="1">
            <a:spLocks/>
          </p:cNvSpPr>
          <p:nvPr/>
        </p:nvSpPr>
        <p:spPr>
          <a:xfrm>
            <a:off x="457289" y="2268185"/>
            <a:ext cx="2551500" cy="1477328"/>
          </a:xfrm>
          <a:prstGeom prst="rect">
            <a:avLst/>
          </a:prstGeom>
        </p:spPr>
        <p:txBody>
          <a:bodyPr vert="horz" wrap="square" lIns="0" tIns="0" rIns="0" bIns="0" rtlCol="0">
            <a:sp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defTabSz="1219170"/>
            <a:r>
              <a:rPr lang="en-US" sz="1600" kern="0" dirty="0">
                <a:solidFill>
                  <a:srgbClr val="FFFFFF"/>
                </a:solidFill>
              </a:rPr>
              <a:t>IBM Decision Optimization for Watson Studio software evaluates millions of possibilities to find the one with the greatest probability of success.</a:t>
            </a:r>
          </a:p>
        </p:txBody>
      </p:sp>
      <p:cxnSp>
        <p:nvCxnSpPr>
          <p:cNvPr id="19" name="Straight Connector 18">
            <a:extLst>
              <a:ext uri="{FF2B5EF4-FFF2-40B4-BE49-F238E27FC236}">
                <a16:creationId xmlns:a16="http://schemas.microsoft.com/office/drawing/2014/main" id="{5604D881-8180-ED49-8347-32DEE1423603}"/>
              </a:ext>
            </a:extLst>
          </p:cNvPr>
          <p:cNvCxnSpPr>
            <a:cxnSpLocks/>
          </p:cNvCxnSpPr>
          <p:nvPr/>
        </p:nvCxnSpPr>
        <p:spPr bwMode="auto">
          <a:xfrm>
            <a:off x="8880333" y="2358753"/>
            <a:ext cx="304799" cy="12417"/>
          </a:xfrm>
          <a:prstGeom prst="line">
            <a:avLst/>
          </a:prstGeom>
          <a:ln w="6350">
            <a:solidFill>
              <a:srgbClr val="408BFC"/>
            </a:solidFill>
            <a:prstDash val="dash"/>
            <a:headEnd type="arrow" w="med" len="sm"/>
            <a:tailEnd type="arrow" w="med" len="sm"/>
          </a:ln>
          <a:effectLst/>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BB2161D0-235E-0A41-B5F6-83E6697D0EED}"/>
              </a:ext>
            </a:extLst>
          </p:cNvPr>
          <p:cNvSpPr/>
          <p:nvPr/>
        </p:nvSpPr>
        <p:spPr>
          <a:xfrm>
            <a:off x="6865187" y="2898190"/>
            <a:ext cx="1528108" cy="1528109"/>
          </a:xfrm>
          <a:prstGeom prst="ellipse">
            <a:avLst/>
          </a:prstGeom>
          <a:solidFill>
            <a:srgbClr val="0530AD"/>
          </a:solidFill>
        </p:spPr>
        <p:txBody>
          <a:bodyPr wrap="square" lIns="0" tIns="0" rIns="0" bIns="0" rtlCol="0" anchor="ctr">
            <a:noAutofit/>
          </a:bodyPr>
          <a:lstStyle/>
          <a:p>
            <a:pPr algn="ctr" defTabSz="914377">
              <a:defRPr/>
            </a:pPr>
            <a:endParaRPr lang="en-US" sz="933" dirty="0">
              <a:solidFill>
                <a:srgbClr val="FFFFFF"/>
              </a:solidFill>
              <a:latin typeface="Arial"/>
              <a:cs typeface="Arial"/>
            </a:endParaRPr>
          </a:p>
        </p:txBody>
      </p:sp>
      <p:sp>
        <p:nvSpPr>
          <p:cNvPr id="16" name="TextBox 15">
            <a:extLst>
              <a:ext uri="{FF2B5EF4-FFF2-40B4-BE49-F238E27FC236}">
                <a16:creationId xmlns:a16="http://schemas.microsoft.com/office/drawing/2014/main" id="{B0BB26CD-4893-F14F-BB0E-E6A7DFC07B3A}"/>
              </a:ext>
            </a:extLst>
          </p:cNvPr>
          <p:cNvSpPr txBox="1"/>
          <p:nvPr/>
        </p:nvSpPr>
        <p:spPr>
          <a:xfrm>
            <a:off x="6871720" y="3521869"/>
            <a:ext cx="1500312" cy="294953"/>
          </a:xfrm>
          <a:prstGeom prst="rect">
            <a:avLst/>
          </a:prstGeom>
          <a:noFill/>
        </p:spPr>
        <p:txBody>
          <a:bodyPr wrap="square" lIns="0" tIns="0" rIns="0" bIns="0" rtlCol="0">
            <a:spAutoFit/>
          </a:bodyPr>
          <a:lstStyle/>
          <a:p>
            <a:pPr algn="ctr" defTabSz="914354">
              <a:lnSpc>
                <a:spcPts val="800"/>
              </a:lnSpc>
              <a:spcBef>
                <a:spcPts val="400"/>
              </a:spcBef>
              <a:defRPr/>
            </a:pPr>
            <a:r>
              <a:rPr lang="en-US" sz="1333" dirty="0">
                <a:solidFill>
                  <a:srgbClr val="FFFFFF"/>
                </a:solidFill>
                <a:latin typeface="IBM Plex Sans"/>
              </a:rPr>
              <a:t>Prescriptive</a:t>
            </a:r>
          </a:p>
          <a:p>
            <a:pPr algn="ctr" defTabSz="914354">
              <a:lnSpc>
                <a:spcPts val="1067"/>
              </a:lnSpc>
              <a:spcBef>
                <a:spcPts val="400"/>
              </a:spcBef>
              <a:defRPr/>
            </a:pPr>
            <a:r>
              <a:rPr lang="en-US" sz="933" dirty="0">
                <a:solidFill>
                  <a:srgbClr val="FFFFFF"/>
                </a:solidFill>
                <a:latin typeface="IBM Plex Sans"/>
              </a:rPr>
              <a:t>What should we do?</a:t>
            </a:r>
          </a:p>
        </p:txBody>
      </p:sp>
      <p:sp>
        <p:nvSpPr>
          <p:cNvPr id="31" name="Oval 30">
            <a:extLst>
              <a:ext uri="{FF2B5EF4-FFF2-40B4-BE49-F238E27FC236}">
                <a16:creationId xmlns:a16="http://schemas.microsoft.com/office/drawing/2014/main" id="{47A45ACD-882B-8B48-B81C-E5EE4C982FAA}"/>
              </a:ext>
            </a:extLst>
          </p:cNvPr>
          <p:cNvSpPr/>
          <p:nvPr/>
        </p:nvSpPr>
        <p:spPr>
          <a:xfrm>
            <a:off x="8500799" y="1742995"/>
            <a:ext cx="1528108" cy="1528109"/>
          </a:xfrm>
          <a:prstGeom prst="ellipse">
            <a:avLst/>
          </a:prstGeom>
          <a:solidFill>
            <a:srgbClr val="4F2196"/>
          </a:solidFill>
        </p:spPr>
        <p:txBody>
          <a:bodyPr wrap="square" lIns="0" tIns="0" rIns="0" bIns="0" rtlCol="0" anchor="ctr">
            <a:noAutofit/>
          </a:bodyPr>
          <a:lstStyle/>
          <a:p>
            <a:pPr algn="ctr" defTabSz="914377">
              <a:defRPr/>
            </a:pPr>
            <a:endParaRPr lang="en-US" sz="933" dirty="0">
              <a:solidFill>
                <a:srgbClr val="FFFFFF"/>
              </a:solidFill>
              <a:latin typeface="Arial"/>
              <a:cs typeface="Arial"/>
            </a:endParaRPr>
          </a:p>
        </p:txBody>
      </p:sp>
      <p:sp>
        <p:nvSpPr>
          <p:cNvPr id="17" name="TextBox 16">
            <a:extLst>
              <a:ext uri="{FF2B5EF4-FFF2-40B4-BE49-F238E27FC236}">
                <a16:creationId xmlns:a16="http://schemas.microsoft.com/office/drawing/2014/main" id="{82EF2C04-A3C1-5B40-8495-05FFC1587DAB}"/>
              </a:ext>
            </a:extLst>
          </p:cNvPr>
          <p:cNvSpPr txBox="1"/>
          <p:nvPr/>
        </p:nvSpPr>
        <p:spPr>
          <a:xfrm>
            <a:off x="8500799" y="2315224"/>
            <a:ext cx="1528108" cy="294953"/>
          </a:xfrm>
          <a:prstGeom prst="rect">
            <a:avLst/>
          </a:prstGeom>
          <a:noFill/>
        </p:spPr>
        <p:txBody>
          <a:bodyPr wrap="square" lIns="0" tIns="0" rIns="0" bIns="0" rtlCol="0">
            <a:spAutoFit/>
          </a:bodyPr>
          <a:lstStyle/>
          <a:p>
            <a:pPr algn="ctr" defTabSz="914354">
              <a:lnSpc>
                <a:spcPts val="800"/>
              </a:lnSpc>
              <a:spcBef>
                <a:spcPts val="400"/>
              </a:spcBef>
              <a:defRPr/>
            </a:pPr>
            <a:r>
              <a:rPr lang="en-US" sz="1333" dirty="0">
                <a:solidFill>
                  <a:srgbClr val="FFFFFF"/>
                </a:solidFill>
                <a:latin typeface="IBM Plex Sans"/>
              </a:rPr>
              <a:t>Planning</a:t>
            </a:r>
          </a:p>
          <a:p>
            <a:pPr algn="ctr" defTabSz="914354">
              <a:lnSpc>
                <a:spcPts val="1067"/>
              </a:lnSpc>
              <a:spcBef>
                <a:spcPts val="400"/>
              </a:spcBef>
              <a:defRPr/>
            </a:pPr>
            <a:r>
              <a:rPr lang="en-US" sz="933" dirty="0">
                <a:solidFill>
                  <a:srgbClr val="FFFFFF"/>
                </a:solidFill>
                <a:latin typeface="IBM Plex Sans"/>
              </a:rPr>
              <a:t>What is our plan?</a:t>
            </a:r>
          </a:p>
        </p:txBody>
      </p:sp>
      <p:sp>
        <p:nvSpPr>
          <p:cNvPr id="32" name="Oval 31">
            <a:extLst>
              <a:ext uri="{FF2B5EF4-FFF2-40B4-BE49-F238E27FC236}">
                <a16:creationId xmlns:a16="http://schemas.microsoft.com/office/drawing/2014/main" id="{109FF026-5EF3-9D42-8A57-3ED6C5BF4F91}"/>
              </a:ext>
            </a:extLst>
          </p:cNvPr>
          <p:cNvSpPr/>
          <p:nvPr/>
        </p:nvSpPr>
        <p:spPr>
          <a:xfrm>
            <a:off x="10111223" y="2936002"/>
            <a:ext cx="1528108" cy="1528109"/>
          </a:xfrm>
          <a:prstGeom prst="ellipse">
            <a:avLst/>
          </a:prstGeom>
          <a:solidFill>
            <a:srgbClr val="6E32C9"/>
          </a:solidFill>
        </p:spPr>
        <p:txBody>
          <a:bodyPr wrap="square" lIns="0" tIns="0" rIns="0" bIns="0" rtlCol="0" anchor="ctr">
            <a:noAutofit/>
          </a:bodyPr>
          <a:lstStyle/>
          <a:p>
            <a:pPr algn="ctr" defTabSz="914377">
              <a:defRPr/>
            </a:pPr>
            <a:endParaRPr lang="en-US" sz="933" dirty="0">
              <a:solidFill>
                <a:srgbClr val="FFFFFF"/>
              </a:solidFill>
              <a:latin typeface="Arial"/>
              <a:cs typeface="Arial"/>
            </a:endParaRPr>
          </a:p>
        </p:txBody>
      </p:sp>
      <p:sp>
        <p:nvSpPr>
          <p:cNvPr id="18" name="TextBox 17">
            <a:extLst>
              <a:ext uri="{FF2B5EF4-FFF2-40B4-BE49-F238E27FC236}">
                <a16:creationId xmlns:a16="http://schemas.microsoft.com/office/drawing/2014/main" id="{F63E3890-AEFB-BF42-9199-466522E6BC9E}"/>
              </a:ext>
            </a:extLst>
          </p:cNvPr>
          <p:cNvSpPr txBox="1"/>
          <p:nvPr/>
        </p:nvSpPr>
        <p:spPr>
          <a:xfrm>
            <a:off x="10111222" y="3598692"/>
            <a:ext cx="1528108" cy="261225"/>
          </a:xfrm>
          <a:prstGeom prst="rect">
            <a:avLst/>
          </a:prstGeom>
          <a:noFill/>
        </p:spPr>
        <p:txBody>
          <a:bodyPr wrap="square" lIns="0" tIns="0" rIns="0" bIns="0" rtlCol="0">
            <a:spAutoFit/>
          </a:bodyPr>
          <a:lstStyle/>
          <a:p>
            <a:pPr algn="ctr" defTabSz="914354">
              <a:lnSpc>
                <a:spcPts val="800"/>
              </a:lnSpc>
              <a:spcBef>
                <a:spcPts val="400"/>
              </a:spcBef>
              <a:defRPr/>
            </a:pPr>
            <a:r>
              <a:rPr lang="en-US" sz="1333" dirty="0">
                <a:solidFill>
                  <a:srgbClr val="FFFFFF"/>
                </a:solidFill>
                <a:latin typeface="IBM Plex Sans"/>
              </a:rPr>
              <a:t>Descriptive</a:t>
            </a:r>
          </a:p>
          <a:p>
            <a:pPr algn="ctr" defTabSz="914354">
              <a:lnSpc>
                <a:spcPts val="800"/>
              </a:lnSpc>
              <a:spcBef>
                <a:spcPts val="400"/>
              </a:spcBef>
              <a:defRPr/>
            </a:pPr>
            <a:r>
              <a:rPr lang="en-US" sz="933" dirty="0">
                <a:solidFill>
                  <a:srgbClr val="FFFFFF"/>
                </a:solidFill>
                <a:latin typeface="IBM Plex Sans"/>
              </a:rPr>
              <a:t>What happened?</a:t>
            </a:r>
          </a:p>
        </p:txBody>
      </p:sp>
      <p:sp>
        <p:nvSpPr>
          <p:cNvPr id="34" name="Oval 33">
            <a:extLst>
              <a:ext uri="{FF2B5EF4-FFF2-40B4-BE49-F238E27FC236}">
                <a16:creationId xmlns:a16="http://schemas.microsoft.com/office/drawing/2014/main" id="{A7084619-F933-7441-81C8-8546336E5869}"/>
              </a:ext>
            </a:extLst>
          </p:cNvPr>
          <p:cNvSpPr/>
          <p:nvPr/>
        </p:nvSpPr>
        <p:spPr>
          <a:xfrm>
            <a:off x="9468631" y="4828241"/>
            <a:ext cx="1528108" cy="1528109"/>
          </a:xfrm>
          <a:prstGeom prst="ellipse">
            <a:avLst/>
          </a:prstGeom>
          <a:solidFill>
            <a:srgbClr val="8A3FFC"/>
          </a:solidFill>
        </p:spPr>
        <p:txBody>
          <a:bodyPr wrap="square" lIns="0" tIns="0" rIns="0" bIns="0" rtlCol="0" anchor="ctr">
            <a:noAutofit/>
          </a:bodyPr>
          <a:lstStyle/>
          <a:p>
            <a:pPr algn="ctr" defTabSz="914377">
              <a:defRPr/>
            </a:pPr>
            <a:endParaRPr lang="en-US" sz="933" dirty="0">
              <a:solidFill>
                <a:srgbClr val="FFFFFF"/>
              </a:solidFill>
              <a:latin typeface="Arial"/>
              <a:cs typeface="Arial"/>
            </a:endParaRPr>
          </a:p>
        </p:txBody>
      </p:sp>
      <p:sp>
        <p:nvSpPr>
          <p:cNvPr id="24" name="TextBox 23">
            <a:extLst>
              <a:ext uri="{FF2B5EF4-FFF2-40B4-BE49-F238E27FC236}">
                <a16:creationId xmlns:a16="http://schemas.microsoft.com/office/drawing/2014/main" id="{BF2B85C2-2F64-D940-87AF-4B6DB37C2F37}"/>
              </a:ext>
            </a:extLst>
          </p:cNvPr>
          <p:cNvSpPr txBox="1"/>
          <p:nvPr/>
        </p:nvSpPr>
        <p:spPr>
          <a:xfrm>
            <a:off x="9468630" y="5414877"/>
            <a:ext cx="1528108" cy="261225"/>
          </a:xfrm>
          <a:prstGeom prst="rect">
            <a:avLst/>
          </a:prstGeom>
          <a:noFill/>
        </p:spPr>
        <p:txBody>
          <a:bodyPr wrap="square" lIns="0" tIns="0" rIns="0" bIns="0" rtlCol="0">
            <a:spAutoFit/>
          </a:bodyPr>
          <a:lstStyle/>
          <a:p>
            <a:pPr algn="ctr" defTabSz="914354">
              <a:lnSpc>
                <a:spcPts val="800"/>
              </a:lnSpc>
              <a:spcBef>
                <a:spcPts val="400"/>
              </a:spcBef>
              <a:defRPr/>
            </a:pPr>
            <a:r>
              <a:rPr lang="en-US" sz="1333" dirty="0">
                <a:solidFill>
                  <a:srgbClr val="FFFFFF"/>
                </a:solidFill>
                <a:latin typeface="IBM Plex Sans"/>
              </a:rPr>
              <a:t>Diagnostic</a:t>
            </a:r>
          </a:p>
          <a:p>
            <a:pPr algn="ctr" defTabSz="914354">
              <a:lnSpc>
                <a:spcPts val="800"/>
              </a:lnSpc>
              <a:spcBef>
                <a:spcPts val="400"/>
              </a:spcBef>
              <a:defRPr/>
            </a:pPr>
            <a:r>
              <a:rPr lang="en-US" sz="933" dirty="0">
                <a:solidFill>
                  <a:srgbClr val="FFFFFF"/>
                </a:solidFill>
                <a:latin typeface="IBM Plex Sans"/>
              </a:rPr>
              <a:t>Why did it happen?</a:t>
            </a:r>
          </a:p>
        </p:txBody>
      </p:sp>
      <p:sp>
        <p:nvSpPr>
          <p:cNvPr id="33" name="Oval 32">
            <a:extLst>
              <a:ext uri="{FF2B5EF4-FFF2-40B4-BE49-F238E27FC236}">
                <a16:creationId xmlns:a16="http://schemas.microsoft.com/office/drawing/2014/main" id="{EA10D472-BA8C-4849-B812-C05D7B67D387}"/>
              </a:ext>
            </a:extLst>
          </p:cNvPr>
          <p:cNvSpPr/>
          <p:nvPr/>
        </p:nvSpPr>
        <p:spPr>
          <a:xfrm>
            <a:off x="7462265" y="4799355"/>
            <a:ext cx="1528108" cy="1528109"/>
          </a:xfrm>
          <a:prstGeom prst="ellipse">
            <a:avLst/>
          </a:prstGeom>
          <a:solidFill>
            <a:srgbClr val="0062FF"/>
          </a:solidFill>
        </p:spPr>
        <p:txBody>
          <a:bodyPr wrap="square" lIns="0" tIns="0" rIns="0" bIns="0" rtlCol="0" anchor="ctr">
            <a:noAutofit/>
          </a:bodyPr>
          <a:lstStyle/>
          <a:p>
            <a:pPr algn="ctr" defTabSz="914377">
              <a:defRPr/>
            </a:pPr>
            <a:endParaRPr lang="en-US" sz="933" dirty="0">
              <a:solidFill>
                <a:srgbClr val="FFFFFF"/>
              </a:solidFill>
              <a:latin typeface="Arial"/>
              <a:cs typeface="Arial"/>
            </a:endParaRPr>
          </a:p>
        </p:txBody>
      </p:sp>
      <p:sp>
        <p:nvSpPr>
          <p:cNvPr id="26" name="TextBox 25">
            <a:extLst>
              <a:ext uri="{FF2B5EF4-FFF2-40B4-BE49-F238E27FC236}">
                <a16:creationId xmlns:a16="http://schemas.microsoft.com/office/drawing/2014/main" id="{25F35B2F-BA24-B648-8A2E-079FE614E288}"/>
              </a:ext>
            </a:extLst>
          </p:cNvPr>
          <p:cNvSpPr txBox="1"/>
          <p:nvPr/>
        </p:nvSpPr>
        <p:spPr>
          <a:xfrm>
            <a:off x="7462265" y="5379385"/>
            <a:ext cx="1528108" cy="294953"/>
          </a:xfrm>
          <a:prstGeom prst="rect">
            <a:avLst/>
          </a:prstGeom>
          <a:noFill/>
        </p:spPr>
        <p:txBody>
          <a:bodyPr wrap="square" lIns="0" tIns="0" rIns="0" bIns="0" rtlCol="0">
            <a:spAutoFit/>
          </a:bodyPr>
          <a:lstStyle/>
          <a:p>
            <a:pPr algn="ctr" defTabSz="914354">
              <a:lnSpc>
                <a:spcPts val="800"/>
              </a:lnSpc>
              <a:spcBef>
                <a:spcPts val="400"/>
              </a:spcBef>
              <a:defRPr/>
            </a:pPr>
            <a:r>
              <a:rPr lang="en-US" sz="1333" dirty="0">
                <a:solidFill>
                  <a:srgbClr val="FFFFFF"/>
                </a:solidFill>
                <a:latin typeface="IBM Plex Sans"/>
              </a:rPr>
              <a:t>Predictive</a:t>
            </a:r>
          </a:p>
          <a:p>
            <a:pPr algn="ctr" defTabSz="914354">
              <a:lnSpc>
                <a:spcPts val="1067"/>
              </a:lnSpc>
              <a:spcBef>
                <a:spcPts val="400"/>
              </a:spcBef>
              <a:defRPr/>
            </a:pPr>
            <a:r>
              <a:rPr lang="en-US" sz="933" dirty="0">
                <a:solidFill>
                  <a:srgbClr val="FFFFFF"/>
                </a:solidFill>
                <a:latin typeface="IBM Plex Sans"/>
              </a:rPr>
              <a:t>What will happen next?</a:t>
            </a:r>
          </a:p>
        </p:txBody>
      </p:sp>
      <p:sp>
        <p:nvSpPr>
          <p:cNvPr id="40" name="Arc 39">
            <a:extLst>
              <a:ext uri="{FF2B5EF4-FFF2-40B4-BE49-F238E27FC236}">
                <a16:creationId xmlns:a16="http://schemas.microsoft.com/office/drawing/2014/main" id="{797DA80B-EFE3-F948-A706-CE880A0F2589}"/>
              </a:ext>
            </a:extLst>
          </p:cNvPr>
          <p:cNvSpPr>
            <a:spLocks/>
          </p:cNvSpPr>
          <p:nvPr/>
        </p:nvSpPr>
        <p:spPr bwMode="auto">
          <a:xfrm>
            <a:off x="7484023" y="2036928"/>
            <a:ext cx="3230880" cy="3230880"/>
          </a:xfrm>
          <a:prstGeom prst="arc">
            <a:avLst>
              <a:gd name="adj1" fmla="val 13296614"/>
              <a:gd name="adj2" fmla="val 14564136"/>
            </a:avLst>
          </a:prstGeom>
          <a:ln w="9525">
            <a:solidFill>
              <a:schemeClr val="bg1"/>
            </a:solidFill>
            <a:headEnd type="none" w="med" len="med"/>
            <a:tailEnd type="stealth" w="med" len="sm"/>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42" name="Arc 41">
            <a:extLst>
              <a:ext uri="{FF2B5EF4-FFF2-40B4-BE49-F238E27FC236}">
                <a16:creationId xmlns:a16="http://schemas.microsoft.com/office/drawing/2014/main" id="{ED076B71-90AE-554F-9FEF-2C863D22A74E}"/>
              </a:ext>
            </a:extLst>
          </p:cNvPr>
          <p:cNvSpPr>
            <a:spLocks/>
          </p:cNvSpPr>
          <p:nvPr/>
        </p:nvSpPr>
        <p:spPr bwMode="auto">
          <a:xfrm>
            <a:off x="7484023" y="2036928"/>
            <a:ext cx="3230880" cy="3230880"/>
          </a:xfrm>
          <a:prstGeom prst="arc">
            <a:avLst>
              <a:gd name="adj1" fmla="val 4901494"/>
              <a:gd name="adj2" fmla="val 5973063"/>
            </a:avLst>
          </a:prstGeom>
          <a:ln w="9525">
            <a:solidFill>
              <a:schemeClr val="bg1"/>
            </a:solidFill>
            <a:headEnd type="none" w="med" len="med"/>
            <a:tailEnd type="stealth" w="med" len="sm"/>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43" name="Arc 42">
            <a:extLst>
              <a:ext uri="{FF2B5EF4-FFF2-40B4-BE49-F238E27FC236}">
                <a16:creationId xmlns:a16="http://schemas.microsoft.com/office/drawing/2014/main" id="{515228FA-BF62-E040-8882-CA8C1234DE1A}"/>
              </a:ext>
            </a:extLst>
          </p:cNvPr>
          <p:cNvSpPr>
            <a:spLocks/>
          </p:cNvSpPr>
          <p:nvPr/>
        </p:nvSpPr>
        <p:spPr bwMode="auto">
          <a:xfrm>
            <a:off x="7484023" y="2036928"/>
            <a:ext cx="3230880" cy="3230880"/>
          </a:xfrm>
          <a:prstGeom prst="arc">
            <a:avLst>
              <a:gd name="adj1" fmla="val 17909165"/>
              <a:gd name="adj2" fmla="val 19217559"/>
            </a:avLst>
          </a:prstGeom>
          <a:ln w="9525">
            <a:solidFill>
              <a:schemeClr val="bg1"/>
            </a:solidFill>
            <a:headEnd type="none" w="med" len="med"/>
            <a:tailEnd type="stealth" w="med" len="sm"/>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46" name="Arc 45">
            <a:extLst>
              <a:ext uri="{FF2B5EF4-FFF2-40B4-BE49-F238E27FC236}">
                <a16:creationId xmlns:a16="http://schemas.microsoft.com/office/drawing/2014/main" id="{5A438BC9-8DEC-1347-BECF-E57D7C02958E}"/>
              </a:ext>
            </a:extLst>
          </p:cNvPr>
          <p:cNvSpPr>
            <a:spLocks/>
          </p:cNvSpPr>
          <p:nvPr/>
        </p:nvSpPr>
        <p:spPr bwMode="auto">
          <a:xfrm>
            <a:off x="7484023" y="2036928"/>
            <a:ext cx="3230880" cy="3230880"/>
          </a:xfrm>
          <a:prstGeom prst="arc">
            <a:avLst>
              <a:gd name="adj1" fmla="val 895658"/>
              <a:gd name="adj2" fmla="val 1923301"/>
            </a:avLst>
          </a:prstGeom>
          <a:ln w="9525">
            <a:solidFill>
              <a:schemeClr val="bg1"/>
            </a:solidFill>
            <a:headEnd type="none" w="med" len="med"/>
            <a:tailEnd type="stealth" w="med" len="sm"/>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47" name="Arc 46">
            <a:extLst>
              <a:ext uri="{FF2B5EF4-FFF2-40B4-BE49-F238E27FC236}">
                <a16:creationId xmlns:a16="http://schemas.microsoft.com/office/drawing/2014/main" id="{3A8AF1A3-ACCA-8948-8D5F-E700F12076C0}"/>
              </a:ext>
            </a:extLst>
          </p:cNvPr>
          <p:cNvSpPr>
            <a:spLocks/>
          </p:cNvSpPr>
          <p:nvPr/>
        </p:nvSpPr>
        <p:spPr bwMode="auto">
          <a:xfrm>
            <a:off x="7484023" y="2036928"/>
            <a:ext cx="3230880" cy="3230880"/>
          </a:xfrm>
          <a:prstGeom prst="arc">
            <a:avLst>
              <a:gd name="adj1" fmla="val 8938702"/>
              <a:gd name="adj2" fmla="val 10006983"/>
            </a:avLst>
          </a:prstGeom>
          <a:ln w="9525">
            <a:solidFill>
              <a:schemeClr val="bg1"/>
            </a:solidFill>
            <a:headEnd type="none" w="med" len="med"/>
            <a:tailEnd type="stealth" w="med" len="sm"/>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51" name="Arc 50">
            <a:extLst>
              <a:ext uri="{FF2B5EF4-FFF2-40B4-BE49-F238E27FC236}">
                <a16:creationId xmlns:a16="http://schemas.microsoft.com/office/drawing/2014/main" id="{33982DA2-AE8A-2844-9322-7E2CD22D4AB8}"/>
              </a:ext>
            </a:extLst>
          </p:cNvPr>
          <p:cNvSpPr>
            <a:spLocks/>
          </p:cNvSpPr>
          <p:nvPr/>
        </p:nvSpPr>
        <p:spPr bwMode="auto">
          <a:xfrm>
            <a:off x="3936569" y="2036928"/>
            <a:ext cx="3230880" cy="2341221"/>
          </a:xfrm>
          <a:prstGeom prst="arc">
            <a:avLst>
              <a:gd name="adj1" fmla="val 15848671"/>
              <a:gd name="adj2" fmla="val 20339626"/>
            </a:avLst>
          </a:prstGeom>
          <a:ln w="9525">
            <a:solidFill>
              <a:schemeClr val="bg1"/>
            </a:solidFill>
            <a:headEnd type="stealth" w="med" len="sm"/>
            <a:tailEnd type="stealth" w="med" len="sm"/>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sp>
        <p:nvSpPr>
          <p:cNvPr id="10" name="TextBox 9">
            <a:extLst>
              <a:ext uri="{FF2B5EF4-FFF2-40B4-BE49-F238E27FC236}">
                <a16:creationId xmlns:a16="http://schemas.microsoft.com/office/drawing/2014/main" id="{5A54B556-3B03-3647-A691-E33BA5876A09}"/>
              </a:ext>
            </a:extLst>
          </p:cNvPr>
          <p:cNvSpPr txBox="1"/>
          <p:nvPr/>
        </p:nvSpPr>
        <p:spPr>
          <a:xfrm>
            <a:off x="8406242" y="3983454"/>
            <a:ext cx="1717221" cy="221599"/>
          </a:xfrm>
          <a:prstGeom prst="rect">
            <a:avLst/>
          </a:prstGeom>
          <a:noFill/>
        </p:spPr>
        <p:txBody>
          <a:bodyPr wrap="square" lIns="0" tIns="0" rIns="0" bIns="0" rtlCol="0">
            <a:spAutoFit/>
          </a:bodyPr>
          <a:lstStyle/>
          <a:p>
            <a:pPr algn="ctr" defTabSz="914354">
              <a:lnSpc>
                <a:spcPct val="90000"/>
              </a:lnSpc>
              <a:defRPr/>
            </a:pPr>
            <a:r>
              <a:rPr lang="en-US" sz="1600" dirty="0">
                <a:solidFill>
                  <a:srgbClr val="FFFFFF"/>
                </a:solidFill>
                <a:latin typeface="IBM Plex Sans Medium" panose="020B0503050203000203" pitchFamily="34" charset="0"/>
              </a:rPr>
              <a:t>Analytics cycle</a:t>
            </a:r>
          </a:p>
        </p:txBody>
      </p:sp>
      <p:pic>
        <p:nvPicPr>
          <p:cNvPr id="7" name="Picture 6">
            <a:extLst>
              <a:ext uri="{FF2B5EF4-FFF2-40B4-BE49-F238E27FC236}">
                <a16:creationId xmlns:a16="http://schemas.microsoft.com/office/drawing/2014/main" id="{69593656-2D75-FF47-A212-07B173D8A621}"/>
              </a:ext>
            </a:extLst>
          </p:cNvPr>
          <p:cNvPicPr>
            <a:picLocks noChangeAspect="1"/>
          </p:cNvPicPr>
          <p:nvPr/>
        </p:nvPicPr>
        <p:blipFill>
          <a:blip r:embed="rId3"/>
          <a:stretch>
            <a:fillRect/>
          </a:stretch>
        </p:blipFill>
        <p:spPr>
          <a:xfrm>
            <a:off x="3639886" y="2244894"/>
            <a:ext cx="2376655" cy="2376655"/>
          </a:xfrm>
          <a:prstGeom prst="rect">
            <a:avLst/>
          </a:prstGeom>
        </p:spPr>
      </p:pic>
    </p:spTree>
    <p:extLst>
      <p:ext uri="{BB962C8B-B14F-4D97-AF65-F5344CB8AC3E}">
        <p14:creationId xmlns:p14="http://schemas.microsoft.com/office/powerpoint/2010/main" val="90251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6">
            <a:extLst>
              <a:ext uri="{FF2B5EF4-FFF2-40B4-BE49-F238E27FC236}">
                <a16:creationId xmlns:a16="http://schemas.microsoft.com/office/drawing/2014/main" id="{4DB6EB4F-B723-3346-B7B4-770DDEC2D355}"/>
              </a:ext>
            </a:extLst>
          </p:cNvPr>
          <p:cNvSpPr>
            <a:spLocks noChangeArrowheads="1"/>
          </p:cNvSpPr>
          <p:nvPr/>
        </p:nvSpPr>
        <p:spPr bwMode="auto">
          <a:xfrm>
            <a:off x="304889" y="1088574"/>
            <a:ext cx="5791111" cy="5157277"/>
          </a:xfrm>
          <a:prstGeom prst="rect">
            <a:avLst/>
          </a:prstGeom>
          <a:gradFill>
            <a:gsLst>
              <a:gs pos="0">
                <a:srgbClr val="408BFC"/>
              </a:gs>
              <a:gs pos="27000">
                <a:srgbClr val="0062FF"/>
              </a:gs>
            </a:gsLst>
            <a:lin ang="8100000" scaled="0"/>
          </a:gradFill>
          <a:ln>
            <a:noFill/>
          </a:ln>
        </p:spPr>
        <p:txBody>
          <a:bodyPr wrap="square" lIns="243840" tIns="182880" bIns="121920" anchor="t" anchorCtr="0">
            <a:noAutofit/>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377">
              <a:lnSpc>
                <a:spcPct val="90000"/>
              </a:lnSpc>
              <a:defRPr/>
            </a:pPr>
            <a:endParaRPr lang="en-US" altLang="en-US" sz="1600" dirty="0">
              <a:solidFill>
                <a:srgbClr val="FFFFFF"/>
              </a:solidFill>
              <a:latin typeface="IBM Plex Sans"/>
            </a:endParaRPr>
          </a:p>
        </p:txBody>
      </p:sp>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280415" y="98257"/>
            <a:ext cx="11598976" cy="1072896"/>
          </a:xfrm>
        </p:spPr>
        <p:txBody>
          <a:bodyPr>
            <a:normAutofit fontScale="90000"/>
          </a:bodyPr>
          <a:lstStyle/>
          <a:p>
            <a:r>
              <a:rPr lang="en-US" dirty="0"/>
              <a:t>Machine learning + optimization = actionable insights</a:t>
            </a:r>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4</a:t>
            </a:fld>
            <a:endParaRPr lang="en-US" dirty="0"/>
          </a:p>
        </p:txBody>
      </p:sp>
      <p:sp>
        <p:nvSpPr>
          <p:cNvPr id="5" name="Rectangle 57">
            <a:extLst>
              <a:ext uri="{FF2B5EF4-FFF2-40B4-BE49-F238E27FC236}">
                <a16:creationId xmlns:a16="http://schemas.microsoft.com/office/drawing/2014/main" id="{A93CFC89-EC9E-264A-AF96-C6DDAFE9E448}"/>
              </a:ext>
            </a:extLst>
          </p:cNvPr>
          <p:cNvSpPr>
            <a:spLocks noChangeArrowheads="1"/>
          </p:cNvSpPr>
          <p:nvPr/>
        </p:nvSpPr>
        <p:spPr bwMode="auto">
          <a:xfrm>
            <a:off x="6400886" y="1088574"/>
            <a:ext cx="5478505" cy="5157277"/>
          </a:xfrm>
          <a:prstGeom prst="rect">
            <a:avLst/>
          </a:prstGeom>
          <a:gradFill>
            <a:gsLst>
              <a:gs pos="0">
                <a:srgbClr val="061F80"/>
              </a:gs>
              <a:gs pos="27000">
                <a:srgbClr val="0530AD"/>
              </a:gs>
            </a:gsLst>
            <a:lin ang="8100000" scaled="0"/>
          </a:gradFill>
          <a:ln>
            <a:noFill/>
          </a:ln>
        </p:spPr>
        <p:txBody>
          <a:bodyPr lIns="243840" tIns="6096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377">
              <a:lnSpc>
                <a:spcPct val="90000"/>
              </a:lnSpc>
              <a:defRPr/>
            </a:pPr>
            <a:endParaRPr lang="en-US" altLang="en-US" sz="1467" dirty="0">
              <a:solidFill>
                <a:srgbClr val="FFFFFF"/>
              </a:solidFill>
              <a:latin typeface="IBM Plex Sans"/>
            </a:endParaRPr>
          </a:p>
        </p:txBody>
      </p:sp>
      <p:sp>
        <p:nvSpPr>
          <p:cNvPr id="9" name="Text Placeholder 6">
            <a:extLst>
              <a:ext uri="{FF2B5EF4-FFF2-40B4-BE49-F238E27FC236}">
                <a16:creationId xmlns:a16="http://schemas.microsoft.com/office/drawing/2014/main" id="{81F1D3D5-876C-A140-8AA4-BF9E38F8C3CA}"/>
              </a:ext>
            </a:extLst>
          </p:cNvPr>
          <p:cNvSpPr txBox="1">
            <a:spLocks/>
          </p:cNvSpPr>
          <p:nvPr/>
        </p:nvSpPr>
        <p:spPr>
          <a:xfrm>
            <a:off x="578598" y="1944918"/>
            <a:ext cx="4536821" cy="1041119"/>
          </a:xfrm>
          <a:prstGeom prst="rect">
            <a:avLst/>
          </a:prstGeom>
        </p:spPr>
        <p:txBody>
          <a:bodyPr vert="horz" wrap="square" lIns="0" tIns="0" rIns="0" bIns="0" rtlCol="0">
            <a:spAutoFit/>
          </a:bodyPr>
          <a:lstStyle>
            <a:lvl1pPr marL="0" indent="0" algn="l" defTabSz="457200" rtl="0" eaLnBrk="1" latinLnBrk="0" hangingPunct="1">
              <a:lnSpc>
                <a:spcPct val="100000"/>
              </a:lnSpc>
              <a:spcBef>
                <a:spcPts val="1100"/>
              </a:spcBef>
              <a:buFont typeface="Arial"/>
              <a:buNone/>
              <a:defRPr sz="1600" kern="1200">
                <a:solidFill>
                  <a:schemeClr val="tx1"/>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defTabSz="609585">
              <a:spcBef>
                <a:spcPts val="667"/>
              </a:spcBef>
              <a:defRPr/>
            </a:pPr>
            <a:r>
              <a:rPr lang="en-US" b="1" dirty="0">
                <a:solidFill>
                  <a:schemeClr val="bg1"/>
                </a:solidFill>
                <a:latin typeface="IBM Plex Sans SemiBold" panose="020B0503050203000203" pitchFamily="34" charset="0"/>
              </a:rPr>
              <a:t>Predictive analytics</a:t>
            </a:r>
          </a:p>
          <a:p>
            <a:pPr marL="182875" lvl="2" indent="-182875" defTabSz="609570" fontAlgn="base">
              <a:spcBef>
                <a:spcPts val="667"/>
              </a:spcBef>
              <a:buFont typeface="System Font Regular"/>
              <a:buChar char="–"/>
              <a:defRPr/>
            </a:pPr>
            <a:r>
              <a:rPr lang="en-US" sz="1333" dirty="0">
                <a:solidFill>
                  <a:srgbClr val="FFFFFF"/>
                </a:solidFill>
                <a:latin typeface="IBM Plex Sans" panose="020B0503050000000000" pitchFamily="34" charset="77"/>
              </a:rPr>
              <a:t>Basic (supervised): You </a:t>
            </a:r>
            <a:r>
              <a:rPr lang="en-US" sz="1333" b="1" dirty="0">
                <a:solidFill>
                  <a:srgbClr val="FFFFFF"/>
                </a:solidFill>
                <a:latin typeface="IBM Plex Sans" panose="020B0503050000000000" pitchFamily="34" charset="77"/>
              </a:rPr>
              <a:t>know the answer</a:t>
            </a:r>
            <a:r>
              <a:rPr lang="en-US" sz="1333" dirty="0">
                <a:solidFill>
                  <a:srgbClr val="FFFFFF"/>
                </a:solidFill>
                <a:latin typeface="IBM Plex Sans" panose="020B0503050000000000" pitchFamily="34" charset="77"/>
              </a:rPr>
              <a:t>,</a:t>
            </a:r>
            <a:r>
              <a:rPr lang="en-US" sz="1333" b="1" dirty="0">
                <a:solidFill>
                  <a:srgbClr val="FFFFFF"/>
                </a:solidFill>
                <a:latin typeface="IBM Plex Sans" panose="020B0503050000000000" pitchFamily="34" charset="77"/>
              </a:rPr>
              <a:t> </a:t>
            </a:r>
            <a:r>
              <a:rPr lang="en-US" sz="1333" dirty="0">
                <a:solidFill>
                  <a:srgbClr val="FFFFFF"/>
                </a:solidFill>
                <a:latin typeface="IBM Plex Sans" panose="020B0503050000000000" pitchFamily="34" charset="77"/>
              </a:rPr>
              <a:t>and you </a:t>
            </a:r>
            <a:r>
              <a:rPr lang="en-US" sz="1333" b="1" dirty="0">
                <a:solidFill>
                  <a:srgbClr val="FFFFFF"/>
                </a:solidFill>
                <a:latin typeface="IBM Plex Sans" panose="020B0503050000000000" pitchFamily="34" charset="77"/>
              </a:rPr>
              <a:t>train the machine how to find it</a:t>
            </a:r>
            <a:r>
              <a:rPr lang="en-US" sz="1333" dirty="0">
                <a:solidFill>
                  <a:srgbClr val="FFFFFF"/>
                </a:solidFill>
                <a:latin typeface="IBM Plex Sans" panose="020B0503050000000000" pitchFamily="34" charset="77"/>
              </a:rPr>
              <a:t>.</a:t>
            </a:r>
          </a:p>
          <a:p>
            <a:pPr marL="182875" lvl="2" indent="-182875" defTabSz="609570" fontAlgn="base">
              <a:spcBef>
                <a:spcPts val="667"/>
              </a:spcBef>
              <a:buFont typeface="System Font Regular"/>
              <a:buChar char="–"/>
              <a:defRPr/>
            </a:pPr>
            <a:r>
              <a:rPr lang="en-US" sz="1333" dirty="0">
                <a:solidFill>
                  <a:srgbClr val="FFFFFF"/>
                </a:solidFill>
                <a:latin typeface="IBM Plex Sans" panose="020B0503050000000000" pitchFamily="34" charset="77"/>
              </a:rPr>
              <a:t>Advanced: Unsupervised, reinforcement, deep learning</a:t>
            </a:r>
          </a:p>
        </p:txBody>
      </p:sp>
      <p:sp>
        <p:nvSpPr>
          <p:cNvPr id="10" name="Text Placeholder 6">
            <a:extLst>
              <a:ext uri="{FF2B5EF4-FFF2-40B4-BE49-F238E27FC236}">
                <a16:creationId xmlns:a16="http://schemas.microsoft.com/office/drawing/2014/main" id="{DF758395-CF00-D64F-991A-6A0B7CAFE5A7}"/>
              </a:ext>
            </a:extLst>
          </p:cNvPr>
          <p:cNvSpPr txBox="1">
            <a:spLocks/>
          </p:cNvSpPr>
          <p:nvPr/>
        </p:nvSpPr>
        <p:spPr>
          <a:xfrm>
            <a:off x="6642303" y="1944918"/>
            <a:ext cx="4971100" cy="1041119"/>
          </a:xfrm>
          <a:prstGeom prst="rect">
            <a:avLst/>
          </a:prstGeom>
        </p:spPr>
        <p:txBody>
          <a:bodyPr vert="horz" wrap="square" lIns="0" tIns="0" rIns="0" bIns="0" rtlCol="0">
            <a:spAutoFit/>
          </a:bodyPr>
          <a:lstStyle>
            <a:lvl1pPr marL="0" indent="0" algn="l" defTabSz="457200" rtl="0" eaLnBrk="1" latinLnBrk="0" hangingPunct="1">
              <a:lnSpc>
                <a:spcPct val="100000"/>
              </a:lnSpc>
              <a:spcBef>
                <a:spcPts val="1100"/>
              </a:spcBef>
              <a:buFont typeface="Arial"/>
              <a:buNone/>
              <a:defRPr sz="1600" kern="1200">
                <a:solidFill>
                  <a:schemeClr val="tx1"/>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defTabSz="609585">
              <a:spcBef>
                <a:spcPts val="667"/>
              </a:spcBef>
              <a:defRPr/>
            </a:pPr>
            <a:r>
              <a:rPr lang="en-US" b="1" dirty="0">
                <a:solidFill>
                  <a:schemeClr val="bg1"/>
                </a:solidFill>
                <a:latin typeface="IBM Plex Sans SemiBold" panose="020B0503050203000203" pitchFamily="34" charset="0"/>
              </a:rPr>
              <a:t>Prescriptive analytics</a:t>
            </a:r>
          </a:p>
          <a:p>
            <a:pPr marL="182875" lvl="2" indent="-182875" defTabSz="609570" fontAlgn="base">
              <a:spcBef>
                <a:spcPts val="667"/>
              </a:spcBef>
              <a:buFont typeface="System Font Regular"/>
              <a:buChar char="–"/>
              <a:defRPr/>
            </a:pPr>
            <a:r>
              <a:rPr lang="en-US" sz="1333" dirty="0">
                <a:solidFill>
                  <a:srgbClr val="FFFFFF"/>
                </a:solidFill>
                <a:latin typeface="IBM Plex Sans" panose="020B0503050000000000" pitchFamily="34" charset="77"/>
              </a:rPr>
              <a:t>You </a:t>
            </a:r>
            <a:r>
              <a:rPr lang="en-US" sz="1333" b="1" dirty="0">
                <a:solidFill>
                  <a:srgbClr val="FFFFFF"/>
                </a:solidFill>
                <a:latin typeface="IBM Plex Sans" panose="020B0503050000000000" pitchFamily="34" charset="77"/>
              </a:rPr>
              <a:t>don’t know the answer</a:t>
            </a:r>
            <a:r>
              <a:rPr lang="en-US" sz="1333" dirty="0">
                <a:solidFill>
                  <a:srgbClr val="FFFFFF"/>
                </a:solidFill>
                <a:latin typeface="IBM Plex Sans" panose="020B0503050000000000" pitchFamily="34" charset="77"/>
              </a:rPr>
              <a:t>, and you </a:t>
            </a:r>
            <a:r>
              <a:rPr lang="en-US" sz="1333" b="1" dirty="0">
                <a:solidFill>
                  <a:srgbClr val="FFFFFF"/>
                </a:solidFill>
                <a:latin typeface="IBM Plex Sans" panose="020B0503050000000000" pitchFamily="34" charset="77"/>
              </a:rPr>
              <a:t>provide the machine the logic on what is a good and a bad solution</a:t>
            </a:r>
            <a:r>
              <a:rPr lang="en-US" sz="1333" dirty="0">
                <a:solidFill>
                  <a:srgbClr val="FFFFFF"/>
                </a:solidFill>
                <a:latin typeface="IBM Plex Sans" panose="020B0503050000000000" pitchFamily="34" charset="77"/>
              </a:rPr>
              <a:t>.</a:t>
            </a:r>
          </a:p>
          <a:p>
            <a:pPr marL="182875" lvl="2" indent="-182875" defTabSz="609570" fontAlgn="base">
              <a:spcBef>
                <a:spcPts val="667"/>
              </a:spcBef>
              <a:buFont typeface="System Font Regular"/>
              <a:buChar char="–"/>
              <a:defRPr/>
            </a:pPr>
            <a:r>
              <a:rPr lang="en-US" sz="1333" dirty="0">
                <a:solidFill>
                  <a:srgbClr val="FFFFFF"/>
                </a:solidFill>
                <a:latin typeface="IBM Plex Sans" panose="020B0503050000000000" pitchFamily="34" charset="77"/>
              </a:rPr>
              <a:t>Advanced: Robust, stochastic, etc.</a:t>
            </a:r>
          </a:p>
        </p:txBody>
      </p:sp>
      <p:sp>
        <p:nvSpPr>
          <p:cNvPr id="11" name="TextBox 10">
            <a:extLst>
              <a:ext uri="{FF2B5EF4-FFF2-40B4-BE49-F238E27FC236}">
                <a16:creationId xmlns:a16="http://schemas.microsoft.com/office/drawing/2014/main" id="{D4584BC4-83C6-BF48-AD1A-E86EFD82DDF8}"/>
              </a:ext>
            </a:extLst>
          </p:cNvPr>
          <p:cNvSpPr txBox="1"/>
          <p:nvPr/>
        </p:nvSpPr>
        <p:spPr>
          <a:xfrm flipH="1">
            <a:off x="578597" y="4023154"/>
            <a:ext cx="1213099" cy="297454"/>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Sample data</a:t>
            </a:r>
          </a:p>
        </p:txBody>
      </p:sp>
      <p:sp>
        <p:nvSpPr>
          <p:cNvPr id="12" name="TextBox 11">
            <a:extLst>
              <a:ext uri="{FF2B5EF4-FFF2-40B4-BE49-F238E27FC236}">
                <a16:creationId xmlns:a16="http://schemas.microsoft.com/office/drawing/2014/main" id="{694BB034-5EB4-3443-AE0F-00135128A656}"/>
              </a:ext>
            </a:extLst>
          </p:cNvPr>
          <p:cNvSpPr txBox="1"/>
          <p:nvPr/>
        </p:nvSpPr>
        <p:spPr>
          <a:xfrm flipH="1">
            <a:off x="586319" y="5292211"/>
            <a:ext cx="1243832" cy="297454"/>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Observations</a:t>
            </a:r>
          </a:p>
        </p:txBody>
      </p:sp>
      <p:sp>
        <p:nvSpPr>
          <p:cNvPr id="13" name="Rectangle 12">
            <a:extLst>
              <a:ext uri="{FF2B5EF4-FFF2-40B4-BE49-F238E27FC236}">
                <a16:creationId xmlns:a16="http://schemas.microsoft.com/office/drawing/2014/main" id="{3FCE8EAA-9625-1543-837E-660DFBD99C85}"/>
              </a:ext>
            </a:extLst>
          </p:cNvPr>
          <p:cNvSpPr/>
          <p:nvPr/>
        </p:nvSpPr>
        <p:spPr>
          <a:xfrm>
            <a:off x="2001389" y="3878951"/>
            <a:ext cx="1307964" cy="6155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eaLnBrk="0" fontAlgn="base" hangingPunct="0">
              <a:spcBef>
                <a:spcPct val="0"/>
              </a:spcBef>
              <a:spcAft>
                <a:spcPct val="0"/>
              </a:spcAft>
              <a:defRPr/>
            </a:pPr>
            <a:r>
              <a:rPr lang="en-US" sz="1333" dirty="0">
                <a:solidFill>
                  <a:srgbClr val="0064FF"/>
                </a:solidFill>
                <a:latin typeface="IBM Plex Sans" panose="020B0503050000000000" pitchFamily="34" charset="77"/>
                <a:cs typeface="Calibri"/>
              </a:rPr>
              <a:t>Train model</a:t>
            </a:r>
          </a:p>
        </p:txBody>
      </p:sp>
      <p:sp>
        <p:nvSpPr>
          <p:cNvPr id="14" name="Rectangle 13">
            <a:extLst>
              <a:ext uri="{FF2B5EF4-FFF2-40B4-BE49-F238E27FC236}">
                <a16:creationId xmlns:a16="http://schemas.microsoft.com/office/drawing/2014/main" id="{569E341C-CD12-A54A-A836-B839C3F5AEF4}"/>
              </a:ext>
            </a:extLst>
          </p:cNvPr>
          <p:cNvSpPr/>
          <p:nvPr/>
        </p:nvSpPr>
        <p:spPr>
          <a:xfrm>
            <a:off x="2001389" y="5133161"/>
            <a:ext cx="1307964" cy="6155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eaLnBrk="0" fontAlgn="base" hangingPunct="0">
              <a:spcBef>
                <a:spcPct val="0"/>
              </a:spcBef>
              <a:spcAft>
                <a:spcPct val="0"/>
              </a:spcAft>
              <a:defRPr/>
            </a:pPr>
            <a:r>
              <a:rPr lang="en-US" sz="1333" dirty="0">
                <a:solidFill>
                  <a:srgbClr val="0064FF"/>
                </a:solidFill>
                <a:latin typeface="IBM Plex Sans" panose="020B0503050000000000" pitchFamily="34" charset="77"/>
                <a:cs typeface="Calibri"/>
              </a:rPr>
              <a:t>Solve trained model</a:t>
            </a:r>
          </a:p>
        </p:txBody>
      </p:sp>
      <p:sp>
        <p:nvSpPr>
          <p:cNvPr id="15" name="Line 100">
            <a:extLst>
              <a:ext uri="{FF2B5EF4-FFF2-40B4-BE49-F238E27FC236}">
                <a16:creationId xmlns:a16="http://schemas.microsoft.com/office/drawing/2014/main" id="{DB2A112B-08D6-CF42-9FBF-41D9F0B440BB}"/>
              </a:ext>
            </a:extLst>
          </p:cNvPr>
          <p:cNvSpPr>
            <a:spLocks noChangeShapeType="1"/>
          </p:cNvSpPr>
          <p:nvPr/>
        </p:nvSpPr>
        <p:spPr bwMode="auto">
          <a:xfrm>
            <a:off x="1642027" y="4181219"/>
            <a:ext cx="365760"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6" name="Line 100">
            <a:extLst>
              <a:ext uri="{FF2B5EF4-FFF2-40B4-BE49-F238E27FC236}">
                <a16:creationId xmlns:a16="http://schemas.microsoft.com/office/drawing/2014/main" id="{C59EBC67-F5D2-404B-B7ED-2A843DD95855}"/>
              </a:ext>
            </a:extLst>
          </p:cNvPr>
          <p:cNvSpPr>
            <a:spLocks noChangeShapeType="1"/>
          </p:cNvSpPr>
          <p:nvPr/>
        </p:nvSpPr>
        <p:spPr bwMode="auto">
          <a:xfrm>
            <a:off x="1642027" y="5440939"/>
            <a:ext cx="365760"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7" name="Line 100">
            <a:extLst>
              <a:ext uri="{FF2B5EF4-FFF2-40B4-BE49-F238E27FC236}">
                <a16:creationId xmlns:a16="http://schemas.microsoft.com/office/drawing/2014/main" id="{76310166-3EF8-EF44-9010-B08DD4916CA8}"/>
              </a:ext>
            </a:extLst>
          </p:cNvPr>
          <p:cNvSpPr>
            <a:spLocks noChangeShapeType="1"/>
          </p:cNvSpPr>
          <p:nvPr/>
        </p:nvSpPr>
        <p:spPr bwMode="auto">
          <a:xfrm rot="5400000">
            <a:off x="2350571" y="4799304"/>
            <a:ext cx="609600"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8" name="Line 100">
            <a:extLst>
              <a:ext uri="{FF2B5EF4-FFF2-40B4-BE49-F238E27FC236}">
                <a16:creationId xmlns:a16="http://schemas.microsoft.com/office/drawing/2014/main" id="{FFC6886A-AC60-BC4B-B93C-49568F8F8659}"/>
              </a:ext>
            </a:extLst>
          </p:cNvPr>
          <p:cNvSpPr>
            <a:spLocks noChangeShapeType="1"/>
          </p:cNvSpPr>
          <p:nvPr/>
        </p:nvSpPr>
        <p:spPr bwMode="auto">
          <a:xfrm>
            <a:off x="3432492" y="5440939"/>
            <a:ext cx="487680"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9" name="TextBox 18">
            <a:extLst>
              <a:ext uri="{FF2B5EF4-FFF2-40B4-BE49-F238E27FC236}">
                <a16:creationId xmlns:a16="http://schemas.microsoft.com/office/drawing/2014/main" id="{5B1991A3-6E14-2343-9E3B-797B3DB410ED}"/>
              </a:ext>
            </a:extLst>
          </p:cNvPr>
          <p:cNvSpPr txBox="1"/>
          <p:nvPr/>
        </p:nvSpPr>
        <p:spPr>
          <a:xfrm flipH="1">
            <a:off x="6827465" y="3920595"/>
            <a:ext cx="1195115" cy="502573"/>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Prediction</a:t>
            </a:r>
          </a:p>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(optional)</a:t>
            </a:r>
          </a:p>
        </p:txBody>
      </p:sp>
      <p:sp>
        <p:nvSpPr>
          <p:cNvPr id="20" name="TextBox 19">
            <a:extLst>
              <a:ext uri="{FF2B5EF4-FFF2-40B4-BE49-F238E27FC236}">
                <a16:creationId xmlns:a16="http://schemas.microsoft.com/office/drawing/2014/main" id="{C32A94AF-B2A8-0F48-8B89-07970FBD7778}"/>
              </a:ext>
            </a:extLst>
          </p:cNvPr>
          <p:cNvSpPr txBox="1"/>
          <p:nvPr/>
        </p:nvSpPr>
        <p:spPr>
          <a:xfrm flipH="1">
            <a:off x="6831860" y="5292240"/>
            <a:ext cx="924897" cy="502573"/>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Business goals</a:t>
            </a:r>
          </a:p>
        </p:txBody>
      </p:sp>
      <p:sp>
        <p:nvSpPr>
          <p:cNvPr id="21" name="Line 100">
            <a:extLst>
              <a:ext uri="{FF2B5EF4-FFF2-40B4-BE49-F238E27FC236}">
                <a16:creationId xmlns:a16="http://schemas.microsoft.com/office/drawing/2014/main" id="{916FD15A-A7EA-CB4F-8360-EB5AF9DB9ECA}"/>
              </a:ext>
            </a:extLst>
          </p:cNvPr>
          <p:cNvSpPr>
            <a:spLocks noChangeShapeType="1"/>
          </p:cNvSpPr>
          <p:nvPr/>
        </p:nvSpPr>
        <p:spPr bwMode="auto">
          <a:xfrm>
            <a:off x="7756756" y="4181219"/>
            <a:ext cx="522877"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2" name="Line 100">
            <a:extLst>
              <a:ext uri="{FF2B5EF4-FFF2-40B4-BE49-F238E27FC236}">
                <a16:creationId xmlns:a16="http://schemas.microsoft.com/office/drawing/2014/main" id="{1B71C18B-BD0B-224A-840C-474E74962443}"/>
              </a:ext>
            </a:extLst>
          </p:cNvPr>
          <p:cNvSpPr>
            <a:spLocks noChangeShapeType="1"/>
          </p:cNvSpPr>
          <p:nvPr/>
        </p:nvSpPr>
        <p:spPr bwMode="auto">
          <a:xfrm>
            <a:off x="7756757" y="5440939"/>
            <a:ext cx="522879"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3" name="Rectangle 22">
            <a:extLst>
              <a:ext uri="{FF2B5EF4-FFF2-40B4-BE49-F238E27FC236}">
                <a16:creationId xmlns:a16="http://schemas.microsoft.com/office/drawing/2014/main" id="{471F9898-3E02-3B46-8B5C-0D41596ED179}"/>
              </a:ext>
            </a:extLst>
          </p:cNvPr>
          <p:cNvSpPr/>
          <p:nvPr/>
        </p:nvSpPr>
        <p:spPr>
          <a:xfrm>
            <a:off x="8329575" y="3878951"/>
            <a:ext cx="1628843" cy="18697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eaLnBrk="0" fontAlgn="base" hangingPunct="0">
              <a:spcBef>
                <a:spcPct val="0"/>
              </a:spcBef>
              <a:spcAft>
                <a:spcPct val="0"/>
              </a:spcAft>
              <a:defRPr/>
            </a:pPr>
            <a:r>
              <a:rPr lang="en-US" sz="1333" dirty="0">
                <a:solidFill>
                  <a:srgbClr val="003BC9"/>
                </a:solidFill>
                <a:latin typeface="IBM Plex Sans" panose="020B0503050000000000" pitchFamily="34" charset="77"/>
                <a:cs typeface="Calibri"/>
              </a:rPr>
              <a:t>Solve model</a:t>
            </a:r>
          </a:p>
        </p:txBody>
      </p:sp>
      <p:sp>
        <p:nvSpPr>
          <p:cNvPr id="24" name="TextBox 23">
            <a:extLst>
              <a:ext uri="{FF2B5EF4-FFF2-40B4-BE49-F238E27FC236}">
                <a16:creationId xmlns:a16="http://schemas.microsoft.com/office/drawing/2014/main" id="{32DCE380-7347-EE4F-AB0F-8A3FEB5683C7}"/>
              </a:ext>
            </a:extLst>
          </p:cNvPr>
          <p:cNvSpPr txBox="1"/>
          <p:nvPr/>
        </p:nvSpPr>
        <p:spPr>
          <a:xfrm flipH="1">
            <a:off x="10607211" y="4505402"/>
            <a:ext cx="1036597" cy="707694"/>
          </a:xfrm>
          <a:prstGeom prst="rect">
            <a:avLst/>
          </a:prstGeom>
          <a:noFill/>
          <a:ln>
            <a:solidFill>
              <a:schemeClr val="bg1"/>
            </a:solidFill>
          </a:ln>
        </p:spPr>
        <p:txBody>
          <a:bodyPr wrap="square" rtlCol="0" anchor="ctr">
            <a:spAutoFit/>
          </a:bodyPr>
          <a:lstStyle/>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Decisions, </a:t>
            </a:r>
            <a:br>
              <a:rPr lang="en-US" sz="1333" dirty="0">
                <a:solidFill>
                  <a:srgbClr val="FFFFFF"/>
                </a:solidFill>
                <a:latin typeface="IBM Plex Sans" panose="020B0503050000000000" pitchFamily="34" charset="77"/>
                <a:ea typeface="ＭＳ Ｐゴシック" pitchFamily="34" charset="-128"/>
                <a:cs typeface="Calibri"/>
              </a:rPr>
            </a:br>
            <a:r>
              <a:rPr lang="en-US" sz="1333" dirty="0">
                <a:solidFill>
                  <a:srgbClr val="FFFFFF"/>
                </a:solidFill>
                <a:latin typeface="IBM Plex Sans" panose="020B0503050000000000" pitchFamily="34" charset="77"/>
                <a:ea typeface="ＭＳ Ｐゴシック" pitchFamily="34" charset="-128"/>
                <a:cs typeface="Calibri"/>
              </a:rPr>
              <a:t>plans, schedules</a:t>
            </a:r>
          </a:p>
        </p:txBody>
      </p:sp>
      <p:sp>
        <p:nvSpPr>
          <p:cNvPr id="25" name="Line 100">
            <a:extLst>
              <a:ext uri="{FF2B5EF4-FFF2-40B4-BE49-F238E27FC236}">
                <a16:creationId xmlns:a16="http://schemas.microsoft.com/office/drawing/2014/main" id="{A52717CC-EE28-5544-AE67-D2599A6DB61E}"/>
              </a:ext>
            </a:extLst>
          </p:cNvPr>
          <p:cNvSpPr>
            <a:spLocks noChangeShapeType="1"/>
          </p:cNvSpPr>
          <p:nvPr/>
        </p:nvSpPr>
        <p:spPr bwMode="auto">
          <a:xfrm>
            <a:off x="9933715" y="4859247"/>
            <a:ext cx="673496"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7" name="TextBox 26">
            <a:extLst>
              <a:ext uri="{FF2B5EF4-FFF2-40B4-BE49-F238E27FC236}">
                <a16:creationId xmlns:a16="http://schemas.microsoft.com/office/drawing/2014/main" id="{02E98A59-EB57-FF47-B6C2-A67ECBB8669D}"/>
              </a:ext>
            </a:extLst>
          </p:cNvPr>
          <p:cNvSpPr txBox="1"/>
          <p:nvPr/>
        </p:nvSpPr>
        <p:spPr>
          <a:xfrm flipH="1">
            <a:off x="6820746" y="3602586"/>
            <a:ext cx="5823403" cy="246158"/>
          </a:xfrm>
          <a:prstGeom prst="rect">
            <a:avLst/>
          </a:prstGeom>
          <a:noFill/>
        </p:spPr>
        <p:txBody>
          <a:bodyPr wrap="square" lIns="0" tIns="0" rIns="0" bIns="60960" rtlCol="0" anchor="ctr">
            <a:spAutoFit/>
          </a:bodyPr>
          <a:lstStyle/>
          <a:p>
            <a:pPr defTabSz="914377">
              <a:lnSpc>
                <a:spcPct val="90000"/>
              </a:lnSpc>
              <a:defRPr/>
            </a:pPr>
            <a:r>
              <a:rPr lang="en-US" altLang="en-US" sz="1333" b="1" dirty="0">
                <a:solidFill>
                  <a:srgbClr val="FFFFFF"/>
                </a:solidFill>
                <a:latin typeface="IBM Plex Sans"/>
              </a:rPr>
              <a:t>Unknowns (decision variables)</a:t>
            </a:r>
          </a:p>
        </p:txBody>
      </p:sp>
      <p:sp>
        <p:nvSpPr>
          <p:cNvPr id="28" name="Line 100">
            <a:extLst>
              <a:ext uri="{FF2B5EF4-FFF2-40B4-BE49-F238E27FC236}">
                <a16:creationId xmlns:a16="http://schemas.microsoft.com/office/drawing/2014/main" id="{5BE58FA7-B93F-7B4C-8F5B-E855338A4CD7}"/>
              </a:ext>
            </a:extLst>
          </p:cNvPr>
          <p:cNvSpPr>
            <a:spLocks noChangeShapeType="1"/>
          </p:cNvSpPr>
          <p:nvPr/>
        </p:nvSpPr>
        <p:spPr bwMode="auto">
          <a:xfrm rot="5400000">
            <a:off x="8950132" y="4131689"/>
            <a:ext cx="365760"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9" name="Line 100">
            <a:extLst>
              <a:ext uri="{FF2B5EF4-FFF2-40B4-BE49-F238E27FC236}">
                <a16:creationId xmlns:a16="http://schemas.microsoft.com/office/drawing/2014/main" id="{D9AAC443-1AC9-1342-B5DB-39ED14F4495D}"/>
              </a:ext>
            </a:extLst>
          </p:cNvPr>
          <p:cNvSpPr>
            <a:spLocks noChangeShapeType="1"/>
          </p:cNvSpPr>
          <p:nvPr/>
        </p:nvSpPr>
        <p:spPr bwMode="auto">
          <a:xfrm rot="16200000" flipV="1">
            <a:off x="8950132" y="5931595"/>
            <a:ext cx="365760"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grpSp>
        <p:nvGrpSpPr>
          <p:cNvPr id="30" name="Group 29">
            <a:extLst>
              <a:ext uri="{FF2B5EF4-FFF2-40B4-BE49-F238E27FC236}">
                <a16:creationId xmlns:a16="http://schemas.microsoft.com/office/drawing/2014/main" id="{0BF8A7EB-65DF-AC41-A883-D97B1D8FEA3E}"/>
              </a:ext>
            </a:extLst>
          </p:cNvPr>
          <p:cNvGrpSpPr/>
          <p:nvPr/>
        </p:nvGrpSpPr>
        <p:grpSpPr>
          <a:xfrm>
            <a:off x="3930431" y="4149723"/>
            <a:ext cx="2738387" cy="1542504"/>
            <a:chOff x="2947823" y="3202518"/>
            <a:chExt cx="2053790" cy="1156878"/>
          </a:xfrm>
        </p:grpSpPr>
        <p:sp>
          <p:nvSpPr>
            <p:cNvPr id="31" name="TextBox 30">
              <a:extLst>
                <a:ext uri="{FF2B5EF4-FFF2-40B4-BE49-F238E27FC236}">
                  <a16:creationId xmlns:a16="http://schemas.microsoft.com/office/drawing/2014/main" id="{37E9707F-4CBE-6B44-B516-8AD4C99DC9CC}"/>
                </a:ext>
              </a:extLst>
            </p:cNvPr>
            <p:cNvSpPr txBox="1"/>
            <p:nvPr/>
          </p:nvSpPr>
          <p:spPr>
            <a:xfrm flipH="1">
              <a:off x="2947823" y="3982466"/>
              <a:ext cx="1443854" cy="376930"/>
            </a:xfrm>
            <a:prstGeom prst="rect">
              <a:avLst/>
            </a:prstGeom>
            <a:noFill/>
            <a:ln>
              <a:solidFill>
                <a:schemeClr val="bg1"/>
              </a:solidFill>
            </a:ln>
          </p:spPr>
          <p:txBody>
            <a:bodyPr wrap="square" rtlCol="0" anchor="ctr">
              <a:spAutoFit/>
            </a:bodyPr>
            <a:lstStyle/>
            <a:p>
              <a:pPr defTabSz="914354" eaLnBrk="0" fontAlgn="base" hangingPunct="0">
                <a:spcBef>
                  <a:spcPct val="0"/>
                </a:spcBef>
                <a:spcAft>
                  <a:spcPct val="0"/>
                </a:spcAft>
                <a:defRPr/>
              </a:pPr>
              <a:r>
                <a:rPr lang="en-US" sz="1333" dirty="0">
                  <a:solidFill>
                    <a:srgbClr val="FFFFFF"/>
                  </a:solidFill>
                  <a:latin typeface="IBM Plex Sans" panose="020B0503050000000000" pitchFamily="34" charset="77"/>
                  <a:ea typeface="ＭＳ Ｐゴシック" pitchFamily="34" charset="-128"/>
                  <a:cs typeface="Calibri"/>
                </a:rPr>
                <a:t>Prediction, pattern, classification</a:t>
              </a:r>
            </a:p>
          </p:txBody>
        </p:sp>
        <p:cxnSp>
          <p:nvCxnSpPr>
            <p:cNvPr id="32" name="Elbow Connector 31">
              <a:extLst>
                <a:ext uri="{FF2B5EF4-FFF2-40B4-BE49-F238E27FC236}">
                  <a16:creationId xmlns:a16="http://schemas.microsoft.com/office/drawing/2014/main" id="{5CF48AB1-3408-AE4E-89C5-57A973496D09}"/>
                </a:ext>
              </a:extLst>
            </p:cNvPr>
            <p:cNvCxnSpPr>
              <a:cxnSpLocks/>
            </p:cNvCxnSpPr>
            <p:nvPr/>
          </p:nvCxnSpPr>
          <p:spPr>
            <a:xfrm flipV="1">
              <a:off x="4079388" y="3202518"/>
              <a:ext cx="922225" cy="768358"/>
            </a:xfrm>
            <a:prstGeom prst="bentConnector3">
              <a:avLst>
                <a:gd name="adj1" fmla="val -46472"/>
              </a:avLst>
            </a:prstGeom>
            <a:ln w="6350">
              <a:solidFill>
                <a:schemeClr val="bg1"/>
              </a:solidFill>
              <a:prstDash val="dash"/>
              <a:tailEnd type="triangle"/>
            </a:ln>
            <a:effectLst/>
          </p:spPr>
          <p:style>
            <a:lnRef idx="2">
              <a:schemeClr val="accent1"/>
            </a:lnRef>
            <a:fillRef idx="0">
              <a:schemeClr val="accent1"/>
            </a:fillRef>
            <a:effectRef idx="1">
              <a:schemeClr val="accent1"/>
            </a:effectRef>
            <a:fontRef idx="minor">
              <a:schemeClr val="tx1"/>
            </a:fontRef>
          </p:style>
        </p:cxnSp>
      </p:grpSp>
      <p:pic>
        <p:nvPicPr>
          <p:cNvPr id="37" name="Picture 36">
            <a:extLst>
              <a:ext uri="{FF2B5EF4-FFF2-40B4-BE49-F238E27FC236}">
                <a16:creationId xmlns:a16="http://schemas.microsoft.com/office/drawing/2014/main" id="{E2DEDFEC-1B7B-0643-AEA3-FBDBD9EC7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3287" y="1254141"/>
            <a:ext cx="558800" cy="558800"/>
          </a:xfrm>
          <a:prstGeom prst="rect">
            <a:avLst/>
          </a:prstGeom>
        </p:spPr>
      </p:pic>
      <p:pic>
        <p:nvPicPr>
          <p:cNvPr id="40" name="Picture 74">
            <a:extLst>
              <a:ext uri="{FF2B5EF4-FFF2-40B4-BE49-F238E27FC236}">
                <a16:creationId xmlns:a16="http://schemas.microsoft.com/office/drawing/2014/main" id="{4C9DE9D0-4520-0A43-8AE5-8178F9D61B1D}"/>
              </a:ext>
            </a:extLst>
          </p:cNvPr>
          <p:cNvPicPr>
            <a:picLocks/>
          </p:cNvPicPr>
          <p:nvPr/>
        </p:nvPicPr>
        <p:blipFill>
          <a:blip r:embed="rId4">
            <a:extLst>
              <a:ext uri="{96DAC541-7B7A-43D3-8B79-37D633B846F1}">
                <asvg:svgBlip xmlns:asvg="http://schemas.microsoft.com/office/drawing/2016/SVG/main" r:embed="rId5"/>
              </a:ext>
            </a:extLst>
          </a:blip>
          <a:srcRect/>
          <a:stretch/>
        </p:blipFill>
        <p:spPr>
          <a:xfrm>
            <a:off x="500738" y="1221190"/>
            <a:ext cx="640473" cy="640473"/>
          </a:xfrm>
          <a:prstGeom prst="rect">
            <a:avLst/>
          </a:prstGeom>
        </p:spPr>
      </p:pic>
    </p:spTree>
    <p:extLst>
      <p:ext uri="{BB962C8B-B14F-4D97-AF65-F5344CB8AC3E}">
        <p14:creationId xmlns:p14="http://schemas.microsoft.com/office/powerpoint/2010/main" val="658895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descr="Cloud">
            <a:extLst>
              <a:ext uri="{FF2B5EF4-FFF2-40B4-BE49-F238E27FC236}">
                <a16:creationId xmlns:a16="http://schemas.microsoft.com/office/drawing/2014/main" id="{8EDCB630-EDC4-BC4D-87E8-50114269CB7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866985" y="3566050"/>
            <a:ext cx="1248305" cy="968932"/>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280416" y="268224"/>
            <a:ext cx="9396297" cy="1072896"/>
          </a:xfrm>
        </p:spPr>
        <p:txBody>
          <a:bodyPr/>
          <a:lstStyle/>
          <a:p>
            <a:r>
              <a:rPr lang="en-US" dirty="0"/>
              <a:t>Prescribe action by optimizing decisions</a:t>
            </a:r>
            <a:br>
              <a:rPr lang="en-US" dirty="0"/>
            </a:br>
            <a:r>
              <a:rPr lang="en-US" sz="2400" dirty="0"/>
              <a:t>on discovery and predictions for modern apps</a:t>
            </a:r>
          </a:p>
        </p:txBody>
      </p:sp>
      <p:sp>
        <p:nvSpPr>
          <p:cNvPr id="3" name="Footer Placeholder 2">
            <a:extLst>
              <a:ext uri="{FF2B5EF4-FFF2-40B4-BE49-F238E27FC236}">
                <a16:creationId xmlns:a16="http://schemas.microsoft.com/office/drawing/2014/main" id="{0EB615D0-5A98-B34D-AEBC-7DC7C6E46F91}"/>
              </a:ext>
            </a:extLst>
          </p:cNvPr>
          <p:cNvSpPr>
            <a:spLocks noGrp="1"/>
          </p:cNvSpPr>
          <p:nvPr>
            <p:ph type="ftr" sz="quarter" idx="10"/>
          </p:nvPr>
        </p:nvSpPr>
        <p:spPr/>
        <p:txBody>
          <a:bodyPr/>
          <a:lstStyle/>
          <a:p>
            <a:r>
              <a:rPr lang="en-US"/>
              <a:t>© 2020 IBM Corporation</a:t>
            </a: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5</a:t>
            </a:fld>
            <a:endParaRPr lang="en-US" dirty="0"/>
          </a:p>
        </p:txBody>
      </p:sp>
      <p:sp>
        <p:nvSpPr>
          <p:cNvPr id="6" name="Rectangle 5">
            <a:extLst>
              <a:ext uri="{FF2B5EF4-FFF2-40B4-BE49-F238E27FC236}">
                <a16:creationId xmlns:a16="http://schemas.microsoft.com/office/drawing/2014/main" id="{4311339A-DD10-2249-9C90-C7EF8F14E37D}"/>
              </a:ext>
            </a:extLst>
          </p:cNvPr>
          <p:cNvSpPr>
            <a:spLocks noChangeArrowheads="1"/>
          </p:cNvSpPr>
          <p:nvPr/>
        </p:nvSpPr>
        <p:spPr bwMode="auto">
          <a:xfrm>
            <a:off x="304888" y="1554514"/>
            <a:ext cx="2465771" cy="756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defTabSz="787400">
              <a:defRPr sz="1400">
                <a:solidFill>
                  <a:schemeClr val="tx1"/>
                </a:solidFill>
                <a:latin typeface="Arial" charset="0"/>
                <a:ea typeface="ＭＳ Ｐゴシック" charset="-128"/>
              </a:defRPr>
            </a:lvl1pPr>
            <a:lvl2pPr marL="742950" indent="-285750" defTabSz="787400">
              <a:defRPr sz="1400">
                <a:solidFill>
                  <a:schemeClr val="tx1"/>
                </a:solidFill>
                <a:latin typeface="Arial" charset="0"/>
                <a:ea typeface="ＭＳ Ｐゴシック" charset="-128"/>
              </a:defRPr>
            </a:lvl2pPr>
            <a:lvl3pPr marL="1143000" indent="-228600" defTabSz="787400">
              <a:defRPr sz="1400">
                <a:solidFill>
                  <a:schemeClr val="tx1"/>
                </a:solidFill>
                <a:latin typeface="Arial" charset="0"/>
                <a:ea typeface="ＭＳ Ｐゴシック" charset="-128"/>
              </a:defRPr>
            </a:lvl3pPr>
            <a:lvl4pPr marL="1600200" indent="-228600" defTabSz="787400">
              <a:defRPr sz="1400">
                <a:solidFill>
                  <a:schemeClr val="tx1"/>
                </a:solidFill>
                <a:latin typeface="Arial" charset="0"/>
                <a:ea typeface="ＭＳ Ｐゴシック" charset="-128"/>
              </a:defRPr>
            </a:lvl4pPr>
            <a:lvl5pPr marL="2057400" indent="-228600" defTabSz="787400">
              <a:defRPr sz="1400">
                <a:solidFill>
                  <a:schemeClr val="tx1"/>
                </a:solidFill>
                <a:latin typeface="Arial" charset="0"/>
                <a:ea typeface="ＭＳ Ｐゴシック" charset="-128"/>
              </a:defRPr>
            </a:lvl5pPr>
            <a:lvl6pPr marL="2514600" indent="-228600" defTabSz="787400" eaLnBrk="0" fontAlgn="base" hangingPunct="0">
              <a:spcBef>
                <a:spcPct val="0"/>
              </a:spcBef>
              <a:spcAft>
                <a:spcPct val="0"/>
              </a:spcAft>
              <a:defRPr sz="1400">
                <a:solidFill>
                  <a:schemeClr val="tx1"/>
                </a:solidFill>
                <a:latin typeface="Arial" charset="0"/>
                <a:ea typeface="ＭＳ Ｐゴシック" charset="-128"/>
              </a:defRPr>
            </a:lvl6pPr>
            <a:lvl7pPr marL="2971800" indent="-228600" defTabSz="787400" eaLnBrk="0" fontAlgn="base" hangingPunct="0">
              <a:spcBef>
                <a:spcPct val="0"/>
              </a:spcBef>
              <a:spcAft>
                <a:spcPct val="0"/>
              </a:spcAft>
              <a:defRPr sz="1400">
                <a:solidFill>
                  <a:schemeClr val="tx1"/>
                </a:solidFill>
                <a:latin typeface="Arial" charset="0"/>
                <a:ea typeface="ＭＳ Ｐゴシック" charset="-128"/>
              </a:defRPr>
            </a:lvl7pPr>
            <a:lvl8pPr marL="3429000" indent="-228600" defTabSz="787400" eaLnBrk="0" fontAlgn="base" hangingPunct="0">
              <a:spcBef>
                <a:spcPct val="0"/>
              </a:spcBef>
              <a:spcAft>
                <a:spcPct val="0"/>
              </a:spcAft>
              <a:defRPr sz="1400">
                <a:solidFill>
                  <a:schemeClr val="tx1"/>
                </a:solidFill>
                <a:latin typeface="Arial" charset="0"/>
                <a:ea typeface="ＭＳ Ｐゴシック" charset="-128"/>
              </a:defRPr>
            </a:lvl8pPr>
            <a:lvl9pPr marL="3886200" indent="-228600" defTabSz="787400" eaLnBrk="0" fontAlgn="base" hangingPunct="0">
              <a:spcBef>
                <a:spcPct val="0"/>
              </a:spcBef>
              <a:spcAft>
                <a:spcPct val="0"/>
              </a:spcAft>
              <a:defRPr sz="1400">
                <a:solidFill>
                  <a:schemeClr val="tx1"/>
                </a:solidFill>
                <a:latin typeface="Arial" charset="0"/>
                <a:ea typeface="ＭＳ Ｐゴシック" charset="-128"/>
              </a:defRPr>
            </a:lvl9pPr>
          </a:lstStyle>
          <a:p>
            <a:pPr defTabSz="787360">
              <a:lnSpc>
                <a:spcPct val="104000"/>
              </a:lnSpc>
              <a:spcBef>
                <a:spcPct val="20000"/>
              </a:spcBef>
              <a:buClr>
                <a:srgbClr val="69A6FF"/>
              </a:buClr>
              <a:defRPr/>
            </a:pPr>
            <a:r>
              <a:rPr lang="en-US" altLang="zh-CN" sz="1600" b="1" kern="0" dirty="0">
                <a:solidFill>
                  <a:srgbClr val="FFFFFF"/>
                </a:solidFill>
                <a:latin typeface="IBM Plex Sans SemiBold" panose="020B0503050203000203" pitchFamily="34" charset="0"/>
                <a:ea typeface="SimSun" charset="-122"/>
                <a:sym typeface="Calibri"/>
              </a:rPr>
              <a:t>Discover and predict </a:t>
            </a:r>
            <a:br>
              <a:rPr lang="en-US" altLang="zh-CN" sz="1600" b="1" kern="0" dirty="0">
                <a:solidFill>
                  <a:srgbClr val="FFFFFF"/>
                </a:solidFill>
                <a:latin typeface="IBM Plex Sans SemiBold" panose="020B0503050203000203" pitchFamily="34" charset="0"/>
                <a:ea typeface="SimSun" charset="-122"/>
                <a:sym typeface="Calibri"/>
              </a:rPr>
            </a:br>
            <a:r>
              <a:rPr lang="en-US" altLang="zh-CN" sz="1600" b="1" kern="0" dirty="0">
                <a:solidFill>
                  <a:srgbClr val="FFFFFF"/>
                </a:solidFill>
                <a:latin typeface="IBM Plex Sans SemiBold" panose="020B0503050203000203" pitchFamily="34" charset="0"/>
                <a:ea typeface="SimSun" charset="-122"/>
                <a:sym typeface="Calibri"/>
              </a:rPr>
              <a:t>with </a:t>
            </a:r>
            <a:r>
              <a:rPr lang="en-US" altLang="zh-CN" sz="1600" b="1" kern="0" dirty="0">
                <a:solidFill>
                  <a:srgbClr val="6EA6FF"/>
                </a:solidFill>
                <a:latin typeface="IBM Plex Sans SemiBold" panose="020B0503050203000203" pitchFamily="34" charset="0"/>
                <a:ea typeface="SimSun" charset="-122"/>
                <a:sym typeface="Calibri"/>
              </a:rPr>
              <a:t>SPSS Modeler </a:t>
            </a:r>
            <a:r>
              <a:rPr lang="en-US" altLang="zh-CN" sz="1600" b="1" kern="0" dirty="0">
                <a:solidFill>
                  <a:srgbClr val="FFFFFF"/>
                </a:solidFill>
                <a:latin typeface="IBM Plex Sans SemiBold" panose="020B0503050203000203" pitchFamily="34" charset="0"/>
                <a:ea typeface="SimSun" charset="-122"/>
                <a:sym typeface="Calibri"/>
              </a:rPr>
              <a:t>and </a:t>
            </a:r>
            <a:r>
              <a:rPr lang="en-US" altLang="zh-CN" sz="1600" b="1" kern="0" dirty="0">
                <a:solidFill>
                  <a:srgbClr val="6EA6FF"/>
                </a:solidFill>
                <a:latin typeface="IBM Plex Sans SemiBold" panose="020B0503050203000203" pitchFamily="34" charset="0"/>
                <a:ea typeface="SimSun" charset="-122"/>
                <a:sym typeface="Calibri"/>
              </a:rPr>
              <a:t>Watson Studio Premium</a:t>
            </a:r>
          </a:p>
        </p:txBody>
      </p:sp>
      <p:sp>
        <p:nvSpPr>
          <p:cNvPr id="7" name="Rectangle 6">
            <a:extLst>
              <a:ext uri="{FF2B5EF4-FFF2-40B4-BE49-F238E27FC236}">
                <a16:creationId xmlns:a16="http://schemas.microsoft.com/office/drawing/2014/main" id="{8417F2C3-2FE2-0644-9444-D5A892CBAAD9}"/>
              </a:ext>
            </a:extLst>
          </p:cNvPr>
          <p:cNvSpPr>
            <a:spLocks noChangeArrowheads="1"/>
          </p:cNvSpPr>
          <p:nvPr/>
        </p:nvSpPr>
        <p:spPr bwMode="auto">
          <a:xfrm>
            <a:off x="4365535" y="1578070"/>
            <a:ext cx="1918012" cy="756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defTabSz="787400">
              <a:defRPr sz="1400">
                <a:solidFill>
                  <a:schemeClr val="tx1"/>
                </a:solidFill>
                <a:latin typeface="Arial" charset="0"/>
                <a:ea typeface="ＭＳ Ｐゴシック" charset="-128"/>
              </a:defRPr>
            </a:lvl1pPr>
            <a:lvl2pPr marL="742950" indent="-285750" defTabSz="787400">
              <a:defRPr sz="1400">
                <a:solidFill>
                  <a:schemeClr val="tx1"/>
                </a:solidFill>
                <a:latin typeface="Arial" charset="0"/>
                <a:ea typeface="ＭＳ Ｐゴシック" charset="-128"/>
              </a:defRPr>
            </a:lvl2pPr>
            <a:lvl3pPr marL="1143000" indent="-228600" defTabSz="787400">
              <a:defRPr sz="1400">
                <a:solidFill>
                  <a:schemeClr val="tx1"/>
                </a:solidFill>
                <a:latin typeface="Arial" charset="0"/>
                <a:ea typeface="ＭＳ Ｐゴシック" charset="-128"/>
              </a:defRPr>
            </a:lvl3pPr>
            <a:lvl4pPr marL="1600200" indent="-228600" defTabSz="787400">
              <a:defRPr sz="1400">
                <a:solidFill>
                  <a:schemeClr val="tx1"/>
                </a:solidFill>
                <a:latin typeface="Arial" charset="0"/>
                <a:ea typeface="ＭＳ Ｐゴシック" charset="-128"/>
              </a:defRPr>
            </a:lvl4pPr>
            <a:lvl5pPr marL="2057400" indent="-228600" defTabSz="787400">
              <a:defRPr sz="1400">
                <a:solidFill>
                  <a:schemeClr val="tx1"/>
                </a:solidFill>
                <a:latin typeface="Arial" charset="0"/>
                <a:ea typeface="ＭＳ Ｐゴシック" charset="-128"/>
              </a:defRPr>
            </a:lvl5pPr>
            <a:lvl6pPr marL="2514600" indent="-228600" defTabSz="787400" eaLnBrk="0" fontAlgn="base" hangingPunct="0">
              <a:spcBef>
                <a:spcPct val="0"/>
              </a:spcBef>
              <a:spcAft>
                <a:spcPct val="0"/>
              </a:spcAft>
              <a:defRPr sz="1400">
                <a:solidFill>
                  <a:schemeClr val="tx1"/>
                </a:solidFill>
                <a:latin typeface="Arial" charset="0"/>
                <a:ea typeface="ＭＳ Ｐゴシック" charset="-128"/>
              </a:defRPr>
            </a:lvl6pPr>
            <a:lvl7pPr marL="2971800" indent="-228600" defTabSz="787400" eaLnBrk="0" fontAlgn="base" hangingPunct="0">
              <a:spcBef>
                <a:spcPct val="0"/>
              </a:spcBef>
              <a:spcAft>
                <a:spcPct val="0"/>
              </a:spcAft>
              <a:defRPr sz="1400">
                <a:solidFill>
                  <a:schemeClr val="tx1"/>
                </a:solidFill>
                <a:latin typeface="Arial" charset="0"/>
                <a:ea typeface="ＭＳ Ｐゴシック" charset="-128"/>
              </a:defRPr>
            </a:lvl7pPr>
            <a:lvl8pPr marL="3429000" indent="-228600" defTabSz="787400" eaLnBrk="0" fontAlgn="base" hangingPunct="0">
              <a:spcBef>
                <a:spcPct val="0"/>
              </a:spcBef>
              <a:spcAft>
                <a:spcPct val="0"/>
              </a:spcAft>
              <a:defRPr sz="1400">
                <a:solidFill>
                  <a:schemeClr val="tx1"/>
                </a:solidFill>
                <a:latin typeface="Arial" charset="0"/>
                <a:ea typeface="ＭＳ Ｐゴシック" charset="-128"/>
              </a:defRPr>
            </a:lvl8pPr>
            <a:lvl9pPr marL="3886200" indent="-228600" defTabSz="787400" eaLnBrk="0" fontAlgn="base" hangingPunct="0">
              <a:spcBef>
                <a:spcPct val="0"/>
              </a:spcBef>
              <a:spcAft>
                <a:spcPct val="0"/>
              </a:spcAft>
              <a:defRPr sz="1400">
                <a:solidFill>
                  <a:schemeClr val="tx1"/>
                </a:solidFill>
                <a:latin typeface="Arial" charset="0"/>
                <a:ea typeface="ＭＳ Ｐゴシック" charset="-128"/>
              </a:defRPr>
            </a:lvl9pPr>
          </a:lstStyle>
          <a:p>
            <a:pPr defTabSz="787360">
              <a:lnSpc>
                <a:spcPct val="104000"/>
              </a:lnSpc>
              <a:spcBef>
                <a:spcPct val="20000"/>
              </a:spcBef>
              <a:buClr>
                <a:srgbClr val="69A6FF"/>
              </a:buClr>
              <a:defRPr/>
            </a:pPr>
            <a:r>
              <a:rPr lang="en-US" altLang="zh-CN" sz="1600" b="1" kern="0" dirty="0">
                <a:solidFill>
                  <a:srgbClr val="FFFFFF"/>
                </a:solidFill>
                <a:latin typeface="IBM Plex Sans SemiBold" panose="020B0503050203000203" pitchFamily="34" charset="0"/>
                <a:ea typeface="SimSun" charset="-122"/>
                <a:sym typeface="Calibri"/>
              </a:rPr>
              <a:t>Optimize decisions with </a:t>
            </a:r>
            <a:r>
              <a:rPr lang="en-US" altLang="zh-CN" sz="1600" b="1" kern="0" dirty="0">
                <a:solidFill>
                  <a:srgbClr val="6EA6FF"/>
                </a:solidFill>
                <a:latin typeface="IBM Plex Sans SemiBold" panose="020B0503050203000203" pitchFamily="34" charset="0"/>
                <a:ea typeface="SimSun" charset="-122"/>
                <a:sym typeface="Calibri"/>
              </a:rPr>
              <a:t>Decision Optimization</a:t>
            </a:r>
          </a:p>
        </p:txBody>
      </p:sp>
      <p:grpSp>
        <p:nvGrpSpPr>
          <p:cNvPr id="24" name="Group 23">
            <a:extLst>
              <a:ext uri="{FF2B5EF4-FFF2-40B4-BE49-F238E27FC236}">
                <a16:creationId xmlns:a16="http://schemas.microsoft.com/office/drawing/2014/main" id="{266027BA-E986-9F44-846F-3ACB5744AA10}"/>
              </a:ext>
            </a:extLst>
          </p:cNvPr>
          <p:cNvGrpSpPr/>
          <p:nvPr/>
        </p:nvGrpSpPr>
        <p:grpSpPr>
          <a:xfrm>
            <a:off x="296649" y="2436846"/>
            <a:ext cx="6133363" cy="3703116"/>
            <a:chOff x="270956" y="1767379"/>
            <a:chExt cx="4600022" cy="2777337"/>
          </a:xfrm>
          <a:gradFill>
            <a:gsLst>
              <a:gs pos="0">
                <a:srgbClr val="051243"/>
              </a:gs>
              <a:gs pos="100000">
                <a:srgbClr val="0530AD"/>
              </a:gs>
            </a:gsLst>
            <a:lin ang="8100000" scaled="0"/>
          </a:gradFill>
        </p:grpSpPr>
        <p:sp>
          <p:nvSpPr>
            <p:cNvPr id="8" name="Rectangle 11">
              <a:extLst>
                <a:ext uri="{FF2B5EF4-FFF2-40B4-BE49-F238E27FC236}">
                  <a16:creationId xmlns:a16="http://schemas.microsoft.com/office/drawing/2014/main" id="{0AC215C6-0D24-B34D-B947-1B763A8D8AA6}"/>
                </a:ext>
              </a:extLst>
            </p:cNvPr>
            <p:cNvSpPr>
              <a:spLocks noChangeArrowheads="1"/>
            </p:cNvSpPr>
            <p:nvPr/>
          </p:nvSpPr>
          <p:spPr bwMode="auto">
            <a:xfrm>
              <a:off x="3322620" y="1810481"/>
              <a:ext cx="1548358" cy="2727133"/>
            </a:xfrm>
            <a:prstGeom prst="rect">
              <a:avLst/>
            </a:prstGeom>
            <a:grpFill/>
            <a:ln>
              <a:noFill/>
            </a:ln>
          </p:spPr>
          <p:txBody>
            <a:bodyPr lIns="182880" tIns="182880" rIns="182880" bIns="182880" anchor="t"/>
            <a:lstStyle>
              <a:lvl1pPr marL="112713" indent="-112713" defTabSz="787400">
                <a:defRPr sz="1400">
                  <a:solidFill>
                    <a:schemeClr val="tx1"/>
                  </a:solidFill>
                  <a:latin typeface="Arial" charset="0"/>
                  <a:ea typeface="ＭＳ Ｐゴシック" charset="-128"/>
                </a:defRPr>
              </a:lvl1pPr>
              <a:lvl2pPr marL="742950" indent="-285750" defTabSz="787400">
                <a:defRPr sz="1400">
                  <a:solidFill>
                    <a:schemeClr val="tx1"/>
                  </a:solidFill>
                  <a:latin typeface="Arial" charset="0"/>
                  <a:ea typeface="ＭＳ Ｐゴシック" charset="-128"/>
                </a:defRPr>
              </a:lvl2pPr>
              <a:lvl3pPr marL="1143000" indent="-228600" defTabSz="787400">
                <a:defRPr sz="1400">
                  <a:solidFill>
                    <a:schemeClr val="tx1"/>
                  </a:solidFill>
                  <a:latin typeface="Arial" charset="0"/>
                  <a:ea typeface="ＭＳ Ｐゴシック" charset="-128"/>
                </a:defRPr>
              </a:lvl3pPr>
              <a:lvl4pPr marL="1600200" indent="-228600" defTabSz="787400">
                <a:defRPr sz="1400">
                  <a:solidFill>
                    <a:schemeClr val="tx1"/>
                  </a:solidFill>
                  <a:latin typeface="Arial" charset="0"/>
                  <a:ea typeface="ＭＳ Ｐゴシック" charset="-128"/>
                </a:defRPr>
              </a:lvl4pPr>
              <a:lvl5pPr marL="2057400" indent="-228600" defTabSz="787400">
                <a:defRPr sz="1400">
                  <a:solidFill>
                    <a:schemeClr val="tx1"/>
                  </a:solidFill>
                  <a:latin typeface="Arial" charset="0"/>
                  <a:ea typeface="ＭＳ Ｐゴシック" charset="-128"/>
                </a:defRPr>
              </a:lvl5pPr>
              <a:lvl6pPr marL="2514600" indent="-228600" defTabSz="787400" eaLnBrk="0" fontAlgn="base" hangingPunct="0">
                <a:spcBef>
                  <a:spcPct val="0"/>
                </a:spcBef>
                <a:spcAft>
                  <a:spcPct val="0"/>
                </a:spcAft>
                <a:defRPr sz="1400">
                  <a:solidFill>
                    <a:schemeClr val="tx1"/>
                  </a:solidFill>
                  <a:latin typeface="Arial" charset="0"/>
                  <a:ea typeface="ＭＳ Ｐゴシック" charset="-128"/>
                </a:defRPr>
              </a:lvl6pPr>
              <a:lvl7pPr marL="2971800" indent="-228600" defTabSz="787400" eaLnBrk="0" fontAlgn="base" hangingPunct="0">
                <a:spcBef>
                  <a:spcPct val="0"/>
                </a:spcBef>
                <a:spcAft>
                  <a:spcPct val="0"/>
                </a:spcAft>
                <a:defRPr sz="1400">
                  <a:solidFill>
                    <a:schemeClr val="tx1"/>
                  </a:solidFill>
                  <a:latin typeface="Arial" charset="0"/>
                  <a:ea typeface="ＭＳ Ｐゴシック" charset="-128"/>
                </a:defRPr>
              </a:lvl7pPr>
              <a:lvl8pPr marL="3429000" indent="-228600" defTabSz="787400" eaLnBrk="0" fontAlgn="base" hangingPunct="0">
                <a:spcBef>
                  <a:spcPct val="0"/>
                </a:spcBef>
                <a:spcAft>
                  <a:spcPct val="0"/>
                </a:spcAft>
                <a:defRPr sz="1400">
                  <a:solidFill>
                    <a:schemeClr val="tx1"/>
                  </a:solidFill>
                  <a:latin typeface="Arial" charset="0"/>
                  <a:ea typeface="ＭＳ Ｐゴシック" charset="-128"/>
                </a:defRPr>
              </a:lvl8pPr>
              <a:lvl9pPr marL="3886200" indent="-228600" defTabSz="787400" eaLnBrk="0" fontAlgn="base" hangingPunct="0">
                <a:spcBef>
                  <a:spcPct val="0"/>
                </a:spcBef>
                <a:spcAft>
                  <a:spcPct val="0"/>
                </a:spcAft>
                <a:defRPr sz="1400">
                  <a:solidFill>
                    <a:schemeClr val="tx1"/>
                  </a:solidFill>
                  <a:latin typeface="Arial" charset="0"/>
                  <a:ea typeface="ＭＳ Ｐゴシック" charset="-128"/>
                </a:defRPr>
              </a:lvl9pPr>
            </a:lstStyle>
            <a:p>
              <a:pPr marL="0" indent="0" defTabSz="1049814">
                <a:lnSpc>
                  <a:spcPts val="1600"/>
                </a:lnSpc>
                <a:spcBef>
                  <a:spcPct val="30000"/>
                </a:spcBef>
                <a:defRPr/>
              </a:pPr>
              <a:r>
                <a:rPr lang="en-US" altLang="zh-CN" sz="1333" b="1" kern="0" dirty="0">
                  <a:solidFill>
                    <a:schemeClr val="bg1"/>
                  </a:solidFill>
                  <a:latin typeface="IBM Plex Sans"/>
                  <a:ea typeface="SimSun" charset="-122"/>
                  <a:sym typeface="Calibri"/>
                </a:rPr>
                <a:t>Decision Optimization</a:t>
              </a:r>
            </a:p>
            <a:p>
              <a:pPr marL="228589" indent="-228589" defTabSz="1049814">
                <a:lnSpc>
                  <a:spcPts val="1600"/>
                </a:lnSpc>
                <a:spcBef>
                  <a:spcPct val="30000"/>
                </a:spcBef>
                <a:buFont typeface="System Font Regular"/>
                <a:buChar char="–"/>
                <a:defRPr/>
              </a:pPr>
              <a:r>
                <a:rPr lang="en-US" sz="1333" dirty="0">
                  <a:solidFill>
                    <a:schemeClr val="bg1"/>
                  </a:solidFill>
                  <a:latin typeface="IBM Plex Sans" panose="020B0503050203000203" pitchFamily="34" charset="0"/>
                  <a:sym typeface="Calibri"/>
                </a:rPr>
                <a:t>Scheduling</a:t>
              </a:r>
            </a:p>
            <a:p>
              <a:pPr marL="228589" indent="-228589" defTabSz="1049814">
                <a:lnSpc>
                  <a:spcPts val="1600"/>
                </a:lnSpc>
                <a:spcBef>
                  <a:spcPct val="30000"/>
                </a:spcBef>
                <a:buFont typeface="System Font Regular"/>
                <a:buChar char="–"/>
                <a:defRPr/>
              </a:pPr>
              <a:r>
                <a:rPr lang="en-US" altLang="zh-CN" sz="1333" dirty="0">
                  <a:solidFill>
                    <a:schemeClr val="bg1"/>
                  </a:solidFill>
                  <a:latin typeface="IBM Plex Sans" panose="020B0503050203000203" pitchFamily="34" charset="0"/>
                  <a:ea typeface="SimSun" charset="-122"/>
                  <a:sym typeface="Calibri"/>
                </a:rPr>
                <a:t>Demand and supply matching</a:t>
              </a:r>
            </a:p>
            <a:p>
              <a:pPr marL="228589" indent="-228589" defTabSz="1049814">
                <a:lnSpc>
                  <a:spcPts val="1600"/>
                </a:lnSpc>
                <a:spcBef>
                  <a:spcPct val="30000"/>
                </a:spcBef>
                <a:buFont typeface="System Font Regular"/>
                <a:buChar char="–"/>
                <a:defRPr/>
              </a:pPr>
              <a:r>
                <a:rPr lang="en-US" altLang="zh-CN" sz="1333" kern="0" dirty="0">
                  <a:solidFill>
                    <a:schemeClr val="bg1"/>
                  </a:solidFill>
                  <a:latin typeface="IBM Plex Sans" panose="020B0503050203000203" pitchFamily="34" charset="0"/>
                  <a:ea typeface="SimSun" charset="-122"/>
                  <a:sym typeface="Calibri"/>
                </a:rPr>
                <a:t>Allocation</a:t>
              </a:r>
            </a:p>
            <a:p>
              <a:pPr marL="228589" indent="-228589" defTabSz="1049814">
                <a:lnSpc>
                  <a:spcPts val="1600"/>
                </a:lnSpc>
                <a:spcBef>
                  <a:spcPct val="30000"/>
                </a:spcBef>
                <a:buFont typeface="System Font Regular"/>
                <a:buChar char="–"/>
                <a:defRPr/>
              </a:pPr>
              <a:r>
                <a:rPr lang="en-US" altLang="zh-CN" sz="1333" kern="0" dirty="0">
                  <a:solidFill>
                    <a:schemeClr val="bg1"/>
                  </a:solidFill>
                  <a:latin typeface="IBM Plex Sans" panose="020B0503050203000203" pitchFamily="34" charset="0"/>
                  <a:ea typeface="SimSun" charset="-122"/>
                  <a:sym typeface="Calibri"/>
                </a:rPr>
                <a:t>Logistics </a:t>
              </a:r>
            </a:p>
            <a:p>
              <a:pPr marL="228589" indent="-228589" defTabSz="1049814">
                <a:lnSpc>
                  <a:spcPts val="1600"/>
                </a:lnSpc>
                <a:spcBef>
                  <a:spcPct val="30000"/>
                </a:spcBef>
                <a:buFont typeface="System Font Regular"/>
                <a:buChar char="–"/>
                <a:defRPr/>
              </a:pPr>
              <a:r>
                <a:rPr lang="en-US" altLang="zh-CN" sz="1333" kern="0" dirty="0">
                  <a:solidFill>
                    <a:schemeClr val="bg1"/>
                  </a:solidFill>
                  <a:latin typeface="IBM Plex Sans" panose="020B0503050203000203" pitchFamily="34" charset="0"/>
                  <a:ea typeface="SimSun" charset="-122"/>
                  <a:sym typeface="Calibri"/>
                </a:rPr>
                <a:t>Pricing and category management</a:t>
              </a:r>
            </a:p>
            <a:p>
              <a:pPr marL="228589" indent="-228589" defTabSz="1049814">
                <a:lnSpc>
                  <a:spcPts val="1600"/>
                </a:lnSpc>
                <a:spcBef>
                  <a:spcPct val="30000"/>
                </a:spcBef>
                <a:buFont typeface="System Font Regular"/>
                <a:buChar char="–"/>
                <a:defRPr/>
              </a:pPr>
              <a:r>
                <a:rPr lang="en-US" altLang="zh-CN" sz="1333" kern="0" dirty="0">
                  <a:solidFill>
                    <a:schemeClr val="bg1"/>
                  </a:solidFill>
                  <a:latin typeface="IBM Plex Sans" panose="020B0503050203000203" pitchFamily="34" charset="0"/>
                  <a:ea typeface="SimSun" charset="-122"/>
                  <a:sym typeface="Calibri"/>
                </a:rPr>
                <a:t>Scenario planning</a:t>
              </a:r>
            </a:p>
            <a:p>
              <a:pPr marL="228589" indent="-228589" defTabSz="1049814">
                <a:lnSpc>
                  <a:spcPct val="80000"/>
                </a:lnSpc>
                <a:spcBef>
                  <a:spcPct val="30000"/>
                </a:spcBef>
                <a:buFont typeface="System Font Regular"/>
                <a:buChar char="–"/>
                <a:defRPr/>
              </a:pPr>
              <a:endParaRPr lang="en-US" altLang="zh-CN" sz="1333" kern="0" dirty="0">
                <a:solidFill>
                  <a:schemeClr val="bg1"/>
                </a:solidFill>
                <a:latin typeface="IBM Plex Sans" panose="020B0503050203000203" pitchFamily="34" charset="0"/>
                <a:ea typeface="SimSun" charset="-122"/>
                <a:sym typeface="Calibri"/>
              </a:endParaRPr>
            </a:p>
            <a:p>
              <a:pPr marL="228589" indent="-228589" defTabSz="1049814">
                <a:lnSpc>
                  <a:spcPct val="80000"/>
                </a:lnSpc>
                <a:spcBef>
                  <a:spcPct val="30000"/>
                </a:spcBef>
                <a:buFont typeface="System Font Regular"/>
                <a:buChar char="–"/>
                <a:defRPr/>
              </a:pPr>
              <a:endParaRPr lang="en-US" altLang="zh-CN" sz="1333" kern="0" dirty="0">
                <a:solidFill>
                  <a:schemeClr val="bg1"/>
                </a:solidFill>
                <a:latin typeface="IBM Plex Sans"/>
                <a:ea typeface="SimSun" charset="-122"/>
                <a:sym typeface="Calibri"/>
              </a:endParaRPr>
            </a:p>
          </p:txBody>
        </p:sp>
        <p:sp>
          <p:nvSpPr>
            <p:cNvPr id="10" name="Rectangle 11">
              <a:extLst>
                <a:ext uri="{FF2B5EF4-FFF2-40B4-BE49-F238E27FC236}">
                  <a16:creationId xmlns:a16="http://schemas.microsoft.com/office/drawing/2014/main" id="{0039D74D-2BCD-9544-B66D-501044FFCE8A}"/>
                </a:ext>
              </a:extLst>
            </p:cNvPr>
            <p:cNvSpPr>
              <a:spLocks noChangeArrowheads="1"/>
            </p:cNvSpPr>
            <p:nvPr/>
          </p:nvSpPr>
          <p:spPr bwMode="auto">
            <a:xfrm>
              <a:off x="270956" y="1767379"/>
              <a:ext cx="1751918" cy="2777337"/>
            </a:xfrm>
            <a:prstGeom prst="rect">
              <a:avLst/>
            </a:prstGeom>
            <a:grpFill/>
            <a:ln>
              <a:noFill/>
            </a:ln>
          </p:spPr>
          <p:txBody>
            <a:bodyPr lIns="182880" tIns="182880" rIns="182880" bIns="182880" anchor="t"/>
            <a:lstStyle>
              <a:lvl1pPr marL="112713" indent="-112713" defTabSz="787400">
                <a:defRPr sz="1400">
                  <a:solidFill>
                    <a:schemeClr val="tx1"/>
                  </a:solidFill>
                  <a:latin typeface="Arial" charset="0"/>
                  <a:ea typeface="ＭＳ Ｐゴシック" charset="-128"/>
                </a:defRPr>
              </a:lvl1pPr>
              <a:lvl2pPr marL="742950" indent="-285750" defTabSz="787400">
                <a:defRPr sz="1400">
                  <a:solidFill>
                    <a:schemeClr val="tx1"/>
                  </a:solidFill>
                  <a:latin typeface="Arial" charset="0"/>
                  <a:ea typeface="ＭＳ Ｐゴシック" charset="-128"/>
                </a:defRPr>
              </a:lvl2pPr>
              <a:lvl3pPr marL="1143000" indent="-228600" defTabSz="787400">
                <a:defRPr sz="1400">
                  <a:solidFill>
                    <a:schemeClr val="tx1"/>
                  </a:solidFill>
                  <a:latin typeface="Arial" charset="0"/>
                  <a:ea typeface="ＭＳ Ｐゴシック" charset="-128"/>
                </a:defRPr>
              </a:lvl3pPr>
              <a:lvl4pPr marL="1600200" indent="-228600" defTabSz="787400">
                <a:defRPr sz="1400">
                  <a:solidFill>
                    <a:schemeClr val="tx1"/>
                  </a:solidFill>
                  <a:latin typeface="Arial" charset="0"/>
                  <a:ea typeface="ＭＳ Ｐゴシック" charset="-128"/>
                </a:defRPr>
              </a:lvl4pPr>
              <a:lvl5pPr marL="2057400" indent="-228600" defTabSz="787400">
                <a:defRPr sz="1400">
                  <a:solidFill>
                    <a:schemeClr val="tx1"/>
                  </a:solidFill>
                  <a:latin typeface="Arial" charset="0"/>
                  <a:ea typeface="ＭＳ Ｐゴシック" charset="-128"/>
                </a:defRPr>
              </a:lvl5pPr>
              <a:lvl6pPr marL="2514600" indent="-228600" defTabSz="787400" eaLnBrk="0" fontAlgn="base" hangingPunct="0">
                <a:spcBef>
                  <a:spcPct val="0"/>
                </a:spcBef>
                <a:spcAft>
                  <a:spcPct val="0"/>
                </a:spcAft>
                <a:defRPr sz="1400">
                  <a:solidFill>
                    <a:schemeClr val="tx1"/>
                  </a:solidFill>
                  <a:latin typeface="Arial" charset="0"/>
                  <a:ea typeface="ＭＳ Ｐゴシック" charset="-128"/>
                </a:defRPr>
              </a:lvl6pPr>
              <a:lvl7pPr marL="2971800" indent="-228600" defTabSz="787400" eaLnBrk="0" fontAlgn="base" hangingPunct="0">
                <a:spcBef>
                  <a:spcPct val="0"/>
                </a:spcBef>
                <a:spcAft>
                  <a:spcPct val="0"/>
                </a:spcAft>
                <a:defRPr sz="1400">
                  <a:solidFill>
                    <a:schemeClr val="tx1"/>
                  </a:solidFill>
                  <a:latin typeface="Arial" charset="0"/>
                  <a:ea typeface="ＭＳ Ｐゴシック" charset="-128"/>
                </a:defRPr>
              </a:lvl7pPr>
              <a:lvl8pPr marL="3429000" indent="-228600" defTabSz="787400" eaLnBrk="0" fontAlgn="base" hangingPunct="0">
                <a:spcBef>
                  <a:spcPct val="0"/>
                </a:spcBef>
                <a:spcAft>
                  <a:spcPct val="0"/>
                </a:spcAft>
                <a:defRPr sz="1400">
                  <a:solidFill>
                    <a:schemeClr val="tx1"/>
                  </a:solidFill>
                  <a:latin typeface="Arial" charset="0"/>
                  <a:ea typeface="ＭＳ Ｐゴシック" charset="-128"/>
                </a:defRPr>
              </a:lvl8pPr>
              <a:lvl9pPr marL="3886200" indent="-228600" defTabSz="787400" eaLnBrk="0" fontAlgn="base" hangingPunct="0">
                <a:spcBef>
                  <a:spcPct val="0"/>
                </a:spcBef>
                <a:spcAft>
                  <a:spcPct val="0"/>
                </a:spcAft>
                <a:defRPr sz="1400">
                  <a:solidFill>
                    <a:schemeClr val="tx1"/>
                  </a:solidFill>
                  <a:latin typeface="Arial" charset="0"/>
                  <a:ea typeface="ＭＳ Ｐゴシック" charset="-128"/>
                </a:defRPr>
              </a:lvl9pPr>
            </a:lstStyle>
            <a:p>
              <a:pPr marL="0" indent="0" defTabSz="787360">
                <a:lnSpc>
                  <a:spcPts val="1600"/>
                </a:lnSpc>
                <a:spcBef>
                  <a:spcPct val="30000"/>
                </a:spcBef>
                <a:defRPr/>
              </a:pPr>
              <a:r>
                <a:rPr lang="en-US" altLang="zh-CN" sz="1333" b="1" kern="0" dirty="0">
                  <a:solidFill>
                    <a:srgbClr val="FFFFFF"/>
                  </a:solidFill>
                  <a:latin typeface="IBM Plex Sans"/>
                  <a:ea typeface="SimSun" charset="-122"/>
                  <a:sym typeface="Calibri"/>
                </a:rPr>
                <a:t>Discovery</a:t>
              </a: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Trends &amp; patterns</a:t>
              </a: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Correlations</a:t>
              </a: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Insight for hypotheses</a:t>
              </a:r>
            </a:p>
            <a:p>
              <a:pPr marL="228589" indent="-228589" defTabSz="787360">
                <a:lnSpc>
                  <a:spcPts val="1600"/>
                </a:lnSpc>
                <a:spcBef>
                  <a:spcPct val="30000"/>
                </a:spcBef>
                <a:buFont typeface="System Font Regular"/>
                <a:buChar char="–"/>
                <a:defRPr/>
              </a:pPr>
              <a:endParaRPr lang="en-US" altLang="zh-CN" sz="1333" kern="0" dirty="0">
                <a:solidFill>
                  <a:srgbClr val="FFFFFF"/>
                </a:solidFill>
                <a:latin typeface="IBM Plex Sans"/>
                <a:ea typeface="SimSun" charset="-122"/>
                <a:sym typeface="Calibri"/>
              </a:endParaRPr>
            </a:p>
            <a:p>
              <a:pPr marL="0" indent="0" defTabSz="787360">
                <a:lnSpc>
                  <a:spcPts val="1600"/>
                </a:lnSpc>
                <a:spcBef>
                  <a:spcPct val="30000"/>
                </a:spcBef>
                <a:defRPr/>
              </a:pPr>
              <a:r>
                <a:rPr lang="en-US" altLang="zh-CN" sz="1333" b="1" kern="0" dirty="0">
                  <a:solidFill>
                    <a:srgbClr val="FFFFFF"/>
                  </a:solidFill>
                  <a:latin typeface="IBM Plex Sans"/>
                  <a:ea typeface="SimSun" charset="-122"/>
                  <a:sym typeface="Calibri"/>
                </a:rPr>
                <a:t>Prediction</a:t>
              </a:r>
              <a:endParaRPr lang="en-US" altLang="zh-CN" sz="1333" kern="0" dirty="0">
                <a:solidFill>
                  <a:srgbClr val="FFFFFF"/>
                </a:solidFill>
                <a:latin typeface="IBM Plex Sans"/>
                <a:ea typeface="SimSun" charset="-122"/>
                <a:sym typeface="Calibri"/>
              </a:endParaRP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Segmentation and attrition</a:t>
              </a: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Contact center optimization</a:t>
              </a: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Predictive / preventive maintenance</a:t>
              </a:r>
            </a:p>
            <a:p>
              <a:pPr marL="228589" indent="-228589" defTabSz="787360">
                <a:lnSpc>
                  <a:spcPts val="1600"/>
                </a:lnSpc>
                <a:spcBef>
                  <a:spcPct val="30000"/>
                </a:spcBef>
                <a:buFont typeface="System Font Regular"/>
                <a:buChar char="–"/>
                <a:defRPr/>
              </a:pPr>
              <a:r>
                <a:rPr lang="en-US" altLang="zh-CN" sz="1333" kern="0" dirty="0">
                  <a:solidFill>
                    <a:srgbClr val="FFFFFF"/>
                  </a:solidFill>
                  <a:latin typeface="IBM Plex Sans"/>
                  <a:ea typeface="SimSun" charset="-122"/>
                  <a:sym typeface="Calibri"/>
                </a:rPr>
                <a:t>Risk / governance / fraud</a:t>
              </a:r>
            </a:p>
            <a:p>
              <a:pPr marL="228589" indent="-228589" defTabSz="787360">
                <a:lnSpc>
                  <a:spcPct val="80000"/>
                </a:lnSpc>
                <a:spcBef>
                  <a:spcPct val="30000"/>
                </a:spcBef>
                <a:buFont typeface="System Font Regular"/>
                <a:buChar char="–"/>
                <a:defRPr/>
              </a:pPr>
              <a:endParaRPr lang="en-US" altLang="zh-CN" sz="1333" b="1" kern="0" dirty="0">
                <a:solidFill>
                  <a:srgbClr val="FFFFFF"/>
                </a:solidFill>
                <a:latin typeface="IBM Plex Sans"/>
                <a:ea typeface="SimSun" charset="-122"/>
                <a:sym typeface="Calibri"/>
              </a:endParaRPr>
            </a:p>
            <a:p>
              <a:pPr marL="0" indent="0" defTabSz="787360">
                <a:lnSpc>
                  <a:spcPct val="80000"/>
                </a:lnSpc>
                <a:spcBef>
                  <a:spcPct val="30000"/>
                </a:spcBef>
                <a:defRPr/>
              </a:pPr>
              <a:endParaRPr lang="en-US" altLang="zh-CN" sz="1333" kern="0" dirty="0">
                <a:solidFill>
                  <a:srgbClr val="FFFFFF"/>
                </a:solidFill>
                <a:latin typeface="IBM Plex Sans"/>
                <a:ea typeface="SimSun" charset="-122"/>
                <a:sym typeface="Calibri"/>
              </a:endParaRPr>
            </a:p>
          </p:txBody>
        </p:sp>
      </p:grpSp>
      <p:sp>
        <p:nvSpPr>
          <p:cNvPr id="13" name="Rectangle 12">
            <a:extLst>
              <a:ext uri="{FF2B5EF4-FFF2-40B4-BE49-F238E27FC236}">
                <a16:creationId xmlns:a16="http://schemas.microsoft.com/office/drawing/2014/main" id="{46DAFBEC-8786-AA4B-87A8-95D99F69F8A9}"/>
              </a:ext>
            </a:extLst>
          </p:cNvPr>
          <p:cNvSpPr>
            <a:spLocks noChangeArrowheads="1"/>
          </p:cNvSpPr>
          <p:nvPr/>
        </p:nvSpPr>
        <p:spPr bwMode="auto">
          <a:xfrm>
            <a:off x="2901084" y="3023365"/>
            <a:ext cx="1195907" cy="50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defTabSz="787400">
              <a:defRPr sz="1400">
                <a:solidFill>
                  <a:schemeClr val="tx1"/>
                </a:solidFill>
                <a:latin typeface="Arial" charset="0"/>
                <a:ea typeface="ＭＳ Ｐゴシック" charset="-128"/>
              </a:defRPr>
            </a:lvl1pPr>
            <a:lvl2pPr marL="742950" indent="-285750" defTabSz="787400">
              <a:defRPr sz="1400">
                <a:solidFill>
                  <a:schemeClr val="tx1"/>
                </a:solidFill>
                <a:latin typeface="Arial" charset="0"/>
                <a:ea typeface="ＭＳ Ｐゴシック" charset="-128"/>
              </a:defRPr>
            </a:lvl2pPr>
            <a:lvl3pPr marL="1143000" indent="-228600" defTabSz="787400">
              <a:defRPr sz="1400">
                <a:solidFill>
                  <a:schemeClr val="tx1"/>
                </a:solidFill>
                <a:latin typeface="Arial" charset="0"/>
                <a:ea typeface="ＭＳ Ｐゴシック" charset="-128"/>
              </a:defRPr>
            </a:lvl3pPr>
            <a:lvl4pPr marL="1600200" indent="-228600" defTabSz="787400">
              <a:defRPr sz="1400">
                <a:solidFill>
                  <a:schemeClr val="tx1"/>
                </a:solidFill>
                <a:latin typeface="Arial" charset="0"/>
                <a:ea typeface="ＭＳ Ｐゴシック" charset="-128"/>
              </a:defRPr>
            </a:lvl4pPr>
            <a:lvl5pPr marL="2057400" indent="-228600" defTabSz="787400">
              <a:defRPr sz="1400">
                <a:solidFill>
                  <a:schemeClr val="tx1"/>
                </a:solidFill>
                <a:latin typeface="Arial" charset="0"/>
                <a:ea typeface="ＭＳ Ｐゴシック" charset="-128"/>
              </a:defRPr>
            </a:lvl5pPr>
            <a:lvl6pPr marL="2514600" indent="-228600" defTabSz="787400" eaLnBrk="0" fontAlgn="base" hangingPunct="0">
              <a:spcBef>
                <a:spcPct val="0"/>
              </a:spcBef>
              <a:spcAft>
                <a:spcPct val="0"/>
              </a:spcAft>
              <a:defRPr sz="1400">
                <a:solidFill>
                  <a:schemeClr val="tx1"/>
                </a:solidFill>
                <a:latin typeface="Arial" charset="0"/>
                <a:ea typeface="ＭＳ Ｐゴシック" charset="-128"/>
              </a:defRPr>
            </a:lvl6pPr>
            <a:lvl7pPr marL="2971800" indent="-228600" defTabSz="787400" eaLnBrk="0" fontAlgn="base" hangingPunct="0">
              <a:spcBef>
                <a:spcPct val="0"/>
              </a:spcBef>
              <a:spcAft>
                <a:spcPct val="0"/>
              </a:spcAft>
              <a:defRPr sz="1400">
                <a:solidFill>
                  <a:schemeClr val="tx1"/>
                </a:solidFill>
                <a:latin typeface="Arial" charset="0"/>
                <a:ea typeface="ＭＳ Ｐゴシック" charset="-128"/>
              </a:defRPr>
            </a:lvl7pPr>
            <a:lvl8pPr marL="3429000" indent="-228600" defTabSz="787400" eaLnBrk="0" fontAlgn="base" hangingPunct="0">
              <a:spcBef>
                <a:spcPct val="0"/>
              </a:spcBef>
              <a:spcAft>
                <a:spcPct val="0"/>
              </a:spcAft>
              <a:defRPr sz="1400">
                <a:solidFill>
                  <a:schemeClr val="tx1"/>
                </a:solidFill>
                <a:latin typeface="Arial" charset="0"/>
                <a:ea typeface="ＭＳ Ｐゴシック" charset="-128"/>
              </a:defRPr>
            </a:lvl8pPr>
            <a:lvl9pPr marL="3886200" indent="-228600" defTabSz="787400" eaLnBrk="0" fontAlgn="base" hangingPunct="0">
              <a:spcBef>
                <a:spcPct val="0"/>
              </a:spcBef>
              <a:spcAft>
                <a:spcPct val="0"/>
              </a:spcAft>
              <a:defRPr sz="1400">
                <a:solidFill>
                  <a:schemeClr val="tx1"/>
                </a:solidFill>
                <a:latin typeface="Arial" charset="0"/>
                <a:ea typeface="ＭＳ Ｐゴシック" charset="-128"/>
              </a:defRPr>
            </a:lvl9pPr>
          </a:lstStyle>
          <a:p>
            <a:pPr defTabSz="787360">
              <a:lnSpc>
                <a:spcPct val="104000"/>
              </a:lnSpc>
              <a:spcBef>
                <a:spcPct val="20000"/>
              </a:spcBef>
              <a:buClr>
                <a:srgbClr val="69A6FF"/>
              </a:buClr>
              <a:defRPr/>
            </a:pPr>
            <a:r>
              <a:rPr lang="en-US" altLang="zh-CN" sz="1067" kern="0" dirty="0">
                <a:solidFill>
                  <a:srgbClr val="FFFFFF"/>
                </a:solidFill>
                <a:latin typeface="IBM Plex Sans"/>
                <a:ea typeface="SimSun" charset="-122"/>
                <a:sym typeface="Calibri"/>
              </a:rPr>
              <a:t>To drive action and business results in a prescriptive way</a:t>
            </a:r>
          </a:p>
        </p:txBody>
      </p:sp>
      <p:pic>
        <p:nvPicPr>
          <p:cNvPr id="14" name="Picture 13" descr="A picture containing drawing&#10;&#10;Description automatically generated">
            <a:extLst>
              <a:ext uri="{FF2B5EF4-FFF2-40B4-BE49-F238E27FC236}">
                <a16:creationId xmlns:a16="http://schemas.microsoft.com/office/drawing/2014/main" id="{52A95E60-1F5D-024D-90C3-119751CA2B3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434430" y="1828729"/>
            <a:ext cx="1006132" cy="939423"/>
          </a:xfrm>
          <a:prstGeom prst="rect">
            <a:avLst/>
          </a:prstGeom>
        </p:spPr>
      </p:pic>
      <p:sp>
        <p:nvSpPr>
          <p:cNvPr id="15" name="TextBox 14">
            <a:extLst>
              <a:ext uri="{FF2B5EF4-FFF2-40B4-BE49-F238E27FC236}">
                <a16:creationId xmlns:a16="http://schemas.microsoft.com/office/drawing/2014/main" id="{B2D21184-44B4-CF4D-805A-CBA9D3AEBEEE}"/>
              </a:ext>
            </a:extLst>
          </p:cNvPr>
          <p:cNvSpPr txBox="1"/>
          <p:nvPr/>
        </p:nvSpPr>
        <p:spPr>
          <a:xfrm>
            <a:off x="9565153" y="1956250"/>
            <a:ext cx="2102369" cy="5743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1279" tIns="81279" rIns="81279" bIns="81279" numCol="1" spcCol="38100" rtlCol="0" anchor="t">
            <a:spAutoFit/>
          </a:bodyPr>
          <a:lstStyle/>
          <a:p>
            <a:pPr defTabSz="1219108" hangingPunct="0">
              <a:defRPr/>
            </a:pPr>
            <a:r>
              <a:rPr lang="en-US" sz="1333" dirty="0">
                <a:solidFill>
                  <a:srgbClr val="FFFFFF"/>
                </a:solidFill>
                <a:latin typeface="IBM Plex Sans"/>
                <a:ea typeface="IBM Plex Sans"/>
                <a:cs typeface="IBM Plex Sans"/>
                <a:sym typeface="IBM Plex Sans"/>
              </a:rPr>
              <a:t>Continuous AI </a:t>
            </a:r>
            <a:br>
              <a:rPr lang="en-US" sz="1333" dirty="0">
                <a:solidFill>
                  <a:srgbClr val="FFFFFF"/>
                </a:solidFill>
                <a:latin typeface="IBM Plex Sans"/>
                <a:ea typeface="IBM Plex Sans"/>
                <a:cs typeface="IBM Plex Sans"/>
                <a:sym typeface="IBM Plex Sans"/>
              </a:rPr>
            </a:br>
            <a:r>
              <a:rPr lang="en-US" sz="1333" dirty="0">
                <a:solidFill>
                  <a:srgbClr val="FFFFFF"/>
                </a:solidFill>
                <a:latin typeface="IBM Plex Sans"/>
                <a:ea typeface="IBM Plex Sans"/>
                <a:cs typeface="IBM Plex Sans"/>
                <a:sym typeface="IBM Plex Sans"/>
              </a:rPr>
              <a:t>model g</a:t>
            </a:r>
            <a:r>
              <a:rPr lang="en-US" sz="1333" dirty="0" err="1">
                <a:solidFill>
                  <a:srgbClr val="FFFFFF"/>
                </a:solidFill>
                <a:latin typeface="IBM Plex Sans"/>
                <a:ea typeface="IBM Plex Sans"/>
                <a:cs typeface="IBM Plex Sans"/>
                <a:sym typeface="IBM Plex Sans"/>
              </a:rPr>
              <a:t>overnance</a:t>
            </a:r>
            <a:endParaRPr lang="en-US" sz="1333" dirty="0">
              <a:solidFill>
                <a:srgbClr val="FFFFFF"/>
              </a:solidFill>
              <a:latin typeface="IBM Plex Sans"/>
              <a:ea typeface="IBM Plex Sans"/>
              <a:cs typeface="IBM Plex Sans"/>
              <a:sym typeface="IBM Plex Sans"/>
            </a:endParaRPr>
          </a:p>
        </p:txBody>
      </p:sp>
      <p:sp>
        <p:nvSpPr>
          <p:cNvPr id="18" name="TextBox 17">
            <a:extLst>
              <a:ext uri="{FF2B5EF4-FFF2-40B4-BE49-F238E27FC236}">
                <a16:creationId xmlns:a16="http://schemas.microsoft.com/office/drawing/2014/main" id="{450D3E6B-90EB-C044-97B3-FED67EB38E29}"/>
              </a:ext>
            </a:extLst>
          </p:cNvPr>
          <p:cNvSpPr txBox="1"/>
          <p:nvPr/>
        </p:nvSpPr>
        <p:spPr>
          <a:xfrm>
            <a:off x="9561821" y="3657177"/>
            <a:ext cx="1523611" cy="3692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1279" tIns="81279" rIns="81279" bIns="81279" numCol="1" spcCol="38100" rtlCol="0" anchor="t">
            <a:spAutoFit/>
          </a:bodyPr>
          <a:lstStyle/>
          <a:p>
            <a:pPr defTabSz="1219108" hangingPunct="0">
              <a:defRPr/>
            </a:pPr>
            <a:r>
              <a:rPr lang="en-US" sz="1333" dirty="0">
                <a:solidFill>
                  <a:schemeClr val="bg1"/>
                </a:solidFill>
                <a:latin typeface="IBM Plex Sans" panose="020B0503050203000203" pitchFamily="34" charset="0"/>
                <a:ea typeface="IBM Plex Sans"/>
                <a:cs typeface="IBM Plex Sans"/>
                <a:sym typeface="IBM Plex Sans"/>
              </a:rPr>
              <a:t>Multicloud</a:t>
            </a:r>
          </a:p>
        </p:txBody>
      </p:sp>
      <p:pic>
        <p:nvPicPr>
          <p:cNvPr id="19" name="Picture 18">
            <a:extLst>
              <a:ext uri="{FF2B5EF4-FFF2-40B4-BE49-F238E27FC236}">
                <a16:creationId xmlns:a16="http://schemas.microsoft.com/office/drawing/2014/main" id="{FEA4BEA8-1C0F-DA40-8292-E752F650D4D4}"/>
              </a:ext>
            </a:extLst>
          </p:cNvPr>
          <p:cNvPicPr>
            <a:picLocks noChangeAspect="1"/>
          </p:cNvPicPr>
          <p:nvPr/>
        </p:nvPicPr>
        <p:blipFill>
          <a:blip r:embed="rId6"/>
          <a:stretch>
            <a:fillRect/>
          </a:stretch>
        </p:blipFill>
        <p:spPr>
          <a:xfrm>
            <a:off x="13051893" y="5187376"/>
            <a:ext cx="713253" cy="713253"/>
          </a:xfrm>
          <a:prstGeom prst="rect">
            <a:avLst/>
          </a:prstGeom>
        </p:spPr>
      </p:pic>
      <p:sp>
        <p:nvSpPr>
          <p:cNvPr id="20" name="TextBox 19">
            <a:extLst>
              <a:ext uri="{FF2B5EF4-FFF2-40B4-BE49-F238E27FC236}">
                <a16:creationId xmlns:a16="http://schemas.microsoft.com/office/drawing/2014/main" id="{4E5F704B-7520-A446-B4E4-97CC8369E817}"/>
              </a:ext>
            </a:extLst>
          </p:cNvPr>
          <p:cNvSpPr txBox="1"/>
          <p:nvPr/>
        </p:nvSpPr>
        <p:spPr>
          <a:xfrm>
            <a:off x="9561821" y="5034597"/>
            <a:ext cx="2105703" cy="3692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1279" tIns="81279" rIns="81279" bIns="81279" numCol="1" spcCol="38100" rtlCol="0" anchor="t">
            <a:spAutoFit/>
          </a:bodyPr>
          <a:lstStyle/>
          <a:p>
            <a:pPr defTabSz="1219108" hangingPunct="0">
              <a:defRPr/>
            </a:pPr>
            <a:r>
              <a:rPr lang="en-US" sz="1333" dirty="0">
                <a:solidFill>
                  <a:schemeClr val="bg1"/>
                </a:solidFill>
                <a:latin typeface="IBM Plex Sans" panose="020B0503050203000203" pitchFamily="34" charset="0"/>
                <a:ea typeface="IBM Plex Sans"/>
                <a:cs typeface="IBM Plex Sans"/>
                <a:sym typeface="IBM Plex Sans"/>
              </a:rPr>
              <a:t>Containerized apps</a:t>
            </a:r>
          </a:p>
        </p:txBody>
      </p:sp>
      <p:cxnSp>
        <p:nvCxnSpPr>
          <p:cNvPr id="25" name="Straight Connector 24">
            <a:extLst>
              <a:ext uri="{FF2B5EF4-FFF2-40B4-BE49-F238E27FC236}">
                <a16:creationId xmlns:a16="http://schemas.microsoft.com/office/drawing/2014/main" id="{275E2C42-5A48-5B4A-B3CC-FD41A73CFDA7}"/>
              </a:ext>
            </a:extLst>
          </p:cNvPr>
          <p:cNvCxnSpPr>
            <a:cxnSpLocks/>
          </p:cNvCxnSpPr>
          <p:nvPr/>
        </p:nvCxnSpPr>
        <p:spPr bwMode="auto">
          <a:xfrm>
            <a:off x="2632540" y="3871048"/>
            <a:ext cx="1732995" cy="0"/>
          </a:xfrm>
          <a:prstGeom prst="line">
            <a:avLst/>
          </a:prstGeom>
          <a:ln w="9525">
            <a:solidFill>
              <a:schemeClr val="bg1"/>
            </a:solidFill>
            <a:prstDash val="dash"/>
            <a:headEnd type="none" w="med" len="med"/>
            <a:tailEnd type="arrow"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B7BA048-CD3E-BD46-97CE-6DBE7A5502CE}"/>
              </a:ext>
            </a:extLst>
          </p:cNvPr>
          <p:cNvCxnSpPr>
            <a:cxnSpLocks/>
          </p:cNvCxnSpPr>
          <p:nvPr/>
        </p:nvCxnSpPr>
        <p:spPr bwMode="auto">
          <a:xfrm>
            <a:off x="6432928" y="3871048"/>
            <a:ext cx="1718317" cy="0"/>
          </a:xfrm>
          <a:prstGeom prst="line">
            <a:avLst/>
          </a:prstGeom>
          <a:ln w="9525">
            <a:solidFill>
              <a:schemeClr val="bg1"/>
            </a:solidFill>
            <a:prstDash val="dash"/>
            <a:headEnd type="none" w="med" len="med"/>
            <a:tailEnd type="arrow" w="med" len="med"/>
          </a:ln>
          <a:effectLst/>
        </p:spPr>
        <p:style>
          <a:lnRef idx="1">
            <a:schemeClr val="dk1"/>
          </a:lnRef>
          <a:fillRef idx="0">
            <a:schemeClr val="dk1"/>
          </a:fillRef>
          <a:effectRef idx="0">
            <a:schemeClr val="dk1"/>
          </a:effectRef>
          <a:fontRef idx="minor">
            <a:schemeClr val="tx1"/>
          </a:fontRef>
        </p:style>
      </p:cxnSp>
      <p:pic>
        <p:nvPicPr>
          <p:cNvPr id="30" name="Graphic 29" descr="Cloud">
            <a:extLst>
              <a:ext uri="{FF2B5EF4-FFF2-40B4-BE49-F238E27FC236}">
                <a16:creationId xmlns:a16="http://schemas.microsoft.com/office/drawing/2014/main" id="{4824AEFB-D189-F445-ACEF-79763847274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746163" y="3895563"/>
            <a:ext cx="1248305" cy="968932"/>
          </a:xfrm>
          <a:prstGeom prst="rect">
            <a:avLst/>
          </a:prstGeom>
          <a:effectLst>
            <a:outerShdw blurRad="50800" dist="38100" dir="2700000" algn="tl" rotWithShape="0">
              <a:prstClr val="black">
                <a:alpha val="40000"/>
              </a:prstClr>
            </a:outerShdw>
          </a:effectLst>
        </p:spPr>
      </p:pic>
      <p:cxnSp>
        <p:nvCxnSpPr>
          <p:cNvPr id="33" name="Elbow Connector 32">
            <a:extLst>
              <a:ext uri="{FF2B5EF4-FFF2-40B4-BE49-F238E27FC236}">
                <a16:creationId xmlns:a16="http://schemas.microsoft.com/office/drawing/2014/main" id="{AB81CAFD-9548-8B47-B447-58F5B5B40206}"/>
              </a:ext>
            </a:extLst>
          </p:cNvPr>
          <p:cNvCxnSpPr>
            <a:cxnSpLocks/>
          </p:cNvCxnSpPr>
          <p:nvPr/>
        </p:nvCxnSpPr>
        <p:spPr bwMode="auto">
          <a:xfrm>
            <a:off x="6430012" y="3871048"/>
            <a:ext cx="1732995" cy="1348213"/>
          </a:xfrm>
          <a:prstGeom prst="bentConnector3">
            <a:avLst>
              <a:gd name="adj1" fmla="val 48732"/>
            </a:avLst>
          </a:prstGeom>
          <a:ln w="9525">
            <a:solidFill>
              <a:schemeClr val="bg1"/>
            </a:solidFill>
            <a:prstDash val="dash"/>
            <a:headEnd type="none" w="med" len="med"/>
            <a:tailEnd type="arrow" w="med" len="med"/>
          </a:ln>
          <a:effectLst/>
        </p:spPr>
        <p:style>
          <a:lnRef idx="1">
            <a:schemeClr val="dk1"/>
          </a:lnRef>
          <a:fillRef idx="0">
            <a:schemeClr val="dk1"/>
          </a:fillRef>
          <a:effectRef idx="0">
            <a:schemeClr val="dk1"/>
          </a:effectRef>
          <a:fontRef idx="minor">
            <a:schemeClr val="tx1"/>
          </a:fontRef>
        </p:style>
      </p:cxnSp>
      <p:cxnSp>
        <p:nvCxnSpPr>
          <p:cNvPr id="37" name="Elbow Connector 36">
            <a:extLst>
              <a:ext uri="{FF2B5EF4-FFF2-40B4-BE49-F238E27FC236}">
                <a16:creationId xmlns:a16="http://schemas.microsoft.com/office/drawing/2014/main" id="{CF0A92A2-ABDA-0046-9E6E-E7CF9024FEFE}"/>
              </a:ext>
            </a:extLst>
          </p:cNvPr>
          <p:cNvCxnSpPr>
            <a:cxnSpLocks/>
          </p:cNvCxnSpPr>
          <p:nvPr/>
        </p:nvCxnSpPr>
        <p:spPr bwMode="auto">
          <a:xfrm flipV="1">
            <a:off x="6430013" y="2368612"/>
            <a:ext cx="1721233" cy="1502435"/>
          </a:xfrm>
          <a:prstGeom prst="bentConnector3">
            <a:avLst>
              <a:gd name="adj1" fmla="val 49362"/>
            </a:avLst>
          </a:prstGeom>
          <a:ln w="9525">
            <a:solidFill>
              <a:schemeClr val="bg1"/>
            </a:solidFill>
            <a:prstDash val="dash"/>
            <a:headEnd type="none" w="med" len="med"/>
            <a:tailEnd type="arrow" w="med" len="med"/>
          </a:ln>
          <a:effectLst/>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B992F819-1219-8B43-95ED-ACAD607071B5}"/>
              </a:ext>
            </a:extLst>
          </p:cNvPr>
          <p:cNvPicPr>
            <a:picLocks noChangeAspect="1"/>
          </p:cNvPicPr>
          <p:nvPr/>
        </p:nvPicPr>
        <p:blipFill>
          <a:blip r:embed="rId7"/>
          <a:stretch>
            <a:fillRect/>
          </a:stretch>
        </p:blipFill>
        <p:spPr>
          <a:xfrm>
            <a:off x="8494490" y="4726689"/>
            <a:ext cx="889479" cy="889479"/>
          </a:xfrm>
          <a:prstGeom prst="rect">
            <a:avLst/>
          </a:prstGeom>
        </p:spPr>
      </p:pic>
      <p:pic>
        <p:nvPicPr>
          <p:cNvPr id="11" name="Picture 10">
            <a:extLst>
              <a:ext uri="{FF2B5EF4-FFF2-40B4-BE49-F238E27FC236}">
                <a16:creationId xmlns:a16="http://schemas.microsoft.com/office/drawing/2014/main" id="{FD303388-27E8-F24A-BD65-54947A546E93}"/>
              </a:ext>
            </a:extLst>
          </p:cNvPr>
          <p:cNvPicPr>
            <a:picLocks noChangeAspect="1"/>
          </p:cNvPicPr>
          <p:nvPr/>
        </p:nvPicPr>
        <p:blipFill>
          <a:blip r:embed="rId8"/>
          <a:stretch>
            <a:fillRect/>
          </a:stretch>
        </p:blipFill>
        <p:spPr>
          <a:xfrm>
            <a:off x="8434430" y="3378926"/>
            <a:ext cx="1006132" cy="746485"/>
          </a:xfrm>
          <a:prstGeom prst="rect">
            <a:avLst/>
          </a:prstGeom>
        </p:spPr>
      </p:pic>
    </p:spTree>
    <p:extLst>
      <p:ext uri="{BB962C8B-B14F-4D97-AF65-F5344CB8AC3E}">
        <p14:creationId xmlns:p14="http://schemas.microsoft.com/office/powerpoint/2010/main" val="423650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10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280415" y="268224"/>
            <a:ext cx="7818556" cy="1072896"/>
          </a:xfrm>
        </p:spPr>
        <p:txBody>
          <a:bodyPr/>
          <a:lstStyle/>
          <a:p>
            <a:r>
              <a:rPr lang="en-US" dirty="0"/>
              <a:t>Power of the platform </a:t>
            </a:r>
            <a:br>
              <a:rPr lang="en-US" dirty="0"/>
            </a:br>
            <a:r>
              <a:rPr lang="en-US" sz="2400" dirty="0"/>
              <a:t>Example 3: Predictive to prescriptive</a:t>
            </a:r>
          </a:p>
        </p:txBody>
      </p:sp>
      <p:sp>
        <p:nvSpPr>
          <p:cNvPr id="3" name="Footer Placeholder 2">
            <a:extLst>
              <a:ext uri="{FF2B5EF4-FFF2-40B4-BE49-F238E27FC236}">
                <a16:creationId xmlns:a16="http://schemas.microsoft.com/office/drawing/2014/main" id="{0EB615D0-5A98-B34D-AEBC-7DC7C6E46F91}"/>
              </a:ext>
            </a:extLst>
          </p:cNvPr>
          <p:cNvSpPr>
            <a:spLocks noGrp="1"/>
          </p:cNvSpPr>
          <p:nvPr>
            <p:ph type="ftr" sz="quarter" idx="10"/>
          </p:nvPr>
        </p:nvSpPr>
        <p:spPr/>
        <p:txBody>
          <a:bodyPr/>
          <a:lstStyle/>
          <a:p>
            <a:r>
              <a:rPr lang="en-US"/>
              <a:t>© 2020 IBM Corporation</a:t>
            </a: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6</a:t>
            </a:fld>
            <a:endParaRPr lang="en-US" dirty="0"/>
          </a:p>
        </p:txBody>
      </p:sp>
      <p:cxnSp>
        <p:nvCxnSpPr>
          <p:cNvPr id="5" name="Straight Arrow Connector 4">
            <a:extLst>
              <a:ext uri="{FF2B5EF4-FFF2-40B4-BE49-F238E27FC236}">
                <a16:creationId xmlns:a16="http://schemas.microsoft.com/office/drawing/2014/main" id="{6CA1044E-7732-B843-BFCE-4A875F6D4B06}"/>
              </a:ext>
            </a:extLst>
          </p:cNvPr>
          <p:cNvCxnSpPr>
            <a:cxnSpLocks/>
          </p:cNvCxnSpPr>
          <p:nvPr/>
        </p:nvCxnSpPr>
        <p:spPr bwMode="auto">
          <a:xfrm>
            <a:off x="5811084" y="2661302"/>
            <a:ext cx="606949" cy="4029"/>
          </a:xfrm>
          <a:prstGeom prst="straightConnector1">
            <a:avLst/>
          </a:prstGeom>
          <a:ln w="12700">
            <a:solidFill>
              <a:schemeClr val="bg1"/>
            </a:solidFill>
            <a:prstDash val="dash"/>
            <a:headEnd type="none" w="med" len="med"/>
            <a:tailEnd type="arrow" w="med" len="sm"/>
          </a:ln>
          <a:effectLst/>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E8418CF5-0DA7-B647-8FDB-EE390D8F592E}"/>
              </a:ext>
            </a:extLst>
          </p:cNvPr>
          <p:cNvSpPr txBox="1"/>
          <p:nvPr/>
        </p:nvSpPr>
        <p:spPr>
          <a:xfrm>
            <a:off x="304889" y="4554964"/>
            <a:ext cx="3771633" cy="1477328"/>
          </a:xfrm>
          <a:prstGeom prst="rect">
            <a:avLst/>
          </a:prstGeom>
          <a:noFill/>
        </p:spPr>
        <p:txBody>
          <a:bodyPr wrap="square" lIns="0" tIns="0" rIns="0" bIns="0" rtlCol="0">
            <a:spAutoFit/>
          </a:bodyPr>
          <a:lstStyle/>
          <a:p>
            <a:pPr marL="306910" indent="-296326" defTabSz="914104">
              <a:tabLst>
                <a:tab pos="296326" algn="l"/>
              </a:tabLst>
              <a:defRPr/>
            </a:pPr>
            <a:r>
              <a:rPr lang="en-US" sz="1600" b="1" dirty="0">
                <a:solidFill>
                  <a:srgbClr val="FFFFFF"/>
                </a:solidFill>
                <a:latin typeface="IBM Plex Sans SemiBold" panose="020B0503050203000203" pitchFamily="34" charset="0"/>
              </a:rPr>
              <a:t>1.	Open SPSS Modeler</a:t>
            </a:r>
            <a:br>
              <a:rPr lang="en-US" sz="1600" b="1" dirty="0">
                <a:solidFill>
                  <a:srgbClr val="FFFFFF"/>
                </a:solidFill>
                <a:latin typeface="IBM Plex Sans SemiBold" panose="020B0503050203000203" pitchFamily="34" charset="0"/>
              </a:rPr>
            </a:br>
            <a:r>
              <a:rPr lang="en-US" sz="1600" dirty="0">
                <a:solidFill>
                  <a:srgbClr val="EAEAEA"/>
                </a:solidFill>
                <a:latin typeface="IBM Plex Sans" charset="0"/>
                <a:ea typeface="IBM Plex Sans" charset="0"/>
                <a:cs typeface="IBM Plex Sans" charset="0"/>
              </a:rPr>
              <a:t>Use SPSS Modeler to prep data and generate predictive models, then export into projects.  Easily share that project with Decision Optimization users in your organization.</a:t>
            </a:r>
            <a:endParaRPr lang="en-US" sz="1600" dirty="0">
              <a:solidFill>
                <a:srgbClr val="FFFFFF"/>
              </a:solidFill>
              <a:latin typeface="IBM Plex Sans" panose="020B0503050203000203" pitchFamily="34" charset="0"/>
            </a:endParaRPr>
          </a:p>
        </p:txBody>
      </p:sp>
      <p:sp>
        <p:nvSpPr>
          <p:cNvPr id="7" name="TextBox 6">
            <a:extLst>
              <a:ext uri="{FF2B5EF4-FFF2-40B4-BE49-F238E27FC236}">
                <a16:creationId xmlns:a16="http://schemas.microsoft.com/office/drawing/2014/main" id="{0CB6EE31-8A10-7045-A033-5900F7CDC563}"/>
              </a:ext>
            </a:extLst>
          </p:cNvPr>
          <p:cNvSpPr txBox="1"/>
          <p:nvPr/>
        </p:nvSpPr>
        <p:spPr>
          <a:xfrm>
            <a:off x="4911467" y="4554963"/>
            <a:ext cx="4110612" cy="1723549"/>
          </a:xfrm>
          <a:prstGeom prst="rect">
            <a:avLst/>
          </a:prstGeom>
          <a:noFill/>
        </p:spPr>
        <p:txBody>
          <a:bodyPr wrap="square" lIns="0" tIns="0" rIns="0" bIns="0" rtlCol="0">
            <a:spAutoFit/>
          </a:bodyPr>
          <a:lstStyle/>
          <a:p>
            <a:pPr marL="315376" indent="-304792" defTabSz="914104">
              <a:buFontTx/>
              <a:buAutoNum type="arabicPeriod" startAt="2"/>
              <a:tabLst>
                <a:tab pos="296326" algn="l"/>
              </a:tabLst>
              <a:defRPr/>
            </a:pPr>
            <a:r>
              <a:rPr lang="en-US" sz="1600" b="1" dirty="0">
                <a:solidFill>
                  <a:srgbClr val="FFFFFF"/>
                </a:solidFill>
                <a:latin typeface="IBM Plex Sans SemiBold" panose="020B0503050203000203" pitchFamily="34" charset="0"/>
              </a:rPr>
              <a:t>Use </a:t>
            </a:r>
            <a:r>
              <a:rPr lang="en-US" sz="1600" b="1" dirty="0" err="1">
                <a:solidFill>
                  <a:srgbClr val="FFFFFF"/>
                </a:solidFill>
                <a:latin typeface="IBM Plex Sans SemiBold" panose="020B0503050203000203" pitchFamily="34" charset="0"/>
              </a:rPr>
              <a:t>AutoAI</a:t>
            </a:r>
            <a:r>
              <a:rPr lang="en-US" sz="1600" b="1" dirty="0">
                <a:solidFill>
                  <a:srgbClr val="FFFFFF"/>
                </a:solidFill>
                <a:latin typeface="IBM Plex Sans SemiBold" panose="020B0503050203000203" pitchFamily="34" charset="0"/>
              </a:rPr>
              <a:t> to predict</a:t>
            </a:r>
            <a:br>
              <a:rPr lang="en-US" sz="1600" dirty="0">
                <a:solidFill>
                  <a:srgbClr val="FFFFFF"/>
                </a:solidFill>
                <a:latin typeface="IBM Plex Sans" charset="0"/>
              </a:rPr>
            </a:br>
            <a:r>
              <a:rPr lang="en-US" sz="1600" dirty="0">
                <a:solidFill>
                  <a:srgbClr val="EAEAEA"/>
                </a:solidFill>
                <a:latin typeface="IBM Plex Sans" charset="0"/>
                <a:ea typeface="IBM Plex Sans" charset="0"/>
                <a:cs typeface="IBM Plex Sans" charset="0"/>
              </a:rPr>
              <a:t>Using Decision Optimization tools in Cloud Pak for Data, open the SPSS Modeler predicted results and pass in the predicted variable from SPSS Modeler to a data asset. This can be used as a constraint in the optimization model.</a:t>
            </a:r>
          </a:p>
        </p:txBody>
      </p:sp>
      <p:sp>
        <p:nvSpPr>
          <p:cNvPr id="11" name="Rectangle 10">
            <a:extLst>
              <a:ext uri="{FF2B5EF4-FFF2-40B4-BE49-F238E27FC236}">
                <a16:creationId xmlns:a16="http://schemas.microsoft.com/office/drawing/2014/main" id="{F8FE1E2F-7B52-B04B-BC94-AC79A83B9F14}"/>
              </a:ext>
            </a:extLst>
          </p:cNvPr>
          <p:cNvSpPr/>
          <p:nvPr/>
        </p:nvSpPr>
        <p:spPr>
          <a:xfrm>
            <a:off x="9473276" y="4554963"/>
            <a:ext cx="2438309" cy="1723549"/>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defTabSz="914377">
              <a:defRPr/>
            </a:pPr>
            <a:r>
              <a:rPr lang="en-US" sz="1600" dirty="0">
                <a:solidFill>
                  <a:srgbClr val="408BFC"/>
                </a:solidFill>
              </a:rPr>
              <a:t>SPSS Modeler users can collaborate with Decision Optimization experts to turn analysis into action by passing in the predicted variable.</a:t>
            </a:r>
          </a:p>
          <a:p>
            <a:pPr defTabSz="914377">
              <a:defRPr/>
            </a:pPr>
            <a:endParaRPr lang="en-US" sz="1600" dirty="0">
              <a:solidFill>
                <a:srgbClr val="408BFC"/>
              </a:solidFill>
            </a:endParaRPr>
          </a:p>
        </p:txBody>
      </p:sp>
      <p:pic>
        <p:nvPicPr>
          <p:cNvPr id="13" name="Picture 12">
            <a:extLst>
              <a:ext uri="{FF2B5EF4-FFF2-40B4-BE49-F238E27FC236}">
                <a16:creationId xmlns:a16="http://schemas.microsoft.com/office/drawing/2014/main" id="{869EDE35-D151-3540-BB5A-C0EC8587B1EA}"/>
              </a:ext>
            </a:extLst>
          </p:cNvPr>
          <p:cNvPicPr>
            <a:picLocks noChangeAspect="1"/>
          </p:cNvPicPr>
          <p:nvPr/>
        </p:nvPicPr>
        <p:blipFill>
          <a:blip r:embed="rId3"/>
          <a:stretch>
            <a:fillRect/>
          </a:stretch>
        </p:blipFill>
        <p:spPr>
          <a:xfrm>
            <a:off x="342007" y="1277116"/>
            <a:ext cx="3586527" cy="3061464"/>
          </a:xfrm>
          <a:prstGeom prst="rect">
            <a:avLst/>
          </a:prstGeom>
        </p:spPr>
      </p:pic>
      <p:pic>
        <p:nvPicPr>
          <p:cNvPr id="14" name="Picture 13" descr="A screenshot of a cell phone&#10;&#10;Description automatically generated">
            <a:extLst>
              <a:ext uri="{FF2B5EF4-FFF2-40B4-BE49-F238E27FC236}">
                <a16:creationId xmlns:a16="http://schemas.microsoft.com/office/drawing/2014/main" id="{DD17FC31-4588-4C48-B65B-8B27FE1F9F47}"/>
              </a:ext>
            </a:extLst>
          </p:cNvPr>
          <p:cNvPicPr>
            <a:picLocks noChangeAspect="1"/>
          </p:cNvPicPr>
          <p:nvPr/>
        </p:nvPicPr>
        <p:blipFill>
          <a:blip r:embed="rId4"/>
          <a:stretch>
            <a:fillRect/>
          </a:stretch>
        </p:blipFill>
        <p:spPr>
          <a:xfrm>
            <a:off x="4911467" y="1277115"/>
            <a:ext cx="7000119" cy="3054916"/>
          </a:xfrm>
          <a:prstGeom prst="rect">
            <a:avLst/>
          </a:prstGeom>
        </p:spPr>
      </p:pic>
    </p:spTree>
    <p:extLst>
      <p:ext uri="{BB962C8B-B14F-4D97-AF65-F5344CB8AC3E}">
        <p14:creationId xmlns:p14="http://schemas.microsoft.com/office/powerpoint/2010/main" val="3229316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280415" y="268224"/>
            <a:ext cx="7818556" cy="1072896"/>
          </a:xfrm>
        </p:spPr>
        <p:txBody>
          <a:bodyPr/>
          <a:lstStyle/>
          <a:p>
            <a:r>
              <a:rPr lang="en-US" dirty="0"/>
              <a:t>Power of the platform </a:t>
            </a:r>
            <a:br>
              <a:rPr lang="en-US" dirty="0"/>
            </a:br>
            <a:r>
              <a:rPr lang="en-US" sz="2400" dirty="0"/>
              <a:t>Example 4: No-coding model generation with NLP</a:t>
            </a:r>
          </a:p>
        </p:txBody>
      </p:sp>
      <p:sp>
        <p:nvSpPr>
          <p:cNvPr id="3" name="Footer Placeholder 2">
            <a:extLst>
              <a:ext uri="{FF2B5EF4-FFF2-40B4-BE49-F238E27FC236}">
                <a16:creationId xmlns:a16="http://schemas.microsoft.com/office/drawing/2014/main" id="{0EB615D0-5A98-B34D-AEBC-7DC7C6E46F91}"/>
              </a:ext>
            </a:extLst>
          </p:cNvPr>
          <p:cNvSpPr>
            <a:spLocks noGrp="1"/>
          </p:cNvSpPr>
          <p:nvPr>
            <p:ph type="ftr" sz="quarter" idx="10"/>
          </p:nvPr>
        </p:nvSpPr>
        <p:spPr/>
        <p:txBody>
          <a:bodyPr/>
          <a:lstStyle/>
          <a:p>
            <a:r>
              <a:rPr lang="en-US"/>
              <a:t>© 2020 IBM Corporation</a:t>
            </a: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7</a:t>
            </a:fld>
            <a:endParaRPr lang="en-US" dirty="0"/>
          </a:p>
        </p:txBody>
      </p:sp>
      <p:sp>
        <p:nvSpPr>
          <p:cNvPr id="6" name="TextBox 5">
            <a:extLst>
              <a:ext uri="{FF2B5EF4-FFF2-40B4-BE49-F238E27FC236}">
                <a16:creationId xmlns:a16="http://schemas.microsoft.com/office/drawing/2014/main" id="{E8418CF5-0DA7-B647-8FDB-EE390D8F592E}"/>
              </a:ext>
            </a:extLst>
          </p:cNvPr>
          <p:cNvSpPr txBox="1"/>
          <p:nvPr/>
        </p:nvSpPr>
        <p:spPr>
          <a:xfrm>
            <a:off x="304887" y="5122009"/>
            <a:ext cx="11582224" cy="1025602"/>
          </a:xfrm>
          <a:prstGeom prst="rect">
            <a:avLst/>
          </a:prstGeom>
          <a:noFill/>
        </p:spPr>
        <p:txBody>
          <a:bodyPr wrap="square" lIns="0" tIns="0" rIns="0" bIns="0" numCol="4" spcCol="457200" rtlCol="0">
            <a:spAutoFit/>
          </a:bodyPr>
          <a:lstStyle/>
          <a:p>
            <a:pPr marL="12700" defTabSz="914104">
              <a:defRPr/>
            </a:pPr>
            <a:r>
              <a:rPr lang="en-US" sz="1333" dirty="0">
                <a:solidFill>
                  <a:schemeClr val="bg1"/>
                </a:solidFill>
              </a:rPr>
              <a:t>A powerful and modern model builder development experience:</a:t>
            </a:r>
          </a:p>
          <a:p>
            <a:pPr marL="12700" defTabSz="914104">
              <a:defRPr/>
            </a:pPr>
            <a:endParaRPr lang="en-US" sz="1333" dirty="0">
              <a:solidFill>
                <a:schemeClr val="bg1"/>
              </a:solidFill>
            </a:endParaRPr>
          </a:p>
          <a:p>
            <a:pPr marL="230712" indent="-218012" defTabSz="914104">
              <a:buClr>
                <a:schemeClr val="bg1"/>
              </a:buClr>
              <a:buFont typeface="System Font Regular"/>
              <a:buChar char="–"/>
              <a:defRPr/>
            </a:pPr>
            <a:r>
              <a:rPr lang="en-US" sz="1333" dirty="0">
                <a:solidFill>
                  <a:schemeClr val="bg1"/>
                </a:solidFill>
              </a:rPr>
              <a:t>Build models with Python, OPL or natural language assistant</a:t>
            </a:r>
            <a:br>
              <a:rPr lang="en-US" sz="1333" dirty="0">
                <a:solidFill>
                  <a:schemeClr val="bg1"/>
                </a:solidFill>
              </a:rPr>
            </a:br>
            <a:endParaRPr lang="en-US" sz="1333" dirty="0">
              <a:solidFill>
                <a:schemeClr val="bg1"/>
              </a:solidFill>
            </a:endParaRPr>
          </a:p>
          <a:p>
            <a:pPr marL="230712" indent="-218012" defTabSz="914104">
              <a:buClr>
                <a:schemeClr val="bg1"/>
              </a:buClr>
              <a:buFont typeface="System Font Regular"/>
              <a:buChar char="–"/>
              <a:defRPr/>
            </a:pPr>
            <a:r>
              <a:rPr lang="en-US" sz="1333" dirty="0">
                <a:solidFill>
                  <a:schemeClr val="bg1"/>
                </a:solidFill>
              </a:rPr>
              <a:t>Visualize results and manage scenarios</a:t>
            </a:r>
            <a:br>
              <a:rPr lang="en-US" sz="1333" dirty="0">
                <a:solidFill>
                  <a:schemeClr val="bg1"/>
                </a:solidFill>
              </a:rPr>
            </a:br>
            <a:endParaRPr lang="en-US" sz="1333" dirty="0">
              <a:solidFill>
                <a:schemeClr val="bg1"/>
              </a:solidFill>
            </a:endParaRPr>
          </a:p>
          <a:p>
            <a:pPr marL="230712" indent="-218012" defTabSz="914104">
              <a:buClr>
                <a:schemeClr val="bg1"/>
              </a:buClr>
              <a:buFont typeface="System Font Regular"/>
              <a:buChar char="–"/>
              <a:defRPr/>
            </a:pPr>
            <a:endParaRPr lang="en-US" sz="1333" dirty="0">
              <a:solidFill>
                <a:schemeClr val="bg1"/>
              </a:solidFill>
            </a:endParaRPr>
          </a:p>
          <a:p>
            <a:pPr marL="230712" indent="-218012" defTabSz="914104">
              <a:buClr>
                <a:schemeClr val="bg1"/>
              </a:buClr>
              <a:buFont typeface="System Font Regular"/>
              <a:buChar char="–"/>
              <a:defRPr/>
            </a:pPr>
            <a:r>
              <a:rPr lang="en-US" sz="1333" dirty="0">
                <a:solidFill>
                  <a:schemeClr val="bg1"/>
                </a:solidFill>
              </a:rPr>
              <a:t>Deploy optimization models</a:t>
            </a:r>
            <a:endParaRPr lang="en-US" sz="1333" dirty="0">
              <a:solidFill>
                <a:schemeClr val="bg1"/>
              </a:solidFill>
              <a:latin typeface="IBM Plex Sans" panose="020B0503050203000203" pitchFamily="34" charset="0"/>
            </a:endParaRPr>
          </a:p>
        </p:txBody>
      </p:sp>
      <p:sp>
        <p:nvSpPr>
          <p:cNvPr id="11" name="Rectangle 10">
            <a:extLst>
              <a:ext uri="{FF2B5EF4-FFF2-40B4-BE49-F238E27FC236}">
                <a16:creationId xmlns:a16="http://schemas.microsoft.com/office/drawing/2014/main" id="{F8FE1E2F-7B52-B04B-BC94-AC79A83B9F14}"/>
              </a:ext>
            </a:extLst>
          </p:cNvPr>
          <p:cNvSpPr/>
          <p:nvPr/>
        </p:nvSpPr>
        <p:spPr>
          <a:xfrm>
            <a:off x="3364761" y="5973498"/>
            <a:ext cx="8197091" cy="410241"/>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defTabSz="914377">
              <a:defRPr/>
            </a:pPr>
            <a:r>
              <a:rPr lang="en-US" sz="1333" dirty="0">
                <a:solidFill>
                  <a:srgbClr val="408BFC"/>
                </a:solidFill>
              </a:rPr>
              <a:t>Modeling assistant enables a no-coding approach and uses natural language to build optimization models.</a:t>
            </a:r>
          </a:p>
          <a:p>
            <a:pPr defTabSz="914377">
              <a:defRPr/>
            </a:pPr>
            <a:endParaRPr lang="en-US" sz="1333" dirty="0">
              <a:solidFill>
                <a:srgbClr val="408BFC"/>
              </a:solidFill>
            </a:endParaRPr>
          </a:p>
        </p:txBody>
      </p:sp>
      <p:pic>
        <p:nvPicPr>
          <p:cNvPr id="12" name="Picture 15" descr="A screenshot of a cell phone&#10;&#10;Description generated with very high confidence">
            <a:extLst>
              <a:ext uri="{FF2B5EF4-FFF2-40B4-BE49-F238E27FC236}">
                <a16:creationId xmlns:a16="http://schemas.microsoft.com/office/drawing/2014/main" id="{A54A4670-951B-C943-B376-4A98F17F9B68}"/>
              </a:ext>
            </a:extLst>
          </p:cNvPr>
          <p:cNvPicPr>
            <a:picLocks noChangeAspect="1"/>
          </p:cNvPicPr>
          <p:nvPr/>
        </p:nvPicPr>
        <p:blipFill>
          <a:blip r:embed="rId3"/>
          <a:stretch>
            <a:fillRect/>
          </a:stretch>
        </p:blipFill>
        <p:spPr>
          <a:xfrm>
            <a:off x="304890" y="1596848"/>
            <a:ext cx="3975509" cy="3204632"/>
          </a:xfrm>
          <a:prstGeom prst="rect">
            <a:avLst/>
          </a:prstGeom>
        </p:spPr>
      </p:pic>
      <p:pic>
        <p:nvPicPr>
          <p:cNvPr id="15" name="Picture 16" descr="A screenshot of a social media post&#10;&#10;Description generated with very high confidence">
            <a:extLst>
              <a:ext uri="{FF2B5EF4-FFF2-40B4-BE49-F238E27FC236}">
                <a16:creationId xmlns:a16="http://schemas.microsoft.com/office/drawing/2014/main" id="{EB0FABA7-0A40-0042-B390-80FCC62185B9}"/>
              </a:ext>
            </a:extLst>
          </p:cNvPr>
          <p:cNvPicPr>
            <a:picLocks noChangeAspect="1"/>
          </p:cNvPicPr>
          <p:nvPr/>
        </p:nvPicPr>
        <p:blipFill>
          <a:blip r:embed="rId4"/>
          <a:stretch>
            <a:fillRect/>
          </a:stretch>
        </p:blipFill>
        <p:spPr>
          <a:xfrm>
            <a:off x="5632805" y="1380067"/>
            <a:ext cx="5651569" cy="3400523"/>
          </a:xfrm>
          <a:prstGeom prst="rect">
            <a:avLst/>
          </a:prstGeom>
        </p:spPr>
      </p:pic>
    </p:spTree>
    <p:extLst>
      <p:ext uri="{BB962C8B-B14F-4D97-AF65-F5344CB8AC3E}">
        <p14:creationId xmlns:p14="http://schemas.microsoft.com/office/powerpoint/2010/main" val="3987993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280415" y="268224"/>
            <a:ext cx="7818556" cy="1072896"/>
          </a:xfrm>
        </p:spPr>
        <p:txBody>
          <a:bodyPr/>
          <a:lstStyle/>
          <a:p>
            <a:r>
              <a:rPr lang="en-US" dirty="0"/>
              <a:t>Power of the platform </a:t>
            </a:r>
            <a:br>
              <a:rPr lang="en-US" dirty="0"/>
            </a:br>
            <a:r>
              <a:rPr lang="en-US" sz="2400" dirty="0"/>
              <a:t>Example 5: No-coding model generation with NLP</a:t>
            </a:r>
          </a:p>
        </p:txBody>
      </p:sp>
      <p:sp>
        <p:nvSpPr>
          <p:cNvPr id="3" name="Footer Placeholder 2">
            <a:extLst>
              <a:ext uri="{FF2B5EF4-FFF2-40B4-BE49-F238E27FC236}">
                <a16:creationId xmlns:a16="http://schemas.microsoft.com/office/drawing/2014/main" id="{0EB615D0-5A98-B34D-AEBC-7DC7C6E46F91}"/>
              </a:ext>
            </a:extLst>
          </p:cNvPr>
          <p:cNvSpPr>
            <a:spLocks noGrp="1"/>
          </p:cNvSpPr>
          <p:nvPr>
            <p:ph type="ftr" sz="quarter" idx="10"/>
          </p:nvPr>
        </p:nvSpPr>
        <p:spPr/>
        <p:txBody>
          <a:bodyPr/>
          <a:lstStyle/>
          <a:p>
            <a:r>
              <a:rPr lang="en-US"/>
              <a:t>© 2020 IBM Corporation</a:t>
            </a: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8</a:t>
            </a:fld>
            <a:endParaRPr lang="en-US" dirty="0"/>
          </a:p>
        </p:txBody>
      </p:sp>
      <p:grpSp>
        <p:nvGrpSpPr>
          <p:cNvPr id="83" name="Group 82">
            <a:extLst>
              <a:ext uri="{FF2B5EF4-FFF2-40B4-BE49-F238E27FC236}">
                <a16:creationId xmlns:a16="http://schemas.microsoft.com/office/drawing/2014/main" id="{0CCBCA87-D402-6B4D-837A-DC9E1AA5D203}"/>
              </a:ext>
            </a:extLst>
          </p:cNvPr>
          <p:cNvGrpSpPr/>
          <p:nvPr/>
        </p:nvGrpSpPr>
        <p:grpSpPr>
          <a:xfrm>
            <a:off x="17122" y="7389729"/>
            <a:ext cx="12174585" cy="6858000"/>
            <a:chOff x="12841" y="0"/>
            <a:chExt cx="9130939" cy="5143500"/>
          </a:xfrm>
        </p:grpSpPr>
        <p:grpSp>
          <p:nvGrpSpPr>
            <p:cNvPr id="58" name="Group 57">
              <a:extLst>
                <a:ext uri="{FF2B5EF4-FFF2-40B4-BE49-F238E27FC236}">
                  <a16:creationId xmlns:a16="http://schemas.microsoft.com/office/drawing/2014/main" id="{F93D68C5-E5DF-FF47-AFD7-DDD159D1E824}"/>
                </a:ext>
              </a:extLst>
            </p:cNvPr>
            <p:cNvGrpSpPr/>
            <p:nvPr/>
          </p:nvGrpSpPr>
          <p:grpSpPr>
            <a:xfrm>
              <a:off x="12841" y="0"/>
              <a:ext cx="9130939" cy="5143500"/>
              <a:chOff x="12841" y="0"/>
              <a:chExt cx="9130939" cy="5143500"/>
            </a:xfrm>
          </p:grpSpPr>
          <p:sp>
            <p:nvSpPr>
              <p:cNvPr id="38" name="Rectangle 37">
                <a:extLst>
                  <a:ext uri="{FF2B5EF4-FFF2-40B4-BE49-F238E27FC236}">
                    <a16:creationId xmlns:a16="http://schemas.microsoft.com/office/drawing/2014/main" id="{C377563D-BFE5-7C4D-8BDE-9DA140616823}"/>
                  </a:ext>
                </a:extLst>
              </p:cNvPr>
              <p:cNvSpPr/>
              <p:nvPr/>
            </p:nvSpPr>
            <p:spPr bwMode="auto">
              <a:xfrm>
                <a:off x="687854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39" name="Rectangle 38">
                <a:extLst>
                  <a:ext uri="{FF2B5EF4-FFF2-40B4-BE49-F238E27FC236}">
                    <a16:creationId xmlns:a16="http://schemas.microsoft.com/office/drawing/2014/main" id="{EA510D23-C46C-3649-BE09-F92CBD4BC280}"/>
                  </a:ext>
                </a:extLst>
              </p:cNvPr>
              <p:cNvSpPr/>
              <p:nvPr/>
            </p:nvSpPr>
            <p:spPr bwMode="auto">
              <a:xfrm>
                <a:off x="663967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1" name="Rectangle 40">
                <a:extLst>
                  <a:ext uri="{FF2B5EF4-FFF2-40B4-BE49-F238E27FC236}">
                    <a16:creationId xmlns:a16="http://schemas.microsoft.com/office/drawing/2014/main" id="{883330CD-F32F-4A4D-8226-C05516CB64D8}"/>
                  </a:ext>
                </a:extLst>
              </p:cNvPr>
              <p:cNvSpPr/>
              <p:nvPr/>
            </p:nvSpPr>
            <p:spPr bwMode="auto">
              <a:xfrm>
                <a:off x="4597684"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2" name="Rectangle 41">
                <a:extLst>
                  <a:ext uri="{FF2B5EF4-FFF2-40B4-BE49-F238E27FC236}">
                    <a16:creationId xmlns:a16="http://schemas.microsoft.com/office/drawing/2014/main" id="{7136E374-092F-9D4B-BBFA-B9B47E1284FF}"/>
                  </a:ext>
                </a:extLst>
              </p:cNvPr>
              <p:cNvSpPr/>
              <p:nvPr/>
            </p:nvSpPr>
            <p:spPr bwMode="auto">
              <a:xfrm>
                <a:off x="4358810"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3" name="Rectangle 42">
                <a:extLst>
                  <a:ext uri="{FF2B5EF4-FFF2-40B4-BE49-F238E27FC236}">
                    <a16:creationId xmlns:a16="http://schemas.microsoft.com/office/drawing/2014/main" id="{35922869-A0F6-7C4F-AB40-39425F7D0D90}"/>
                  </a:ext>
                </a:extLst>
              </p:cNvPr>
              <p:cNvSpPr/>
              <p:nvPr/>
            </p:nvSpPr>
            <p:spPr bwMode="auto">
              <a:xfrm>
                <a:off x="230654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4" name="Rectangle 43">
                <a:extLst>
                  <a:ext uri="{FF2B5EF4-FFF2-40B4-BE49-F238E27FC236}">
                    <a16:creationId xmlns:a16="http://schemas.microsoft.com/office/drawing/2014/main" id="{653D474B-323F-4D42-A803-AFEE05E25E6D}"/>
                  </a:ext>
                </a:extLst>
              </p:cNvPr>
              <p:cNvSpPr/>
              <p:nvPr/>
            </p:nvSpPr>
            <p:spPr bwMode="auto">
              <a:xfrm>
                <a:off x="206767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5" name="Rectangle 44">
                <a:extLst>
                  <a:ext uri="{FF2B5EF4-FFF2-40B4-BE49-F238E27FC236}">
                    <a16:creationId xmlns:a16="http://schemas.microsoft.com/office/drawing/2014/main" id="{4816EB18-6151-C346-A8AA-82E5C6453DF7}"/>
                  </a:ext>
                </a:extLst>
              </p:cNvPr>
              <p:cNvSpPr/>
              <p:nvPr/>
            </p:nvSpPr>
            <p:spPr bwMode="auto">
              <a:xfrm>
                <a:off x="5725274"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6" name="Rectangle 45">
                <a:extLst>
                  <a:ext uri="{FF2B5EF4-FFF2-40B4-BE49-F238E27FC236}">
                    <a16:creationId xmlns:a16="http://schemas.microsoft.com/office/drawing/2014/main" id="{722FA110-F52F-1B4A-998F-AA14B49B0031}"/>
                  </a:ext>
                </a:extLst>
              </p:cNvPr>
              <p:cNvSpPr/>
              <p:nvPr/>
            </p:nvSpPr>
            <p:spPr bwMode="auto">
              <a:xfrm>
                <a:off x="5486400"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7" name="Rectangle 46">
                <a:extLst>
                  <a:ext uri="{FF2B5EF4-FFF2-40B4-BE49-F238E27FC236}">
                    <a16:creationId xmlns:a16="http://schemas.microsoft.com/office/drawing/2014/main" id="{F3371FF6-B11C-724F-9AD8-40F16728229B}"/>
                  </a:ext>
                </a:extLst>
              </p:cNvPr>
              <p:cNvSpPr/>
              <p:nvPr/>
            </p:nvSpPr>
            <p:spPr bwMode="auto">
              <a:xfrm>
                <a:off x="3444411"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8" name="Rectangle 47">
                <a:extLst>
                  <a:ext uri="{FF2B5EF4-FFF2-40B4-BE49-F238E27FC236}">
                    <a16:creationId xmlns:a16="http://schemas.microsoft.com/office/drawing/2014/main" id="{E3D43779-984C-FC49-A551-7D04CC7ACABA}"/>
                  </a:ext>
                </a:extLst>
              </p:cNvPr>
              <p:cNvSpPr/>
              <p:nvPr/>
            </p:nvSpPr>
            <p:spPr bwMode="auto">
              <a:xfrm>
                <a:off x="320553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49" name="Rectangle 48">
                <a:extLst>
                  <a:ext uri="{FF2B5EF4-FFF2-40B4-BE49-F238E27FC236}">
                    <a16:creationId xmlns:a16="http://schemas.microsoft.com/office/drawing/2014/main" id="{AD64FF0E-F199-5545-82B8-D08EC7DD7AF8}"/>
                  </a:ext>
                </a:extLst>
              </p:cNvPr>
              <p:cNvSpPr/>
              <p:nvPr/>
            </p:nvSpPr>
            <p:spPr bwMode="auto">
              <a:xfrm>
                <a:off x="1153274"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50" name="Rectangle 49">
                <a:extLst>
                  <a:ext uri="{FF2B5EF4-FFF2-40B4-BE49-F238E27FC236}">
                    <a16:creationId xmlns:a16="http://schemas.microsoft.com/office/drawing/2014/main" id="{05F0557C-8431-BD4A-83A7-ECEBCCEC2817}"/>
                  </a:ext>
                </a:extLst>
              </p:cNvPr>
              <p:cNvSpPr/>
              <p:nvPr/>
            </p:nvSpPr>
            <p:spPr bwMode="auto">
              <a:xfrm>
                <a:off x="914400"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51" name="Rectangle 50">
                <a:extLst>
                  <a:ext uri="{FF2B5EF4-FFF2-40B4-BE49-F238E27FC236}">
                    <a16:creationId xmlns:a16="http://schemas.microsoft.com/office/drawing/2014/main" id="{C06CA617-C270-F947-A7D2-25E9B59834B7}"/>
                  </a:ext>
                </a:extLst>
              </p:cNvPr>
              <p:cNvSpPr/>
              <p:nvPr/>
            </p:nvSpPr>
            <p:spPr bwMode="auto">
              <a:xfrm>
                <a:off x="800613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52" name="Rectangle 51">
                <a:extLst>
                  <a:ext uri="{FF2B5EF4-FFF2-40B4-BE49-F238E27FC236}">
                    <a16:creationId xmlns:a16="http://schemas.microsoft.com/office/drawing/2014/main" id="{EEB8EA4C-D365-6844-9E8F-CA3310C292C6}"/>
                  </a:ext>
                </a:extLst>
              </p:cNvPr>
              <p:cNvSpPr/>
              <p:nvPr/>
            </p:nvSpPr>
            <p:spPr bwMode="auto">
              <a:xfrm>
                <a:off x="776726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56" name="Rectangle 55">
                <a:extLst>
                  <a:ext uri="{FF2B5EF4-FFF2-40B4-BE49-F238E27FC236}">
                    <a16:creationId xmlns:a16="http://schemas.microsoft.com/office/drawing/2014/main" id="{9296B4ED-0FD0-F342-A9CE-785096DC11F6}"/>
                  </a:ext>
                </a:extLst>
              </p:cNvPr>
              <p:cNvSpPr/>
              <p:nvPr/>
            </p:nvSpPr>
            <p:spPr bwMode="auto">
              <a:xfrm>
                <a:off x="12841"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57" name="Rectangle 56">
                <a:extLst>
                  <a:ext uri="{FF2B5EF4-FFF2-40B4-BE49-F238E27FC236}">
                    <a16:creationId xmlns:a16="http://schemas.microsoft.com/office/drawing/2014/main" id="{B45ECAE4-DC37-3B4F-A09B-619BD69E3688}"/>
                  </a:ext>
                </a:extLst>
              </p:cNvPr>
              <p:cNvSpPr/>
              <p:nvPr/>
            </p:nvSpPr>
            <p:spPr bwMode="auto">
              <a:xfrm>
                <a:off x="8930811"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nvGrpSpPr>
            <p:cNvPr id="61" name="Group 60">
              <a:extLst>
                <a:ext uri="{FF2B5EF4-FFF2-40B4-BE49-F238E27FC236}">
                  <a16:creationId xmlns:a16="http://schemas.microsoft.com/office/drawing/2014/main" id="{596C9C1D-886B-0D4D-B89A-7878A0194F8B}"/>
                </a:ext>
              </a:extLst>
            </p:cNvPr>
            <p:cNvGrpSpPr/>
            <p:nvPr/>
          </p:nvGrpSpPr>
          <p:grpSpPr>
            <a:xfrm>
              <a:off x="2743200" y="0"/>
              <a:ext cx="220963" cy="5143500"/>
              <a:chOff x="911983" y="0"/>
              <a:chExt cx="451843" cy="5143500"/>
            </a:xfrm>
          </p:grpSpPr>
          <p:sp>
            <p:nvSpPr>
              <p:cNvPr id="59" name="Rectangle 58">
                <a:extLst>
                  <a:ext uri="{FF2B5EF4-FFF2-40B4-BE49-F238E27FC236}">
                    <a16:creationId xmlns:a16="http://schemas.microsoft.com/office/drawing/2014/main" id="{FCAC7A07-1790-FB49-A24D-480AD0EADD9D}"/>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60" name="Rectangle 59">
                <a:extLst>
                  <a:ext uri="{FF2B5EF4-FFF2-40B4-BE49-F238E27FC236}">
                    <a16:creationId xmlns:a16="http://schemas.microsoft.com/office/drawing/2014/main" id="{64A0B371-B1B7-254B-B4F7-7C4F0565E78F}"/>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nvGrpSpPr>
            <p:cNvPr id="62" name="Group 61">
              <a:extLst>
                <a:ext uri="{FF2B5EF4-FFF2-40B4-BE49-F238E27FC236}">
                  <a16:creationId xmlns:a16="http://schemas.microsoft.com/office/drawing/2014/main" id="{9C551F0F-E4A8-4040-A928-E16875268491}"/>
                </a:ext>
              </a:extLst>
            </p:cNvPr>
            <p:cNvGrpSpPr/>
            <p:nvPr/>
          </p:nvGrpSpPr>
          <p:grpSpPr>
            <a:xfrm>
              <a:off x="457200" y="0"/>
              <a:ext cx="220963" cy="5143500"/>
              <a:chOff x="911983" y="0"/>
              <a:chExt cx="451843" cy="5143500"/>
            </a:xfrm>
          </p:grpSpPr>
          <p:sp>
            <p:nvSpPr>
              <p:cNvPr id="63" name="Rectangle 62">
                <a:extLst>
                  <a:ext uri="{FF2B5EF4-FFF2-40B4-BE49-F238E27FC236}">
                    <a16:creationId xmlns:a16="http://schemas.microsoft.com/office/drawing/2014/main" id="{02DB8BE7-8DE6-C343-BB3A-6988D532676F}"/>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64" name="Rectangle 63">
                <a:extLst>
                  <a:ext uri="{FF2B5EF4-FFF2-40B4-BE49-F238E27FC236}">
                    <a16:creationId xmlns:a16="http://schemas.microsoft.com/office/drawing/2014/main" id="{FCC939BC-E658-E145-B80D-3201C8030425}"/>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sp>
          <p:nvSpPr>
            <p:cNvPr id="66" name="Rectangle 65">
              <a:extLst>
                <a:ext uri="{FF2B5EF4-FFF2-40B4-BE49-F238E27FC236}">
                  <a16:creationId xmlns:a16="http://schemas.microsoft.com/office/drawing/2014/main" id="{B193617F-5D22-C342-814F-008C114836D3}"/>
                </a:ext>
              </a:extLst>
            </p:cNvPr>
            <p:cNvSpPr/>
            <p:nvPr/>
          </p:nvSpPr>
          <p:spPr bwMode="auto">
            <a:xfrm>
              <a:off x="1717016" y="0"/>
              <a:ext cx="104147"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67" name="Rectangle 66">
              <a:extLst>
                <a:ext uri="{FF2B5EF4-FFF2-40B4-BE49-F238E27FC236}">
                  <a16:creationId xmlns:a16="http://schemas.microsoft.com/office/drawing/2014/main" id="{68EE53E8-9542-1742-8A1B-0B32B8DCE302}"/>
                </a:ext>
              </a:extLst>
            </p:cNvPr>
            <p:cNvSpPr/>
            <p:nvPr/>
          </p:nvSpPr>
          <p:spPr bwMode="auto">
            <a:xfrm>
              <a:off x="1600200" y="0"/>
              <a:ext cx="104147"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nvGrpSpPr>
            <p:cNvPr id="68" name="Group 67">
              <a:extLst>
                <a:ext uri="{FF2B5EF4-FFF2-40B4-BE49-F238E27FC236}">
                  <a16:creationId xmlns:a16="http://schemas.microsoft.com/office/drawing/2014/main" id="{F67BCCF0-D732-1542-B243-5F4DF40537CA}"/>
                </a:ext>
              </a:extLst>
            </p:cNvPr>
            <p:cNvGrpSpPr/>
            <p:nvPr/>
          </p:nvGrpSpPr>
          <p:grpSpPr>
            <a:xfrm>
              <a:off x="3886200" y="0"/>
              <a:ext cx="220963" cy="5143500"/>
              <a:chOff x="911983" y="0"/>
              <a:chExt cx="451843" cy="5143500"/>
            </a:xfrm>
          </p:grpSpPr>
          <p:sp>
            <p:nvSpPr>
              <p:cNvPr id="69" name="Rectangle 68">
                <a:extLst>
                  <a:ext uri="{FF2B5EF4-FFF2-40B4-BE49-F238E27FC236}">
                    <a16:creationId xmlns:a16="http://schemas.microsoft.com/office/drawing/2014/main" id="{A6F396D0-3B42-EC41-AC7E-ADB9357E224C}"/>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70" name="Rectangle 69">
                <a:extLst>
                  <a:ext uri="{FF2B5EF4-FFF2-40B4-BE49-F238E27FC236}">
                    <a16:creationId xmlns:a16="http://schemas.microsoft.com/office/drawing/2014/main" id="{7F47AE8D-6D73-0D41-A236-9258416E9961}"/>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nvGrpSpPr>
            <p:cNvPr id="71" name="Group 70">
              <a:extLst>
                <a:ext uri="{FF2B5EF4-FFF2-40B4-BE49-F238E27FC236}">
                  <a16:creationId xmlns:a16="http://schemas.microsoft.com/office/drawing/2014/main" id="{C7AD830A-60F8-0C45-888E-5912E1B6FB86}"/>
                </a:ext>
              </a:extLst>
            </p:cNvPr>
            <p:cNvGrpSpPr/>
            <p:nvPr/>
          </p:nvGrpSpPr>
          <p:grpSpPr>
            <a:xfrm>
              <a:off x="5029200" y="0"/>
              <a:ext cx="220963" cy="5143500"/>
              <a:chOff x="911983" y="0"/>
              <a:chExt cx="451843" cy="5143500"/>
            </a:xfrm>
          </p:grpSpPr>
          <p:sp>
            <p:nvSpPr>
              <p:cNvPr id="72" name="Rectangle 71">
                <a:extLst>
                  <a:ext uri="{FF2B5EF4-FFF2-40B4-BE49-F238E27FC236}">
                    <a16:creationId xmlns:a16="http://schemas.microsoft.com/office/drawing/2014/main" id="{006E71EB-88ED-DF43-BEA8-15C3245D165B}"/>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73" name="Rectangle 72">
                <a:extLst>
                  <a:ext uri="{FF2B5EF4-FFF2-40B4-BE49-F238E27FC236}">
                    <a16:creationId xmlns:a16="http://schemas.microsoft.com/office/drawing/2014/main" id="{E355A5F5-E6E9-534F-9F61-1BF7C78EAEF4}"/>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nvGrpSpPr>
            <p:cNvPr id="74" name="Group 73">
              <a:extLst>
                <a:ext uri="{FF2B5EF4-FFF2-40B4-BE49-F238E27FC236}">
                  <a16:creationId xmlns:a16="http://schemas.microsoft.com/office/drawing/2014/main" id="{C3B41BA1-02C0-0A41-9738-3C873F3F7911}"/>
                </a:ext>
              </a:extLst>
            </p:cNvPr>
            <p:cNvGrpSpPr/>
            <p:nvPr/>
          </p:nvGrpSpPr>
          <p:grpSpPr>
            <a:xfrm>
              <a:off x="6172200" y="0"/>
              <a:ext cx="220963" cy="5143500"/>
              <a:chOff x="911983" y="0"/>
              <a:chExt cx="451843" cy="5143500"/>
            </a:xfrm>
          </p:grpSpPr>
          <p:sp>
            <p:nvSpPr>
              <p:cNvPr id="75" name="Rectangle 74">
                <a:extLst>
                  <a:ext uri="{FF2B5EF4-FFF2-40B4-BE49-F238E27FC236}">
                    <a16:creationId xmlns:a16="http://schemas.microsoft.com/office/drawing/2014/main" id="{730B8849-A6DB-5644-BB86-182A1B4B63CA}"/>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76" name="Rectangle 75">
                <a:extLst>
                  <a:ext uri="{FF2B5EF4-FFF2-40B4-BE49-F238E27FC236}">
                    <a16:creationId xmlns:a16="http://schemas.microsoft.com/office/drawing/2014/main" id="{57818282-4ECA-8242-8F23-6EF67D5DCA86}"/>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nvGrpSpPr>
            <p:cNvPr id="77" name="Group 76">
              <a:extLst>
                <a:ext uri="{FF2B5EF4-FFF2-40B4-BE49-F238E27FC236}">
                  <a16:creationId xmlns:a16="http://schemas.microsoft.com/office/drawing/2014/main" id="{6A1AD2C4-E9BF-9A4B-A57F-AD9A77C2BEB1}"/>
                </a:ext>
              </a:extLst>
            </p:cNvPr>
            <p:cNvGrpSpPr/>
            <p:nvPr/>
          </p:nvGrpSpPr>
          <p:grpSpPr>
            <a:xfrm>
              <a:off x="7315200" y="0"/>
              <a:ext cx="220963" cy="5143500"/>
              <a:chOff x="911983" y="0"/>
              <a:chExt cx="451843" cy="5143500"/>
            </a:xfrm>
          </p:grpSpPr>
          <p:sp>
            <p:nvSpPr>
              <p:cNvPr id="78" name="Rectangle 77">
                <a:extLst>
                  <a:ext uri="{FF2B5EF4-FFF2-40B4-BE49-F238E27FC236}">
                    <a16:creationId xmlns:a16="http://schemas.microsoft.com/office/drawing/2014/main" id="{583F58D7-582E-AF49-99D3-A9E0E9B04D4E}"/>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79" name="Rectangle 78">
                <a:extLst>
                  <a:ext uri="{FF2B5EF4-FFF2-40B4-BE49-F238E27FC236}">
                    <a16:creationId xmlns:a16="http://schemas.microsoft.com/office/drawing/2014/main" id="{EC08C27B-9D4C-3C4D-9B6B-7461A1825DE8}"/>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nvGrpSpPr>
            <p:cNvPr id="80" name="Group 79">
              <a:extLst>
                <a:ext uri="{FF2B5EF4-FFF2-40B4-BE49-F238E27FC236}">
                  <a16:creationId xmlns:a16="http://schemas.microsoft.com/office/drawing/2014/main" id="{7AA5569E-F4B3-1341-B6FC-2E571BD4E121}"/>
                </a:ext>
              </a:extLst>
            </p:cNvPr>
            <p:cNvGrpSpPr/>
            <p:nvPr/>
          </p:nvGrpSpPr>
          <p:grpSpPr>
            <a:xfrm>
              <a:off x="8455632" y="0"/>
              <a:ext cx="220963" cy="5143500"/>
              <a:chOff x="911983" y="0"/>
              <a:chExt cx="451843" cy="5143500"/>
            </a:xfrm>
          </p:grpSpPr>
          <p:sp>
            <p:nvSpPr>
              <p:cNvPr id="81" name="Rectangle 80">
                <a:extLst>
                  <a:ext uri="{FF2B5EF4-FFF2-40B4-BE49-F238E27FC236}">
                    <a16:creationId xmlns:a16="http://schemas.microsoft.com/office/drawing/2014/main" id="{21EBE070-32ED-C046-B21E-EEEA6ED088FD}"/>
                  </a:ext>
                </a:extLst>
              </p:cNvPr>
              <p:cNvSpPr/>
              <p:nvPr/>
            </p:nvSpPr>
            <p:spPr bwMode="auto">
              <a:xfrm>
                <a:off x="1150857"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sp>
            <p:nvSpPr>
              <p:cNvPr id="82" name="Rectangle 81">
                <a:extLst>
                  <a:ext uri="{FF2B5EF4-FFF2-40B4-BE49-F238E27FC236}">
                    <a16:creationId xmlns:a16="http://schemas.microsoft.com/office/drawing/2014/main" id="{52CD6A86-E7A3-CC46-B025-6FEFABACA7DB}"/>
                  </a:ext>
                </a:extLst>
              </p:cNvPr>
              <p:cNvSpPr/>
              <p:nvPr/>
            </p:nvSpPr>
            <p:spPr bwMode="auto">
              <a:xfrm>
                <a:off x="911983" y="0"/>
                <a:ext cx="212969" cy="5143500"/>
              </a:xfrm>
              <a:prstGeom prst="rect">
                <a:avLst/>
              </a:prstGeom>
              <a:solidFill>
                <a:schemeClr val="bg1">
                  <a:alpha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endParaRPr lang="en-US" sz="1867" dirty="0">
                  <a:solidFill>
                    <a:schemeClr val="tx1"/>
                  </a:solidFill>
                  <a:latin typeface="IBM Plex Sans" charset="0"/>
                  <a:ea typeface="IBM Plex Sans" charset="0"/>
                  <a:cs typeface="IBM Plex Sans" charset="0"/>
                </a:endParaRPr>
              </a:p>
            </p:txBody>
          </p:sp>
        </p:grpSp>
      </p:grpSp>
      <p:grpSp>
        <p:nvGrpSpPr>
          <p:cNvPr id="109" name="Group 108">
            <a:extLst>
              <a:ext uri="{FF2B5EF4-FFF2-40B4-BE49-F238E27FC236}">
                <a16:creationId xmlns:a16="http://schemas.microsoft.com/office/drawing/2014/main" id="{D12C1A79-59BA-154D-9BEF-190F00D116F9}"/>
              </a:ext>
            </a:extLst>
          </p:cNvPr>
          <p:cNvGrpSpPr/>
          <p:nvPr/>
        </p:nvGrpSpPr>
        <p:grpSpPr>
          <a:xfrm>
            <a:off x="304801" y="1355861"/>
            <a:ext cx="11592543" cy="4747252"/>
            <a:chOff x="228665" y="1000661"/>
            <a:chExt cx="8694407" cy="3560439"/>
          </a:xfrm>
        </p:grpSpPr>
        <p:sp>
          <p:nvSpPr>
            <p:cNvPr id="9" name="Rectangle 56">
              <a:extLst>
                <a:ext uri="{FF2B5EF4-FFF2-40B4-BE49-F238E27FC236}">
                  <a16:creationId xmlns:a16="http://schemas.microsoft.com/office/drawing/2014/main" id="{3BEE141D-CF3B-1F4A-ABE2-7EC9F284A671}"/>
                </a:ext>
              </a:extLst>
            </p:cNvPr>
            <p:cNvSpPr>
              <a:spLocks noChangeArrowheads="1"/>
            </p:cNvSpPr>
            <p:nvPr/>
          </p:nvSpPr>
          <p:spPr bwMode="auto">
            <a:xfrm>
              <a:off x="228665" y="1000661"/>
              <a:ext cx="2743200" cy="3560439"/>
            </a:xfrm>
            <a:prstGeom prst="rect">
              <a:avLst/>
            </a:prstGeom>
            <a:gradFill>
              <a:gsLst>
                <a:gs pos="0">
                  <a:srgbClr val="408BFC"/>
                </a:gs>
                <a:gs pos="27000">
                  <a:srgbClr val="0062FF"/>
                </a:gs>
              </a:gsLst>
              <a:lin ang="8100000" scaled="0"/>
            </a:gradFill>
            <a:ln>
              <a:noFill/>
            </a:ln>
          </p:spPr>
          <p:txBody>
            <a:bodyPr wrap="square" lIns="243840" tIns="182880" bIns="121920" anchor="t" anchorCtr="0">
              <a:noAutofit/>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377">
                <a:lnSpc>
                  <a:spcPct val="90000"/>
                </a:lnSpc>
                <a:defRPr/>
              </a:pPr>
              <a:endParaRPr lang="en-US" altLang="en-US" sz="1600" dirty="0">
                <a:solidFill>
                  <a:srgbClr val="FFFFFF"/>
                </a:solidFill>
                <a:latin typeface="IBM Plex Sans"/>
              </a:endParaRPr>
            </a:p>
          </p:txBody>
        </p:sp>
        <p:sp>
          <p:nvSpPr>
            <p:cNvPr id="10" name="Rectangle 57">
              <a:extLst>
                <a:ext uri="{FF2B5EF4-FFF2-40B4-BE49-F238E27FC236}">
                  <a16:creationId xmlns:a16="http://schemas.microsoft.com/office/drawing/2014/main" id="{CE98100B-C7D3-F84E-A14E-84EB1BE0465D}"/>
                </a:ext>
              </a:extLst>
            </p:cNvPr>
            <p:cNvSpPr>
              <a:spLocks noChangeArrowheads="1"/>
            </p:cNvSpPr>
            <p:nvPr/>
          </p:nvSpPr>
          <p:spPr bwMode="auto">
            <a:xfrm>
              <a:off x="3225050" y="1000661"/>
              <a:ext cx="2692866" cy="3560439"/>
            </a:xfrm>
            <a:prstGeom prst="rect">
              <a:avLst/>
            </a:prstGeom>
            <a:gradFill>
              <a:gsLst>
                <a:gs pos="0">
                  <a:srgbClr val="061F80"/>
                </a:gs>
                <a:gs pos="27000">
                  <a:srgbClr val="0530AD"/>
                </a:gs>
              </a:gsLst>
              <a:lin ang="8100000" scaled="0"/>
            </a:gradFill>
            <a:ln>
              <a:noFill/>
            </a:ln>
          </p:spPr>
          <p:txBody>
            <a:bodyPr lIns="243840" tIns="60960" anchor="t" anchorCtr="0"/>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377">
                <a:lnSpc>
                  <a:spcPct val="90000"/>
                </a:lnSpc>
                <a:defRPr/>
              </a:pPr>
              <a:endParaRPr lang="en-US" altLang="en-US" sz="1467" dirty="0">
                <a:solidFill>
                  <a:srgbClr val="FFFFFF"/>
                </a:solidFill>
                <a:latin typeface="IBM Plex Sans"/>
              </a:endParaRPr>
            </a:p>
          </p:txBody>
        </p:sp>
        <p:sp>
          <p:nvSpPr>
            <p:cNvPr id="13" name="Text Placeholder 6">
              <a:extLst>
                <a:ext uri="{FF2B5EF4-FFF2-40B4-BE49-F238E27FC236}">
                  <a16:creationId xmlns:a16="http://schemas.microsoft.com/office/drawing/2014/main" id="{504FFBA7-BF33-C543-91F3-188C11EBC7AE}"/>
                </a:ext>
              </a:extLst>
            </p:cNvPr>
            <p:cNvSpPr txBox="1">
              <a:spLocks/>
            </p:cNvSpPr>
            <p:nvPr/>
          </p:nvSpPr>
          <p:spPr>
            <a:xfrm>
              <a:off x="363203" y="1546576"/>
              <a:ext cx="2229997" cy="750446"/>
            </a:xfrm>
            <a:prstGeom prst="rect">
              <a:avLst/>
            </a:prstGeom>
          </p:spPr>
          <p:txBody>
            <a:bodyPr vert="horz" wrap="square" lIns="0" tIns="0" rIns="0" bIns="0" rtlCol="0">
              <a:spAutoFit/>
            </a:bodyPr>
            <a:lstStyle>
              <a:lvl1pPr marL="0" indent="0" algn="l" defTabSz="457200" rtl="0" eaLnBrk="1" latinLnBrk="0" hangingPunct="1">
                <a:lnSpc>
                  <a:spcPct val="100000"/>
                </a:lnSpc>
                <a:spcBef>
                  <a:spcPts val="1100"/>
                </a:spcBef>
                <a:buFont typeface="Arial"/>
                <a:buNone/>
                <a:defRPr sz="1600" kern="1200">
                  <a:solidFill>
                    <a:schemeClr val="tx1"/>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defTabSz="609585">
                <a:spcBef>
                  <a:spcPts val="667"/>
                </a:spcBef>
                <a:defRPr/>
              </a:pPr>
              <a:r>
                <a:rPr lang="en-US" sz="1067" b="1" dirty="0">
                  <a:solidFill>
                    <a:schemeClr val="bg1"/>
                  </a:solidFill>
                  <a:latin typeface="IBM Plex Sans" panose="020B0503050203000203" pitchFamily="34" charset="0"/>
                </a:rPr>
                <a:t>Predictive analytics</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Basic (supervised): You </a:t>
              </a:r>
              <a:r>
                <a:rPr lang="en-US" sz="1067" b="1" dirty="0">
                  <a:solidFill>
                    <a:srgbClr val="FFFFFF"/>
                  </a:solidFill>
                  <a:latin typeface="IBM Plex Sans" panose="020B0503050000000000" pitchFamily="34" charset="77"/>
                </a:rPr>
                <a:t>know the answer</a:t>
              </a:r>
              <a:r>
                <a:rPr lang="en-US" sz="1067" dirty="0">
                  <a:solidFill>
                    <a:srgbClr val="FFFFFF"/>
                  </a:solidFill>
                  <a:latin typeface="IBM Plex Sans" panose="020B0503050000000000" pitchFamily="34" charset="77"/>
                </a:rPr>
                <a:t>,</a:t>
              </a:r>
              <a:r>
                <a:rPr lang="en-US" sz="1067" b="1" dirty="0">
                  <a:solidFill>
                    <a:srgbClr val="FFFFFF"/>
                  </a:solidFill>
                  <a:latin typeface="IBM Plex Sans" panose="020B0503050000000000" pitchFamily="34" charset="77"/>
                </a:rPr>
                <a:t> </a:t>
              </a:r>
              <a:r>
                <a:rPr lang="en-US" sz="1067" dirty="0">
                  <a:solidFill>
                    <a:srgbClr val="FFFFFF"/>
                  </a:solidFill>
                  <a:latin typeface="IBM Plex Sans" panose="020B0503050000000000" pitchFamily="34" charset="77"/>
                </a:rPr>
                <a:t>and you </a:t>
              </a:r>
              <a:r>
                <a:rPr lang="en-US" sz="1067" b="1" dirty="0">
                  <a:solidFill>
                    <a:srgbClr val="FFFFFF"/>
                  </a:solidFill>
                  <a:latin typeface="IBM Plex Sans" panose="020B0503050000000000" pitchFamily="34" charset="77"/>
                </a:rPr>
                <a:t>train the machine how to find it</a:t>
              </a:r>
              <a:r>
                <a:rPr lang="en-US" sz="1067" dirty="0">
                  <a:solidFill>
                    <a:srgbClr val="FFFFFF"/>
                  </a:solidFill>
                  <a:latin typeface="IBM Plex Sans" panose="020B0503050000000000" pitchFamily="34" charset="77"/>
                </a:rPr>
                <a:t>.</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Advanced: Unsupervised, reinforcement, deep learning</a:t>
              </a:r>
            </a:p>
          </p:txBody>
        </p:sp>
        <p:sp>
          <p:nvSpPr>
            <p:cNvPr id="14" name="Text Placeholder 6">
              <a:extLst>
                <a:ext uri="{FF2B5EF4-FFF2-40B4-BE49-F238E27FC236}">
                  <a16:creationId xmlns:a16="http://schemas.microsoft.com/office/drawing/2014/main" id="{6EFF504C-755A-AB42-8DE4-2635D891D2BE}"/>
                </a:ext>
              </a:extLst>
            </p:cNvPr>
            <p:cNvSpPr txBox="1">
              <a:spLocks/>
            </p:cNvSpPr>
            <p:nvPr/>
          </p:nvSpPr>
          <p:spPr>
            <a:xfrm>
              <a:off x="3343714" y="1546576"/>
              <a:ext cx="2443459" cy="750446"/>
            </a:xfrm>
            <a:prstGeom prst="rect">
              <a:avLst/>
            </a:prstGeom>
          </p:spPr>
          <p:txBody>
            <a:bodyPr vert="horz" wrap="square" lIns="0" tIns="0" rIns="0" bIns="0" rtlCol="0">
              <a:spAutoFit/>
            </a:bodyPr>
            <a:lstStyle>
              <a:lvl1pPr marL="0" indent="0" algn="l" defTabSz="457200" rtl="0" eaLnBrk="1" latinLnBrk="0" hangingPunct="1">
                <a:lnSpc>
                  <a:spcPct val="100000"/>
                </a:lnSpc>
                <a:spcBef>
                  <a:spcPts val="1100"/>
                </a:spcBef>
                <a:buFont typeface="Arial"/>
                <a:buNone/>
                <a:defRPr sz="1600" kern="1200">
                  <a:solidFill>
                    <a:schemeClr val="tx1"/>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defTabSz="609585">
                <a:spcBef>
                  <a:spcPts val="667"/>
                </a:spcBef>
                <a:defRPr/>
              </a:pPr>
              <a:r>
                <a:rPr lang="en-US" sz="1067" b="1" dirty="0">
                  <a:solidFill>
                    <a:schemeClr val="bg1"/>
                  </a:solidFill>
                  <a:latin typeface="IBM Plex Sans" panose="020B0503050203000203" pitchFamily="34" charset="0"/>
                </a:rPr>
                <a:t>Prescriptive analytics</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You </a:t>
              </a:r>
              <a:r>
                <a:rPr lang="en-US" sz="1067" b="1" dirty="0">
                  <a:solidFill>
                    <a:srgbClr val="FFFFFF"/>
                  </a:solidFill>
                  <a:latin typeface="IBM Plex Sans" panose="020B0503050000000000" pitchFamily="34" charset="77"/>
                </a:rPr>
                <a:t>don’t know the answer</a:t>
              </a:r>
              <a:r>
                <a:rPr lang="en-US" sz="1067" dirty="0">
                  <a:solidFill>
                    <a:srgbClr val="FFFFFF"/>
                  </a:solidFill>
                  <a:latin typeface="IBM Plex Sans" panose="020B0503050000000000" pitchFamily="34" charset="77"/>
                </a:rPr>
                <a:t>, and you </a:t>
              </a:r>
              <a:r>
                <a:rPr lang="en-US" sz="1067" b="1" dirty="0">
                  <a:solidFill>
                    <a:srgbClr val="FFFFFF"/>
                  </a:solidFill>
                  <a:latin typeface="IBM Plex Sans" panose="020B0503050000000000" pitchFamily="34" charset="77"/>
                </a:rPr>
                <a:t>provide the machine the logic on what is a good and a bad solution</a:t>
              </a:r>
              <a:r>
                <a:rPr lang="en-US" sz="1067" dirty="0">
                  <a:solidFill>
                    <a:srgbClr val="FFFFFF"/>
                  </a:solidFill>
                  <a:latin typeface="IBM Plex Sans" panose="020B0503050000000000" pitchFamily="34" charset="77"/>
                </a:rPr>
                <a:t>.</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Advanced: Robust, stochastic, etc.</a:t>
              </a:r>
            </a:p>
          </p:txBody>
        </p:sp>
        <p:sp>
          <p:nvSpPr>
            <p:cNvPr id="16" name="TextBox 15">
              <a:extLst>
                <a:ext uri="{FF2B5EF4-FFF2-40B4-BE49-F238E27FC236}">
                  <a16:creationId xmlns:a16="http://schemas.microsoft.com/office/drawing/2014/main" id="{F58B8D66-A860-9041-B1BE-66ACB4EA6630}"/>
                </a:ext>
              </a:extLst>
            </p:cNvPr>
            <p:cNvSpPr txBox="1"/>
            <p:nvPr/>
          </p:nvSpPr>
          <p:spPr>
            <a:xfrm flipH="1">
              <a:off x="363203" y="3171068"/>
              <a:ext cx="596278" cy="192409"/>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067" dirty="0">
                  <a:solidFill>
                    <a:srgbClr val="FFFFFF"/>
                  </a:solidFill>
                  <a:latin typeface="IBM Plex Sans" panose="020B0503050000000000" pitchFamily="34" charset="77"/>
                  <a:ea typeface="ＭＳ Ｐゴシック" pitchFamily="34" charset="-128"/>
                  <a:cs typeface="Calibri"/>
                </a:rPr>
                <a:t>Sample data</a:t>
              </a:r>
            </a:p>
          </p:txBody>
        </p:sp>
        <p:sp>
          <p:nvSpPr>
            <p:cNvPr id="17" name="TextBox 16">
              <a:extLst>
                <a:ext uri="{FF2B5EF4-FFF2-40B4-BE49-F238E27FC236}">
                  <a16:creationId xmlns:a16="http://schemas.microsoft.com/office/drawing/2014/main" id="{73151A38-2B2F-B843-8614-DB448C9423D9}"/>
                </a:ext>
              </a:extLst>
            </p:cNvPr>
            <p:cNvSpPr txBox="1"/>
            <p:nvPr/>
          </p:nvSpPr>
          <p:spPr>
            <a:xfrm flipH="1">
              <a:off x="366998" y="3779839"/>
              <a:ext cx="611384" cy="192409"/>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067" dirty="0">
                  <a:solidFill>
                    <a:srgbClr val="FFFFFF"/>
                  </a:solidFill>
                  <a:latin typeface="IBM Plex Sans" panose="020B0503050000000000" pitchFamily="34" charset="77"/>
                  <a:ea typeface="ＭＳ Ｐゴシック" pitchFamily="34" charset="-128"/>
                  <a:cs typeface="Calibri"/>
                </a:rPr>
                <a:t>Observations</a:t>
              </a:r>
            </a:p>
          </p:txBody>
        </p:sp>
        <p:sp>
          <p:nvSpPr>
            <p:cNvPr id="18" name="Rectangle 17">
              <a:extLst>
                <a:ext uri="{FF2B5EF4-FFF2-40B4-BE49-F238E27FC236}">
                  <a16:creationId xmlns:a16="http://schemas.microsoft.com/office/drawing/2014/main" id="{BFC0FE13-6635-984B-91DE-1E23995F01DC}"/>
                </a:ext>
              </a:extLst>
            </p:cNvPr>
            <p:cNvSpPr/>
            <p:nvPr/>
          </p:nvSpPr>
          <p:spPr>
            <a:xfrm>
              <a:off x="1188059" y="3123289"/>
              <a:ext cx="517400" cy="30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eaLnBrk="0" fontAlgn="base" hangingPunct="0">
                <a:spcBef>
                  <a:spcPct val="0"/>
                </a:spcBef>
                <a:spcAft>
                  <a:spcPct val="0"/>
                </a:spcAft>
                <a:defRPr/>
              </a:pPr>
              <a:r>
                <a:rPr lang="en-US" sz="1067" dirty="0">
                  <a:solidFill>
                    <a:srgbClr val="0064FF"/>
                  </a:solidFill>
                  <a:latin typeface="IBM Plex Sans" panose="020B0503050000000000" pitchFamily="34" charset="77"/>
                  <a:cs typeface="Calibri"/>
                </a:rPr>
                <a:t>Train model</a:t>
              </a:r>
            </a:p>
          </p:txBody>
        </p:sp>
        <p:sp>
          <p:nvSpPr>
            <p:cNvPr id="19" name="Rectangle 18">
              <a:extLst>
                <a:ext uri="{FF2B5EF4-FFF2-40B4-BE49-F238E27FC236}">
                  <a16:creationId xmlns:a16="http://schemas.microsoft.com/office/drawing/2014/main" id="{8CF94640-AA99-494C-B3D9-44C9C318DD8C}"/>
                </a:ext>
              </a:extLst>
            </p:cNvPr>
            <p:cNvSpPr/>
            <p:nvPr/>
          </p:nvSpPr>
          <p:spPr>
            <a:xfrm>
              <a:off x="1188059" y="3645213"/>
              <a:ext cx="517400" cy="461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eaLnBrk="0" fontAlgn="base" hangingPunct="0">
                <a:spcBef>
                  <a:spcPct val="0"/>
                </a:spcBef>
                <a:spcAft>
                  <a:spcPct val="0"/>
                </a:spcAft>
                <a:defRPr/>
              </a:pPr>
              <a:r>
                <a:rPr lang="en-US" sz="1067" dirty="0">
                  <a:solidFill>
                    <a:srgbClr val="0064FF"/>
                  </a:solidFill>
                  <a:latin typeface="IBM Plex Sans" panose="020B0503050000000000" pitchFamily="34" charset="77"/>
                  <a:cs typeface="Calibri"/>
                </a:rPr>
                <a:t>Solve trained model</a:t>
              </a:r>
            </a:p>
          </p:txBody>
        </p:sp>
        <p:sp>
          <p:nvSpPr>
            <p:cNvPr id="21" name="Line 100">
              <a:extLst>
                <a:ext uri="{FF2B5EF4-FFF2-40B4-BE49-F238E27FC236}">
                  <a16:creationId xmlns:a16="http://schemas.microsoft.com/office/drawing/2014/main" id="{A4B0E42E-56B5-BA4E-8E7A-E6C3A7AEBF9A}"/>
                </a:ext>
              </a:extLst>
            </p:cNvPr>
            <p:cNvSpPr>
              <a:spLocks noChangeShapeType="1"/>
            </p:cNvSpPr>
            <p:nvPr/>
          </p:nvSpPr>
          <p:spPr bwMode="auto">
            <a:xfrm>
              <a:off x="978382" y="3876044"/>
              <a:ext cx="209677" cy="0"/>
            </a:xfrm>
            <a:prstGeom prst="line">
              <a:avLst/>
            </a:prstGeom>
            <a:noFill/>
            <a:ln w="6350">
              <a:solidFill>
                <a:schemeClr val="bg1"/>
              </a:solidFill>
              <a:round/>
              <a:headEnd type="none"/>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2" name="Line 100">
              <a:extLst>
                <a:ext uri="{FF2B5EF4-FFF2-40B4-BE49-F238E27FC236}">
                  <a16:creationId xmlns:a16="http://schemas.microsoft.com/office/drawing/2014/main" id="{F3A5FE8B-0DDE-8840-BE7E-DBC10C1B31EA}"/>
                </a:ext>
              </a:extLst>
            </p:cNvPr>
            <p:cNvSpPr>
              <a:spLocks noChangeShapeType="1"/>
            </p:cNvSpPr>
            <p:nvPr/>
          </p:nvSpPr>
          <p:spPr bwMode="auto">
            <a:xfrm rot="5400000">
              <a:off x="1339631" y="3529978"/>
              <a:ext cx="208245" cy="0"/>
            </a:xfrm>
            <a:prstGeom prst="line">
              <a:avLst/>
            </a:prstGeom>
            <a:noFill/>
            <a:ln w="6350">
              <a:solidFill>
                <a:schemeClr val="bg1"/>
              </a:solidFill>
              <a:round/>
              <a:headEnd type="none"/>
              <a:tailEnd type="triangle" w="med" len="med"/>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3" name="Line 100">
              <a:extLst>
                <a:ext uri="{FF2B5EF4-FFF2-40B4-BE49-F238E27FC236}">
                  <a16:creationId xmlns:a16="http://schemas.microsoft.com/office/drawing/2014/main" id="{D59836D7-1C77-6E40-A37A-EE2CFDBC950E}"/>
                </a:ext>
              </a:extLst>
            </p:cNvPr>
            <p:cNvSpPr>
              <a:spLocks noChangeShapeType="1"/>
            </p:cNvSpPr>
            <p:nvPr/>
          </p:nvSpPr>
          <p:spPr bwMode="auto">
            <a:xfrm>
              <a:off x="1704347" y="3876044"/>
              <a:ext cx="301351" cy="0"/>
            </a:xfrm>
            <a:prstGeom prst="line">
              <a:avLst/>
            </a:prstGeom>
            <a:noFill/>
            <a:ln w="6350">
              <a:solidFill>
                <a:schemeClr val="bg1"/>
              </a:solidFill>
              <a:round/>
              <a:headEnd type="none"/>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4" name="TextBox 23">
              <a:extLst>
                <a:ext uri="{FF2B5EF4-FFF2-40B4-BE49-F238E27FC236}">
                  <a16:creationId xmlns:a16="http://schemas.microsoft.com/office/drawing/2014/main" id="{1010A44E-9D6E-C14F-A6AD-C021B5D4187C}"/>
                </a:ext>
              </a:extLst>
            </p:cNvPr>
            <p:cNvSpPr txBox="1"/>
            <p:nvPr/>
          </p:nvSpPr>
          <p:spPr>
            <a:xfrm flipH="1">
              <a:off x="3343204" y="3533413"/>
              <a:ext cx="587438" cy="315567"/>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067" dirty="0">
                  <a:solidFill>
                    <a:srgbClr val="FFFFFF"/>
                  </a:solidFill>
                  <a:latin typeface="IBM Plex Sans" panose="020B0503050000000000" pitchFamily="34" charset="77"/>
                  <a:ea typeface="ＭＳ Ｐゴシック" pitchFamily="34" charset="-128"/>
                  <a:cs typeface="Calibri"/>
                </a:rPr>
                <a:t>Prediction</a:t>
              </a:r>
            </a:p>
            <a:p>
              <a:pPr defTabSz="914354" eaLnBrk="0" fontAlgn="base" hangingPunct="0">
                <a:spcBef>
                  <a:spcPct val="0"/>
                </a:spcBef>
                <a:spcAft>
                  <a:spcPct val="0"/>
                </a:spcAft>
                <a:defRPr/>
              </a:pPr>
              <a:r>
                <a:rPr lang="en-US" sz="1067" dirty="0">
                  <a:solidFill>
                    <a:srgbClr val="FFFFFF"/>
                  </a:solidFill>
                  <a:latin typeface="IBM Plex Sans" panose="020B0503050000000000" pitchFamily="34" charset="77"/>
                  <a:ea typeface="ＭＳ Ｐゴシック" pitchFamily="34" charset="-128"/>
                  <a:cs typeface="Calibri"/>
                </a:rPr>
                <a:t>(optional)</a:t>
              </a:r>
            </a:p>
          </p:txBody>
        </p:sp>
        <p:sp>
          <p:nvSpPr>
            <p:cNvPr id="25" name="TextBox 24">
              <a:extLst>
                <a:ext uri="{FF2B5EF4-FFF2-40B4-BE49-F238E27FC236}">
                  <a16:creationId xmlns:a16="http://schemas.microsoft.com/office/drawing/2014/main" id="{39C172B2-28BE-2A4F-A638-3CAA7362A1A4}"/>
                </a:ext>
              </a:extLst>
            </p:cNvPr>
            <p:cNvSpPr txBox="1"/>
            <p:nvPr/>
          </p:nvSpPr>
          <p:spPr>
            <a:xfrm flipH="1">
              <a:off x="4242769" y="2592955"/>
              <a:ext cx="635242" cy="315567"/>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067" b="1" dirty="0">
                  <a:solidFill>
                    <a:srgbClr val="FFFFFF"/>
                  </a:solidFill>
                  <a:latin typeface="IBM Plex Sans SemiBold" panose="020B0503050203000203" pitchFamily="34" charset="0"/>
                  <a:ea typeface="ＭＳ Ｐゴシック" pitchFamily="34" charset="-128"/>
                  <a:cs typeface="Calibri"/>
                </a:rPr>
                <a:t>Business goals</a:t>
              </a:r>
            </a:p>
          </p:txBody>
        </p:sp>
        <p:sp>
          <p:nvSpPr>
            <p:cNvPr id="26" name="Line 100">
              <a:extLst>
                <a:ext uri="{FF2B5EF4-FFF2-40B4-BE49-F238E27FC236}">
                  <a16:creationId xmlns:a16="http://schemas.microsoft.com/office/drawing/2014/main" id="{44A5CDB4-B5BA-AC43-B677-4E9D1FAEB185}"/>
                </a:ext>
              </a:extLst>
            </p:cNvPr>
            <p:cNvSpPr>
              <a:spLocks noChangeShapeType="1"/>
            </p:cNvSpPr>
            <p:nvPr/>
          </p:nvSpPr>
          <p:spPr bwMode="auto">
            <a:xfrm>
              <a:off x="2860017" y="3876044"/>
              <a:ext cx="1288500" cy="0"/>
            </a:xfrm>
            <a:prstGeom prst="line">
              <a:avLst/>
            </a:prstGeom>
            <a:noFill/>
            <a:ln w="6350">
              <a:solidFill>
                <a:schemeClr val="bg1"/>
              </a:solidFill>
              <a:prstDash val="dash"/>
              <a:round/>
              <a:headEnd type="none"/>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28" name="Rectangle 27">
              <a:extLst>
                <a:ext uri="{FF2B5EF4-FFF2-40B4-BE49-F238E27FC236}">
                  <a16:creationId xmlns:a16="http://schemas.microsoft.com/office/drawing/2014/main" id="{8602FDA7-C0EB-0D48-A5A3-03299EE862C0}"/>
                </a:ext>
              </a:extLst>
            </p:cNvPr>
            <p:cNvSpPr/>
            <p:nvPr/>
          </p:nvSpPr>
          <p:spPr>
            <a:xfrm>
              <a:off x="4173064" y="3648706"/>
              <a:ext cx="566019" cy="461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eaLnBrk="0" fontAlgn="base" hangingPunct="0">
                <a:spcBef>
                  <a:spcPct val="0"/>
                </a:spcBef>
                <a:spcAft>
                  <a:spcPct val="0"/>
                </a:spcAft>
                <a:defRPr/>
              </a:pPr>
              <a:r>
                <a:rPr lang="en-US" sz="1067" dirty="0">
                  <a:solidFill>
                    <a:srgbClr val="003BC9"/>
                  </a:solidFill>
                  <a:latin typeface="IBM Plex Sans" panose="020B0503050000000000" pitchFamily="34" charset="77"/>
                  <a:cs typeface="Calibri"/>
                </a:rPr>
                <a:t>Solve DO model</a:t>
              </a:r>
            </a:p>
          </p:txBody>
        </p:sp>
        <p:sp>
          <p:nvSpPr>
            <p:cNvPr id="29" name="TextBox 28">
              <a:extLst>
                <a:ext uri="{FF2B5EF4-FFF2-40B4-BE49-F238E27FC236}">
                  <a16:creationId xmlns:a16="http://schemas.microsoft.com/office/drawing/2014/main" id="{87EC169E-624C-FA4B-A6ED-DA3DE256A607}"/>
                </a:ext>
              </a:extLst>
            </p:cNvPr>
            <p:cNvSpPr txBox="1"/>
            <p:nvPr/>
          </p:nvSpPr>
          <p:spPr>
            <a:xfrm flipH="1">
              <a:off x="5060023" y="3660176"/>
              <a:ext cx="727150" cy="438726"/>
            </a:xfrm>
            <a:prstGeom prst="rect">
              <a:avLst/>
            </a:prstGeom>
            <a:noFill/>
            <a:ln>
              <a:solidFill>
                <a:schemeClr val="bg1"/>
              </a:solidFill>
            </a:ln>
          </p:spPr>
          <p:txBody>
            <a:bodyPr wrap="square" rtlCol="0" anchor="ctr">
              <a:spAutoFit/>
            </a:bodyPr>
            <a:lstStyle/>
            <a:p>
              <a:pPr defTabSz="914354" eaLnBrk="0" fontAlgn="base" hangingPunct="0">
                <a:spcBef>
                  <a:spcPct val="0"/>
                </a:spcBef>
                <a:spcAft>
                  <a:spcPct val="0"/>
                </a:spcAft>
                <a:defRPr/>
              </a:pPr>
              <a:r>
                <a:rPr lang="en-US" sz="1067" dirty="0">
                  <a:solidFill>
                    <a:srgbClr val="FFFFFF"/>
                  </a:solidFill>
                  <a:latin typeface="IBM Plex Sans" panose="020B0503050000000000" pitchFamily="34" charset="77"/>
                  <a:ea typeface="ＭＳ Ｐゴシック" pitchFamily="34" charset="-128"/>
                  <a:cs typeface="Calibri"/>
                </a:rPr>
                <a:t>Decisions, </a:t>
              </a:r>
              <a:br>
                <a:rPr lang="en-US" sz="1067" dirty="0">
                  <a:solidFill>
                    <a:srgbClr val="FFFFFF"/>
                  </a:solidFill>
                  <a:latin typeface="IBM Plex Sans" panose="020B0503050000000000" pitchFamily="34" charset="77"/>
                  <a:ea typeface="ＭＳ Ｐゴシック" pitchFamily="34" charset="-128"/>
                  <a:cs typeface="Calibri"/>
                </a:rPr>
              </a:br>
              <a:r>
                <a:rPr lang="en-US" sz="1067" dirty="0">
                  <a:solidFill>
                    <a:srgbClr val="FFFFFF"/>
                  </a:solidFill>
                  <a:latin typeface="IBM Plex Sans" panose="020B0503050000000000" pitchFamily="34" charset="77"/>
                  <a:ea typeface="ＭＳ Ｐゴシック" pitchFamily="34" charset="-128"/>
                  <a:cs typeface="Calibri"/>
                </a:rPr>
                <a:t>plans, schedules</a:t>
              </a:r>
            </a:p>
          </p:txBody>
        </p:sp>
        <p:sp>
          <p:nvSpPr>
            <p:cNvPr id="30" name="Line 100">
              <a:extLst>
                <a:ext uri="{FF2B5EF4-FFF2-40B4-BE49-F238E27FC236}">
                  <a16:creationId xmlns:a16="http://schemas.microsoft.com/office/drawing/2014/main" id="{788C4366-AE38-7E40-82B2-6622DB9101B0}"/>
                </a:ext>
              </a:extLst>
            </p:cNvPr>
            <p:cNvSpPr>
              <a:spLocks noChangeShapeType="1"/>
            </p:cNvSpPr>
            <p:nvPr/>
          </p:nvSpPr>
          <p:spPr bwMode="auto">
            <a:xfrm>
              <a:off x="4728976" y="3879538"/>
              <a:ext cx="331045" cy="0"/>
            </a:xfrm>
            <a:prstGeom prst="line">
              <a:avLst/>
            </a:prstGeom>
            <a:noFill/>
            <a:ln w="6350">
              <a:solidFill>
                <a:schemeClr val="bg1"/>
              </a:solidFill>
              <a:round/>
              <a:headEnd type="none"/>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34" name="TextBox 33">
              <a:extLst>
                <a:ext uri="{FF2B5EF4-FFF2-40B4-BE49-F238E27FC236}">
                  <a16:creationId xmlns:a16="http://schemas.microsoft.com/office/drawing/2014/main" id="{E1EDCA2D-05ED-414F-AA38-5EC9503BA667}"/>
                </a:ext>
              </a:extLst>
            </p:cNvPr>
            <p:cNvSpPr txBox="1"/>
            <p:nvPr/>
          </p:nvSpPr>
          <p:spPr>
            <a:xfrm flipH="1">
              <a:off x="2010740" y="3656681"/>
              <a:ext cx="849276" cy="438726"/>
            </a:xfrm>
            <a:prstGeom prst="rect">
              <a:avLst/>
            </a:prstGeom>
            <a:noFill/>
            <a:ln>
              <a:solidFill>
                <a:schemeClr val="bg1"/>
              </a:solidFill>
            </a:ln>
          </p:spPr>
          <p:txBody>
            <a:bodyPr wrap="square" rtlCol="0" anchor="ctr">
              <a:spAutoFit/>
            </a:bodyPr>
            <a:lstStyle/>
            <a:p>
              <a:pPr defTabSz="914354" eaLnBrk="0" fontAlgn="base" hangingPunct="0">
                <a:spcBef>
                  <a:spcPct val="0"/>
                </a:spcBef>
                <a:spcAft>
                  <a:spcPct val="0"/>
                </a:spcAft>
                <a:defRPr/>
              </a:pPr>
              <a:r>
                <a:rPr lang="en-US" sz="1067" dirty="0">
                  <a:solidFill>
                    <a:srgbClr val="FFFFFF"/>
                  </a:solidFill>
                  <a:latin typeface="IBM Plex Sans" panose="020B0503050000000000" pitchFamily="34" charset="77"/>
                  <a:ea typeface="ＭＳ Ｐゴシック" pitchFamily="34" charset="-128"/>
                  <a:cs typeface="Calibri"/>
                </a:rPr>
                <a:t>Prediction, pattern, classification</a:t>
              </a:r>
            </a:p>
          </p:txBody>
        </p:sp>
        <p:pic>
          <p:nvPicPr>
            <p:cNvPr id="36" name="Picture 35">
              <a:extLst>
                <a:ext uri="{FF2B5EF4-FFF2-40B4-BE49-F238E27FC236}">
                  <a16:creationId xmlns:a16="http://schemas.microsoft.com/office/drawing/2014/main" id="{FD183874-F243-CE4D-9947-8FDAD68EB4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9113" y="1145393"/>
              <a:ext cx="274669" cy="274669"/>
            </a:xfrm>
            <a:prstGeom prst="rect">
              <a:avLst/>
            </a:prstGeom>
          </p:spPr>
        </p:pic>
        <p:pic>
          <p:nvPicPr>
            <p:cNvPr id="37" name="Picture 74">
              <a:extLst>
                <a:ext uri="{FF2B5EF4-FFF2-40B4-BE49-F238E27FC236}">
                  <a16:creationId xmlns:a16="http://schemas.microsoft.com/office/drawing/2014/main" id="{45D32029-705B-A948-B841-DD05531E5D7F}"/>
                </a:ext>
              </a:extLst>
            </p:cNvPr>
            <p:cNvPicPr>
              <a:picLocks/>
            </p:cNvPicPr>
            <p:nvPr/>
          </p:nvPicPr>
          <p:blipFill>
            <a:blip r:embed="rId4">
              <a:extLst>
                <a:ext uri="{96DAC541-7B7A-43D3-8B79-37D633B846F1}">
                  <asvg:svgBlip xmlns:asvg="http://schemas.microsoft.com/office/drawing/2016/SVG/main" r:embed="rId5"/>
                </a:ext>
              </a:extLst>
            </a:blip>
            <a:srcRect/>
            <a:stretch/>
          </p:blipFill>
          <p:spPr>
            <a:xfrm>
              <a:off x="324932" y="1129196"/>
              <a:ext cx="314814" cy="314814"/>
            </a:xfrm>
            <a:prstGeom prst="rect">
              <a:avLst/>
            </a:prstGeom>
          </p:spPr>
        </p:pic>
        <p:sp>
          <p:nvSpPr>
            <p:cNvPr id="84" name="Rectangle 56">
              <a:extLst>
                <a:ext uri="{FF2B5EF4-FFF2-40B4-BE49-F238E27FC236}">
                  <a16:creationId xmlns:a16="http://schemas.microsoft.com/office/drawing/2014/main" id="{38F6F7D9-BA4C-C14F-86CB-B1D929BC3283}"/>
                </a:ext>
              </a:extLst>
            </p:cNvPr>
            <p:cNvSpPr>
              <a:spLocks noChangeArrowheads="1"/>
            </p:cNvSpPr>
            <p:nvPr/>
          </p:nvSpPr>
          <p:spPr bwMode="auto">
            <a:xfrm>
              <a:off x="6179872" y="1000661"/>
              <a:ext cx="2743200" cy="3560439"/>
            </a:xfrm>
            <a:prstGeom prst="rect">
              <a:avLst/>
            </a:prstGeom>
            <a:gradFill>
              <a:gsLst>
                <a:gs pos="0">
                  <a:srgbClr val="061F80"/>
                </a:gs>
                <a:gs pos="27000">
                  <a:srgbClr val="061F80"/>
                </a:gs>
              </a:gsLst>
              <a:lin ang="8100000" scaled="0"/>
            </a:gradFill>
            <a:ln>
              <a:noFill/>
            </a:ln>
          </p:spPr>
          <p:txBody>
            <a:bodyPr wrap="square" lIns="243840" tIns="182880" bIns="121920" anchor="t" anchorCtr="0">
              <a:noAutofit/>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defTabSz="914377">
                <a:lnSpc>
                  <a:spcPct val="90000"/>
                </a:lnSpc>
                <a:defRPr/>
              </a:pPr>
              <a:endParaRPr lang="en-US" altLang="en-US" sz="1600" dirty="0">
                <a:solidFill>
                  <a:srgbClr val="FFFFFF"/>
                </a:solidFill>
                <a:latin typeface="IBM Plex Sans"/>
              </a:endParaRPr>
            </a:p>
          </p:txBody>
        </p:sp>
        <p:sp>
          <p:nvSpPr>
            <p:cNvPr id="86" name="Text Placeholder 6">
              <a:extLst>
                <a:ext uri="{FF2B5EF4-FFF2-40B4-BE49-F238E27FC236}">
                  <a16:creationId xmlns:a16="http://schemas.microsoft.com/office/drawing/2014/main" id="{E0B3EED0-D697-4A4E-9C9C-1CB02317670C}"/>
                </a:ext>
              </a:extLst>
            </p:cNvPr>
            <p:cNvSpPr txBox="1">
              <a:spLocks/>
            </p:cNvSpPr>
            <p:nvPr/>
          </p:nvSpPr>
          <p:spPr>
            <a:xfrm>
              <a:off x="6302672" y="1546576"/>
              <a:ext cx="2443459" cy="694613"/>
            </a:xfrm>
            <a:prstGeom prst="rect">
              <a:avLst/>
            </a:prstGeom>
          </p:spPr>
          <p:txBody>
            <a:bodyPr vert="horz" wrap="square" lIns="0" tIns="0" rIns="0" bIns="0" rtlCol="0">
              <a:spAutoFit/>
            </a:bodyPr>
            <a:lstStyle>
              <a:lvl1pPr marL="0" indent="0" algn="l" defTabSz="457200" rtl="0" eaLnBrk="1" latinLnBrk="0" hangingPunct="1">
                <a:lnSpc>
                  <a:spcPct val="100000"/>
                </a:lnSpc>
                <a:spcBef>
                  <a:spcPts val="1100"/>
                </a:spcBef>
                <a:buFont typeface="Arial"/>
                <a:buNone/>
                <a:defRPr sz="1600" kern="1200">
                  <a:solidFill>
                    <a:schemeClr val="tx1"/>
                  </a:solidFill>
                  <a:latin typeface="+mn-lt"/>
                  <a:ea typeface="Arial" charset="0"/>
                  <a:cs typeface="Arial" charset="0"/>
                </a:defRPr>
              </a:lvl1pPr>
              <a:lvl2pPr marL="173038"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2pPr>
              <a:lvl3pPr marL="3968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3pPr>
              <a:lvl4pPr marL="625475" indent="-168275"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4pPr>
              <a:lvl5pPr marL="803275" indent="-173038" algn="l" defTabSz="457200" rtl="0" eaLnBrk="1" latinLnBrk="0" hangingPunct="1">
                <a:lnSpc>
                  <a:spcPct val="100000"/>
                </a:lnSpc>
                <a:spcBef>
                  <a:spcPts val="1100"/>
                </a:spcBef>
                <a:spcAft>
                  <a:spcPts val="0"/>
                </a:spcAft>
                <a:buFont typeface="Arial"/>
                <a:buChar char="»"/>
                <a:defRPr sz="1400" kern="1200">
                  <a:solidFill>
                    <a:schemeClr val="tx1"/>
                  </a:solidFill>
                  <a:latin typeface="+mn-lt"/>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67"/>
                </a:spcBef>
                <a:defRPr/>
              </a:pPr>
              <a:r>
                <a:rPr lang="en-US" sz="1067" b="1" dirty="0">
                  <a:solidFill>
                    <a:schemeClr val="bg1"/>
                  </a:solidFill>
                  <a:latin typeface="IBM Plex Sans" panose="020B0503050203000203" pitchFamily="34" charset="0"/>
                </a:rPr>
                <a:t>LOB application</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Custom LOB application</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Decision Optimization Center (DOC)</a:t>
              </a:r>
            </a:p>
            <a:p>
              <a:pPr marL="182875" lvl="2" indent="-182875" defTabSz="609570" fontAlgn="base">
                <a:spcBef>
                  <a:spcPts val="667"/>
                </a:spcBef>
                <a:buFont typeface="System Font Regular"/>
                <a:buChar char="–"/>
                <a:defRPr/>
              </a:pPr>
              <a:r>
                <a:rPr lang="en-US" sz="1067" dirty="0">
                  <a:solidFill>
                    <a:srgbClr val="FFFFFF"/>
                  </a:solidFill>
                  <a:latin typeface="IBM Plex Sans" panose="020B0503050000000000" pitchFamily="34" charset="77"/>
                </a:rPr>
                <a:t>Planning Analytics</a:t>
              </a:r>
            </a:p>
          </p:txBody>
        </p:sp>
        <p:pic>
          <p:nvPicPr>
            <p:cNvPr id="85" name="Google Shape;226;p12">
              <a:extLst>
                <a:ext uri="{FF2B5EF4-FFF2-40B4-BE49-F238E27FC236}">
                  <a16:creationId xmlns:a16="http://schemas.microsoft.com/office/drawing/2014/main" id="{592D6B1B-E1F8-5649-BB41-7BA628FC89E1}"/>
                </a:ext>
              </a:extLst>
            </p:cNvPr>
            <p:cNvPicPr preferRelativeResize="0"/>
            <p:nvPr/>
          </p:nvPicPr>
          <p:blipFill rotWithShape="1">
            <a:blip r:embed="rId6">
              <a:alphaModFix/>
            </a:blip>
            <a:srcRect/>
            <a:stretch/>
          </p:blipFill>
          <p:spPr>
            <a:xfrm>
              <a:off x="6323106" y="3024724"/>
              <a:ext cx="2467966" cy="1415962"/>
            </a:xfrm>
            <a:prstGeom prst="rect">
              <a:avLst/>
            </a:prstGeom>
            <a:noFill/>
            <a:ln>
              <a:noFill/>
            </a:ln>
            <a:effectLst/>
          </p:spPr>
        </p:pic>
        <p:cxnSp>
          <p:nvCxnSpPr>
            <p:cNvPr id="89" name="Elbow Connector 88">
              <a:extLst>
                <a:ext uri="{FF2B5EF4-FFF2-40B4-BE49-F238E27FC236}">
                  <a16:creationId xmlns:a16="http://schemas.microsoft.com/office/drawing/2014/main" id="{B307590E-23B8-5942-B8A6-0FD17BD4BA02}"/>
                </a:ext>
              </a:extLst>
            </p:cNvPr>
            <p:cNvCxnSpPr>
              <a:cxnSpLocks/>
              <a:stCxn id="19" idx="2"/>
            </p:cNvCxnSpPr>
            <p:nvPr/>
          </p:nvCxnSpPr>
          <p:spPr bwMode="auto">
            <a:xfrm rot="16200000" flipH="1">
              <a:off x="3733439" y="1820197"/>
              <a:ext cx="302986" cy="4876346"/>
            </a:xfrm>
            <a:prstGeom prst="bentConnector2">
              <a:avLst/>
            </a:prstGeom>
            <a:ln w="6350">
              <a:solidFill>
                <a:schemeClr val="bg1"/>
              </a:solidFill>
              <a:headEnd type="arrow" w="med" len="sm"/>
              <a:tailEnd type="arrow" w="med" len="sm"/>
            </a:ln>
            <a:effectLst/>
          </p:spPr>
          <p:style>
            <a:lnRef idx="1">
              <a:schemeClr val="dk1"/>
            </a:lnRef>
            <a:fillRef idx="0">
              <a:schemeClr val="dk1"/>
            </a:fillRef>
            <a:effectRef idx="0">
              <a:schemeClr val="dk1"/>
            </a:effectRef>
            <a:fontRef idx="minor">
              <a:schemeClr val="tx1"/>
            </a:fontRef>
          </p:style>
        </p:cxnSp>
        <p:cxnSp>
          <p:nvCxnSpPr>
            <p:cNvPr id="95" name="Elbow Connector 94">
              <a:extLst>
                <a:ext uri="{FF2B5EF4-FFF2-40B4-BE49-F238E27FC236}">
                  <a16:creationId xmlns:a16="http://schemas.microsoft.com/office/drawing/2014/main" id="{58DF5773-1127-6C4C-92E1-72395237DDCC}"/>
                </a:ext>
              </a:extLst>
            </p:cNvPr>
            <p:cNvCxnSpPr>
              <a:cxnSpLocks/>
              <a:stCxn id="28" idx="2"/>
            </p:cNvCxnSpPr>
            <p:nvPr/>
          </p:nvCxnSpPr>
          <p:spPr bwMode="auto">
            <a:xfrm rot="16200000" flipH="1">
              <a:off x="5318023" y="3248419"/>
              <a:ext cx="143135" cy="1867032"/>
            </a:xfrm>
            <a:prstGeom prst="bentConnector2">
              <a:avLst/>
            </a:prstGeom>
            <a:ln w="6350">
              <a:solidFill>
                <a:schemeClr val="bg1"/>
              </a:solidFill>
              <a:headEnd type="arrow" w="med" len="sm"/>
              <a:tailEnd type="arrow" w="med" len="sm"/>
            </a:ln>
            <a:effectLst/>
          </p:spPr>
          <p:style>
            <a:lnRef idx="1">
              <a:schemeClr val="dk1"/>
            </a:lnRef>
            <a:fillRef idx="0">
              <a:schemeClr val="dk1"/>
            </a:fillRef>
            <a:effectRef idx="0">
              <a:schemeClr val="dk1"/>
            </a:effectRef>
            <a:fontRef idx="minor">
              <a:schemeClr val="tx1"/>
            </a:fontRef>
          </p:style>
        </p:cxnSp>
        <p:sp>
          <p:nvSpPr>
            <p:cNvPr id="97" name="Line 100">
              <a:extLst>
                <a:ext uri="{FF2B5EF4-FFF2-40B4-BE49-F238E27FC236}">
                  <a16:creationId xmlns:a16="http://schemas.microsoft.com/office/drawing/2014/main" id="{8A8E0F2D-4150-AD43-858F-77E840529CDC}"/>
                </a:ext>
              </a:extLst>
            </p:cNvPr>
            <p:cNvSpPr>
              <a:spLocks noChangeShapeType="1"/>
            </p:cNvSpPr>
            <p:nvPr/>
          </p:nvSpPr>
          <p:spPr bwMode="auto">
            <a:xfrm>
              <a:off x="978382" y="3280143"/>
              <a:ext cx="209677" cy="0"/>
            </a:xfrm>
            <a:prstGeom prst="line">
              <a:avLst/>
            </a:prstGeom>
            <a:noFill/>
            <a:ln w="6350">
              <a:solidFill>
                <a:schemeClr val="bg1"/>
              </a:solidFill>
              <a:round/>
              <a:headEnd type="none"/>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98" name="Rectangle 97">
              <a:extLst>
                <a:ext uri="{FF2B5EF4-FFF2-40B4-BE49-F238E27FC236}">
                  <a16:creationId xmlns:a16="http://schemas.microsoft.com/office/drawing/2014/main" id="{7211A67F-CDA9-7E44-A54D-FE043F9374F4}"/>
                </a:ext>
              </a:extLst>
            </p:cNvPr>
            <p:cNvSpPr/>
            <p:nvPr/>
          </p:nvSpPr>
          <p:spPr>
            <a:xfrm>
              <a:off x="4173064" y="3123289"/>
              <a:ext cx="612255" cy="30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eaLnBrk="0" fontAlgn="base" hangingPunct="0">
                <a:spcBef>
                  <a:spcPct val="0"/>
                </a:spcBef>
                <a:spcAft>
                  <a:spcPct val="0"/>
                </a:spcAft>
                <a:defRPr/>
              </a:pPr>
              <a:r>
                <a:rPr lang="en-US" sz="1067" dirty="0">
                  <a:solidFill>
                    <a:srgbClr val="0064FF"/>
                  </a:solidFill>
                  <a:latin typeface="IBM Plex Sans" panose="020B0503050000000000" pitchFamily="34" charset="77"/>
                  <a:cs typeface="Calibri"/>
                </a:rPr>
                <a:t>Write DO Model</a:t>
              </a:r>
            </a:p>
          </p:txBody>
        </p:sp>
        <p:sp>
          <p:nvSpPr>
            <p:cNvPr id="99" name="Line 100">
              <a:extLst>
                <a:ext uri="{FF2B5EF4-FFF2-40B4-BE49-F238E27FC236}">
                  <a16:creationId xmlns:a16="http://schemas.microsoft.com/office/drawing/2014/main" id="{AAC92F9D-3148-9341-B187-0F6DD1394483}"/>
                </a:ext>
              </a:extLst>
            </p:cNvPr>
            <p:cNvSpPr>
              <a:spLocks noChangeShapeType="1"/>
            </p:cNvSpPr>
            <p:nvPr/>
          </p:nvSpPr>
          <p:spPr bwMode="auto">
            <a:xfrm rot="5400000">
              <a:off x="4349959" y="3529978"/>
              <a:ext cx="208245" cy="0"/>
            </a:xfrm>
            <a:prstGeom prst="line">
              <a:avLst/>
            </a:prstGeom>
            <a:noFill/>
            <a:ln w="6350">
              <a:solidFill>
                <a:schemeClr val="bg1"/>
              </a:solidFill>
              <a:round/>
              <a:headEnd type="none"/>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00" name="TextBox 99">
              <a:extLst>
                <a:ext uri="{FF2B5EF4-FFF2-40B4-BE49-F238E27FC236}">
                  <a16:creationId xmlns:a16="http://schemas.microsoft.com/office/drawing/2014/main" id="{D7529FE9-8C36-5D41-9A67-D4F22B503F7A}"/>
                </a:ext>
              </a:extLst>
            </p:cNvPr>
            <p:cNvSpPr txBox="1"/>
            <p:nvPr/>
          </p:nvSpPr>
          <p:spPr>
            <a:xfrm flipH="1">
              <a:off x="3353478" y="2600491"/>
              <a:ext cx="744734" cy="438726"/>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067" b="1" dirty="0">
                  <a:solidFill>
                    <a:srgbClr val="FFFFFF"/>
                  </a:solidFill>
                  <a:latin typeface="IBM Plex Sans SemiBold" panose="020B0503050203000203" pitchFamily="34" charset="0"/>
                  <a:ea typeface="ＭＳ Ｐゴシック" pitchFamily="34" charset="-128"/>
                  <a:cs typeface="Calibri"/>
                </a:rPr>
                <a:t>Unknown (decision variables)</a:t>
              </a:r>
            </a:p>
          </p:txBody>
        </p:sp>
        <p:sp>
          <p:nvSpPr>
            <p:cNvPr id="101" name="TextBox 100">
              <a:extLst>
                <a:ext uri="{FF2B5EF4-FFF2-40B4-BE49-F238E27FC236}">
                  <a16:creationId xmlns:a16="http://schemas.microsoft.com/office/drawing/2014/main" id="{00A706E6-22A2-194C-B026-6762F0301263}"/>
                </a:ext>
              </a:extLst>
            </p:cNvPr>
            <p:cNvSpPr txBox="1"/>
            <p:nvPr/>
          </p:nvSpPr>
          <p:spPr>
            <a:xfrm flipH="1">
              <a:off x="5038440" y="2600638"/>
              <a:ext cx="744734" cy="315567"/>
            </a:xfrm>
            <a:prstGeom prst="rect">
              <a:avLst/>
            </a:prstGeom>
            <a:noFill/>
          </p:spPr>
          <p:txBody>
            <a:bodyPr wrap="square" lIns="0" rIns="0" rtlCol="0" anchor="ctr">
              <a:spAutoFit/>
            </a:bodyPr>
            <a:lstStyle/>
            <a:p>
              <a:pPr defTabSz="914354" eaLnBrk="0" fontAlgn="base" hangingPunct="0">
                <a:spcBef>
                  <a:spcPct val="0"/>
                </a:spcBef>
                <a:spcAft>
                  <a:spcPct val="0"/>
                </a:spcAft>
                <a:defRPr/>
              </a:pPr>
              <a:r>
                <a:rPr lang="en-US" sz="1067" b="1" dirty="0">
                  <a:solidFill>
                    <a:srgbClr val="FFFFFF"/>
                  </a:solidFill>
                  <a:latin typeface="IBM Plex Sans SemiBold" panose="020B0503050203000203" pitchFamily="34" charset="0"/>
                  <a:ea typeface="ＭＳ Ｐゴシック" pitchFamily="34" charset="-128"/>
                  <a:cs typeface="Calibri"/>
                </a:rPr>
                <a:t>Business constraints</a:t>
              </a:r>
            </a:p>
          </p:txBody>
        </p:sp>
        <p:sp>
          <p:nvSpPr>
            <p:cNvPr id="103" name="Line 100">
              <a:extLst>
                <a:ext uri="{FF2B5EF4-FFF2-40B4-BE49-F238E27FC236}">
                  <a16:creationId xmlns:a16="http://schemas.microsoft.com/office/drawing/2014/main" id="{A067DB2D-318C-3347-B107-8EDA7947D2AE}"/>
                </a:ext>
              </a:extLst>
            </p:cNvPr>
            <p:cNvSpPr>
              <a:spLocks noChangeShapeType="1"/>
            </p:cNvSpPr>
            <p:nvPr/>
          </p:nvSpPr>
          <p:spPr bwMode="auto">
            <a:xfrm rot="5400000">
              <a:off x="4349959" y="3005997"/>
              <a:ext cx="208245" cy="0"/>
            </a:xfrm>
            <a:prstGeom prst="line">
              <a:avLst/>
            </a:prstGeom>
            <a:noFill/>
            <a:ln w="6350">
              <a:solidFill>
                <a:schemeClr val="bg1"/>
              </a:solidFill>
              <a:round/>
              <a:headEnd type="none" w="med" len="sm"/>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04" name="Line 100">
              <a:extLst>
                <a:ext uri="{FF2B5EF4-FFF2-40B4-BE49-F238E27FC236}">
                  <a16:creationId xmlns:a16="http://schemas.microsoft.com/office/drawing/2014/main" id="{51855048-831B-554A-80F0-6B19297FE623}"/>
                </a:ext>
              </a:extLst>
            </p:cNvPr>
            <p:cNvSpPr>
              <a:spLocks noChangeShapeType="1"/>
            </p:cNvSpPr>
            <p:nvPr/>
          </p:nvSpPr>
          <p:spPr bwMode="auto">
            <a:xfrm rot="5400000">
              <a:off x="4798425" y="2870109"/>
              <a:ext cx="214168" cy="265857"/>
            </a:xfrm>
            <a:prstGeom prst="line">
              <a:avLst/>
            </a:prstGeom>
            <a:noFill/>
            <a:ln w="6350">
              <a:solidFill>
                <a:schemeClr val="bg1"/>
              </a:solidFill>
              <a:round/>
              <a:headEnd type="none" w="med" len="sm"/>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sp>
          <p:nvSpPr>
            <p:cNvPr id="105" name="Line 100">
              <a:extLst>
                <a:ext uri="{FF2B5EF4-FFF2-40B4-BE49-F238E27FC236}">
                  <a16:creationId xmlns:a16="http://schemas.microsoft.com/office/drawing/2014/main" id="{4F4410F6-7049-7E4F-A03C-C4FF082864F2}"/>
                </a:ext>
              </a:extLst>
            </p:cNvPr>
            <p:cNvSpPr>
              <a:spLocks noChangeShapeType="1"/>
            </p:cNvSpPr>
            <p:nvPr/>
          </p:nvSpPr>
          <p:spPr bwMode="auto">
            <a:xfrm rot="5400000" flipV="1">
              <a:off x="3938348" y="2882064"/>
              <a:ext cx="175909" cy="280205"/>
            </a:xfrm>
            <a:prstGeom prst="line">
              <a:avLst/>
            </a:prstGeom>
            <a:noFill/>
            <a:ln w="6350">
              <a:solidFill>
                <a:schemeClr val="bg1"/>
              </a:solidFill>
              <a:round/>
              <a:headEnd type="none" w="med" len="sm"/>
              <a:tailEnd type="arrow" w="med" len="sm"/>
            </a:ln>
            <a:extLst>
              <a:ext uri="{909E8E84-426E-40DD-AFC4-6F175D3DCCD1}">
                <a14:hiddenFill xmlns:a14="http://schemas.microsoft.com/office/drawing/2010/main">
                  <a:noFill/>
                </a14:hiddenFill>
              </a:ext>
            </a:extLst>
          </p:spPr>
          <p:txBody>
            <a:bodyPr/>
            <a:lstStyle/>
            <a:p>
              <a:pPr defTabSz="914377">
                <a:defRPr/>
              </a:pPr>
              <a:endParaRPr lang="en-US" sz="1067" dirty="0">
                <a:solidFill>
                  <a:srgbClr val="FFFFFF"/>
                </a:solidFill>
                <a:latin typeface="IBM Plex Sans"/>
              </a:endParaRPr>
            </a:p>
          </p:txBody>
        </p:sp>
      </p:grpSp>
      <p:pic>
        <p:nvPicPr>
          <p:cNvPr id="111" name="Picture 110">
            <a:extLst>
              <a:ext uri="{FF2B5EF4-FFF2-40B4-BE49-F238E27FC236}">
                <a16:creationId xmlns:a16="http://schemas.microsoft.com/office/drawing/2014/main" id="{2298D810-5A8F-A548-A828-E31E803BB055}"/>
              </a:ext>
            </a:extLst>
          </p:cNvPr>
          <p:cNvPicPr>
            <a:picLocks noChangeAspect="1"/>
          </p:cNvPicPr>
          <p:nvPr/>
        </p:nvPicPr>
        <p:blipFill>
          <a:blip r:embed="rId7"/>
          <a:stretch>
            <a:fillRect/>
          </a:stretch>
        </p:blipFill>
        <p:spPr>
          <a:xfrm>
            <a:off x="8403477" y="1551584"/>
            <a:ext cx="422679" cy="395409"/>
          </a:xfrm>
          <a:prstGeom prst="rect">
            <a:avLst/>
          </a:prstGeom>
        </p:spPr>
      </p:pic>
    </p:spTree>
    <p:extLst>
      <p:ext uri="{BB962C8B-B14F-4D97-AF65-F5344CB8AC3E}">
        <p14:creationId xmlns:p14="http://schemas.microsoft.com/office/powerpoint/2010/main" val="2310031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304802" y="1113824"/>
            <a:ext cx="6386741" cy="1072896"/>
          </a:xfrm>
        </p:spPr>
        <p:txBody>
          <a:bodyPr>
            <a:normAutofit fontScale="90000"/>
          </a:bodyPr>
          <a:lstStyle/>
          <a:p>
            <a:br>
              <a:rPr lang="en-US" sz="2400" dirty="0"/>
            </a:br>
            <a:br>
              <a:rPr lang="en-US" sz="2400" dirty="0"/>
            </a:br>
            <a:r>
              <a:rPr lang="en-US" sz="2400" dirty="0"/>
              <a:t>IBM Decision Optimization</a:t>
            </a:r>
            <a:br>
              <a:rPr lang="en-US" dirty="0"/>
            </a:br>
            <a:br>
              <a:rPr lang="en-US" dirty="0"/>
            </a:b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9</a:t>
            </a:fld>
            <a:endParaRPr lang="en-US" dirty="0"/>
          </a:p>
        </p:txBody>
      </p:sp>
      <p:sp>
        <p:nvSpPr>
          <p:cNvPr id="5" name="Title 1">
            <a:extLst>
              <a:ext uri="{FF2B5EF4-FFF2-40B4-BE49-F238E27FC236}">
                <a16:creationId xmlns:a16="http://schemas.microsoft.com/office/drawing/2014/main" id="{24B7BD0A-5744-FF4B-8C9D-ABB1FDE84A24}"/>
              </a:ext>
            </a:extLst>
          </p:cNvPr>
          <p:cNvSpPr txBox="1">
            <a:spLocks/>
          </p:cNvSpPr>
          <p:nvPr/>
        </p:nvSpPr>
        <p:spPr>
          <a:xfrm>
            <a:off x="304802" y="259564"/>
            <a:ext cx="6877877" cy="508000"/>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400" b="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defTabSz="1219170"/>
            <a:r>
              <a:rPr lang="en-US" sz="3200" b="1" kern="0" dirty="0">
                <a:solidFill>
                  <a:srgbClr val="FFFFFF"/>
                </a:solidFill>
              </a:rPr>
              <a:t>When to use prescriptive analytics (IBM Decision Optimization)</a:t>
            </a:r>
          </a:p>
        </p:txBody>
      </p:sp>
      <p:sp>
        <p:nvSpPr>
          <p:cNvPr id="6" name="Content Placeholder 2">
            <a:extLst>
              <a:ext uri="{FF2B5EF4-FFF2-40B4-BE49-F238E27FC236}">
                <a16:creationId xmlns:a16="http://schemas.microsoft.com/office/drawing/2014/main" id="{2E448ED2-00B3-1B43-BCD6-22EEF4025F2C}"/>
              </a:ext>
            </a:extLst>
          </p:cNvPr>
          <p:cNvSpPr txBox="1">
            <a:spLocks/>
          </p:cNvSpPr>
          <p:nvPr/>
        </p:nvSpPr>
        <p:spPr>
          <a:xfrm>
            <a:off x="402011" y="1739920"/>
            <a:ext cx="4947092" cy="574644"/>
          </a:xfrm>
          <a:prstGeom prst="rect">
            <a:avLst/>
          </a:prstGeom>
        </p:spPr>
        <p:txBody>
          <a:bodyPr vert="horz" wrap="square" lIns="0" tIns="0" rIns="0" bIns="0" rtlCol="0">
            <a:sp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defTabSz="1219170"/>
            <a:r>
              <a:rPr lang="en-US" sz="1867" kern="0" dirty="0">
                <a:solidFill>
                  <a:srgbClr val="FFFFFF"/>
                </a:solidFill>
              </a:rPr>
              <a:t>When you want to manage efficiency, utilization and allocation of limited resources</a:t>
            </a:r>
          </a:p>
        </p:txBody>
      </p:sp>
      <p:graphicFrame>
        <p:nvGraphicFramePr>
          <p:cNvPr id="7" name="Group 3">
            <a:extLst>
              <a:ext uri="{FF2B5EF4-FFF2-40B4-BE49-F238E27FC236}">
                <a16:creationId xmlns:a16="http://schemas.microsoft.com/office/drawing/2014/main" id="{6EB3A103-CEB9-474F-B82E-86799D4B97B8}"/>
              </a:ext>
            </a:extLst>
          </p:cNvPr>
          <p:cNvGraphicFramePr>
            <a:graphicFrameLocks/>
          </p:cNvGraphicFramePr>
          <p:nvPr>
            <p:extLst>
              <p:ext uri="{D42A27DB-BD31-4B8C-83A1-F6EECF244321}">
                <p14:modId xmlns:p14="http://schemas.microsoft.com/office/powerpoint/2010/main" val="3821198894"/>
              </p:ext>
            </p:extLst>
          </p:nvPr>
        </p:nvGraphicFramePr>
        <p:xfrm>
          <a:off x="402011" y="2642518"/>
          <a:ext cx="7204135" cy="3266609"/>
        </p:xfrm>
        <a:graphic>
          <a:graphicData uri="http://schemas.openxmlformats.org/drawingml/2006/table">
            <a:tbl>
              <a:tblPr/>
              <a:tblGrid>
                <a:gridCol w="2950791">
                  <a:extLst>
                    <a:ext uri="{9D8B030D-6E8A-4147-A177-3AD203B41FA5}">
                      <a16:colId xmlns:a16="http://schemas.microsoft.com/office/drawing/2014/main" val="20000"/>
                    </a:ext>
                  </a:extLst>
                </a:gridCol>
                <a:gridCol w="4253344">
                  <a:extLst>
                    <a:ext uri="{9D8B030D-6E8A-4147-A177-3AD203B41FA5}">
                      <a16:colId xmlns:a16="http://schemas.microsoft.com/office/drawing/2014/main" val="20001"/>
                    </a:ext>
                  </a:extLst>
                </a:gridCol>
              </a:tblGrid>
              <a:tr h="507305">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1" i="0" u="none" strike="noStrike" kern="1200" cap="none" normalizeH="0" baseline="0" dirty="0">
                          <a:ln>
                            <a:noFill/>
                          </a:ln>
                          <a:solidFill>
                            <a:schemeClr val="bg1"/>
                          </a:solidFill>
                          <a:effectLst/>
                          <a:latin typeface="IBM Plex Sans" panose="020B0503050000000000" pitchFamily="34" charset="77"/>
                          <a:ea typeface="Arial" charset="0"/>
                          <a:cs typeface="Arial" charset="0"/>
                        </a:rPr>
                        <a:t>Resources</a:t>
                      </a:r>
                    </a:p>
                  </a:txBody>
                  <a:tcPr marL="121920" marR="0" marT="60960" marB="609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61FD"/>
                    </a:solid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1" i="0" u="none" strike="noStrike" cap="none" normalizeH="0" baseline="0" dirty="0">
                          <a:ln>
                            <a:noFill/>
                          </a:ln>
                          <a:solidFill>
                            <a:schemeClr val="bg1"/>
                          </a:solidFill>
                          <a:effectLst/>
                          <a:latin typeface="IBM Plex Sans" panose="020B0503050000000000" pitchFamily="34" charset="77"/>
                          <a:ea typeface="Arial" charset="0"/>
                          <a:cs typeface="Arial" charset="0"/>
                        </a:rPr>
                        <a:t>Choices to make</a:t>
                      </a:r>
                    </a:p>
                  </a:txBody>
                  <a:tcPr marL="121920" marR="0" marT="60960" marB="609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6EA6FF"/>
                    </a:solidFill>
                  </a:tcPr>
                </a:tc>
                <a:extLst>
                  <a:ext uri="{0D108BD9-81ED-4DB2-BD59-A6C34878D82A}">
                    <a16:rowId xmlns:a16="http://schemas.microsoft.com/office/drawing/2014/main" val="10000"/>
                  </a:ext>
                </a:extLst>
              </a:tr>
              <a:tr h="459884">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0" i="0" u="none" strike="noStrike" kern="1200" cap="none" normalizeH="0" baseline="0" dirty="0">
                          <a:ln>
                            <a:noFill/>
                          </a:ln>
                          <a:solidFill>
                            <a:srgbClr val="FFFFFF"/>
                          </a:solidFill>
                          <a:effectLst/>
                          <a:latin typeface="IBM Plex Sans" panose="020B0503050000000000" pitchFamily="34" charset="77"/>
                          <a:ea typeface="Arial" charset="0"/>
                          <a:cs typeface="Arial" charset="0"/>
                        </a:rPr>
                        <a:t>Capital</a:t>
                      </a:r>
                    </a:p>
                  </a:txBody>
                  <a:tcPr marL="121920" marR="0" marT="60960" marB="60960" horzOverflow="overflow">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0" i="0" u="none" strike="noStrike" cap="none" normalizeH="0" baseline="0" dirty="0">
                          <a:ln>
                            <a:noFill/>
                          </a:ln>
                          <a:solidFill>
                            <a:srgbClr val="FFFFFF"/>
                          </a:solidFill>
                          <a:effectLst/>
                          <a:latin typeface="IBM Plex Sans" panose="020B0503050000000000" pitchFamily="34" charset="77"/>
                          <a:ea typeface="Arial" charset="0"/>
                          <a:cs typeface="Arial" charset="0"/>
                        </a:rPr>
                        <a:t>Invest, allocate</a:t>
                      </a:r>
                    </a:p>
                  </a:txBody>
                  <a:tcPr marL="121920" marR="0" marT="60960" marB="60960"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884">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0" i="0" u="none" strike="noStrike" kern="1200" cap="none" normalizeH="0" baseline="0" dirty="0">
                          <a:ln>
                            <a:noFill/>
                          </a:ln>
                          <a:solidFill>
                            <a:srgbClr val="FFFFFF"/>
                          </a:solidFill>
                          <a:effectLst/>
                          <a:latin typeface="IBM Plex Sans" panose="020B0503050000000000" pitchFamily="34" charset="77"/>
                          <a:ea typeface="Arial" charset="0"/>
                          <a:cs typeface="Arial" charset="0"/>
                        </a:rPr>
                        <a:t>People</a:t>
                      </a:r>
                    </a:p>
                  </a:txBody>
                  <a:tcPr marL="121920" marR="0" marT="60960" marB="60960" horzOverflow="overflow">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0" i="0" u="none" strike="noStrike" cap="none" normalizeH="0" baseline="0" dirty="0">
                          <a:ln>
                            <a:noFill/>
                          </a:ln>
                          <a:solidFill>
                            <a:srgbClr val="FFFFFF"/>
                          </a:solidFill>
                          <a:effectLst/>
                          <a:latin typeface="IBM Plex Sans" panose="020B0503050000000000" pitchFamily="34" charset="77"/>
                          <a:ea typeface="Arial" charset="0"/>
                          <a:cs typeface="Arial" charset="0"/>
                        </a:rPr>
                        <a:t>Hire, assign, schedule</a:t>
                      </a:r>
                    </a:p>
                  </a:txBody>
                  <a:tcPr marL="121920" marR="0" marT="60960" marB="60960"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884">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0" i="0" u="none" strike="noStrike" kern="1200" cap="none" normalizeH="0" baseline="0" dirty="0">
                          <a:ln>
                            <a:noFill/>
                          </a:ln>
                          <a:solidFill>
                            <a:srgbClr val="FFFFFF"/>
                          </a:solidFill>
                          <a:effectLst/>
                          <a:latin typeface="IBM Plex Sans" panose="020B0503050000000000" pitchFamily="34" charset="77"/>
                          <a:ea typeface="Arial" charset="0"/>
                          <a:cs typeface="Arial" charset="0"/>
                        </a:rPr>
                        <a:t>Equipment</a:t>
                      </a:r>
                    </a:p>
                  </a:txBody>
                  <a:tcPr marL="121920" marR="0" marT="60960" marB="60960" horzOverflow="overflow">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0" i="0" u="none" strike="noStrike" cap="none" normalizeH="0" baseline="0" dirty="0">
                          <a:ln>
                            <a:noFill/>
                          </a:ln>
                          <a:solidFill>
                            <a:srgbClr val="FFFFFF"/>
                          </a:solidFill>
                          <a:effectLst/>
                          <a:latin typeface="IBM Plex Sans" panose="020B0503050000000000" pitchFamily="34" charset="77"/>
                          <a:ea typeface="Arial" charset="0"/>
                          <a:cs typeface="Arial" charset="0"/>
                        </a:rPr>
                        <a:t>Acquire, schedule, locate</a:t>
                      </a:r>
                    </a:p>
                  </a:txBody>
                  <a:tcPr marL="121920" marR="0" marT="60960" marB="60960"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884">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0" i="0" u="none" strike="noStrike" kern="1200" cap="none" normalizeH="0" baseline="0" dirty="0">
                          <a:ln>
                            <a:noFill/>
                          </a:ln>
                          <a:solidFill>
                            <a:srgbClr val="FFFFFF"/>
                          </a:solidFill>
                          <a:effectLst/>
                          <a:latin typeface="IBM Plex Sans" panose="020B0503050000000000" pitchFamily="34" charset="77"/>
                          <a:ea typeface="Arial" charset="0"/>
                          <a:cs typeface="Arial" charset="0"/>
                        </a:rPr>
                        <a:t>Facilities</a:t>
                      </a:r>
                    </a:p>
                  </a:txBody>
                  <a:tcPr marL="121920" marR="0" marT="60960" marB="60960" horzOverflow="overflow">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0" i="0" u="none" strike="noStrike" cap="none" normalizeH="0" baseline="0" dirty="0">
                          <a:ln>
                            <a:noFill/>
                          </a:ln>
                          <a:solidFill>
                            <a:srgbClr val="FFFFFF"/>
                          </a:solidFill>
                          <a:effectLst/>
                          <a:latin typeface="IBM Plex Sans" panose="020B0503050000000000" pitchFamily="34" charset="77"/>
                          <a:ea typeface="Arial" charset="0"/>
                          <a:cs typeface="Arial" charset="0"/>
                        </a:rPr>
                        <a:t>Locate, size, schedule, maintain</a:t>
                      </a:r>
                    </a:p>
                  </a:txBody>
                  <a:tcPr marL="121920" marR="0" marT="60960" marB="60960"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9884">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0" i="0" u="none" strike="noStrike" kern="1200" cap="none" normalizeH="0" baseline="0" dirty="0">
                          <a:ln>
                            <a:noFill/>
                          </a:ln>
                          <a:solidFill>
                            <a:srgbClr val="FFFFFF"/>
                          </a:solidFill>
                          <a:effectLst/>
                          <a:latin typeface="IBM Plex Sans" panose="020B0503050000000000" pitchFamily="34" charset="77"/>
                          <a:ea typeface="Arial" charset="0"/>
                          <a:cs typeface="Arial" charset="0"/>
                        </a:rPr>
                        <a:t>Vehicles</a:t>
                      </a:r>
                    </a:p>
                  </a:txBody>
                  <a:tcPr marL="121920" marR="0" marT="60960" marB="60960" horzOverflow="overflow">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0" i="0" u="none" strike="noStrike" cap="none" normalizeH="0" baseline="0" dirty="0">
                          <a:ln>
                            <a:noFill/>
                          </a:ln>
                          <a:solidFill>
                            <a:srgbClr val="FFFFFF"/>
                          </a:solidFill>
                          <a:effectLst/>
                          <a:latin typeface="IBM Plex Sans" panose="020B0503050000000000" pitchFamily="34" charset="77"/>
                          <a:ea typeface="Arial" charset="0"/>
                          <a:cs typeface="Arial" charset="0"/>
                        </a:rPr>
                        <a:t>Acquire, route, schedule, deliver, maintain</a:t>
                      </a:r>
                    </a:p>
                  </a:txBody>
                  <a:tcPr marL="121920" marR="0" marT="60960" marB="60960"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6350" cap="flat" cmpd="sng" algn="ctr">
                      <a:solidFill>
                        <a:srgbClr val="56565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9884">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457200" rtl="0" eaLnBrk="1" fontAlgn="b" latinLnBrk="0" hangingPunct="1">
                        <a:lnSpc>
                          <a:spcPct val="100000"/>
                        </a:lnSpc>
                        <a:spcBef>
                          <a:spcPct val="0"/>
                        </a:spcBef>
                        <a:spcAft>
                          <a:spcPct val="0"/>
                        </a:spcAft>
                        <a:buClrTx/>
                        <a:buSzTx/>
                        <a:buFontTx/>
                        <a:buNone/>
                        <a:tabLst/>
                      </a:pPr>
                      <a:r>
                        <a:rPr kumimoji="0" lang="en-US" altLang="en-US" sz="1500" b="0" i="0" u="none" strike="noStrike" kern="1200" cap="none" normalizeH="0" baseline="0" dirty="0">
                          <a:ln>
                            <a:noFill/>
                          </a:ln>
                          <a:solidFill>
                            <a:srgbClr val="FFFFFF"/>
                          </a:solidFill>
                          <a:effectLst/>
                          <a:latin typeface="IBM Plex Sans" panose="020B0503050000000000" pitchFamily="34" charset="77"/>
                          <a:ea typeface="Arial" charset="0"/>
                          <a:cs typeface="Arial" charset="0"/>
                        </a:rPr>
                        <a:t>Materials and products</a:t>
                      </a:r>
                    </a:p>
                  </a:txBody>
                  <a:tcPr marL="121920" marR="0" marT="60960" marB="60960" horzOverflow="overflow">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defRPr>
                      </a:lvl1pPr>
                      <a:lvl2pPr marL="742950" indent="-285750" algn="l" eaLnBrk="0" hangingPunct="0">
                        <a:spcBef>
                          <a:spcPct val="20000"/>
                        </a:spcBef>
                        <a:buClr>
                          <a:schemeClr val="tx1"/>
                        </a:buClr>
                        <a:buFont typeface="Arial" panose="020B0604020202020204" pitchFamily="34" charset="0"/>
                        <a:defRPr sz="1400">
                          <a:solidFill>
                            <a:schemeClr val="tx1"/>
                          </a:solidFill>
                          <a:latin typeface="Arial" panose="020B0604020202020204" pitchFamily="34" charset="0"/>
                        </a:defRPr>
                      </a:lvl2pPr>
                      <a:lvl3pPr marL="1143000" indent="-228600" algn="l" eaLnBrk="0" hangingPunct="0">
                        <a:spcBef>
                          <a:spcPct val="20000"/>
                        </a:spcBef>
                        <a:buClr>
                          <a:schemeClr val="tx1"/>
                        </a:buClr>
                        <a:defRPr sz="1400">
                          <a:solidFill>
                            <a:schemeClr val="tx1"/>
                          </a:solidFill>
                          <a:latin typeface="Arial" panose="020B0604020202020204" pitchFamily="34" charset="0"/>
                        </a:defRPr>
                      </a:lvl3pPr>
                      <a:lvl4pPr marL="1600200" indent="-228600" algn="l" eaLnBrk="0" hangingPunct="0">
                        <a:spcBef>
                          <a:spcPct val="20000"/>
                        </a:spcBef>
                        <a:buClr>
                          <a:schemeClr val="bg1"/>
                        </a:buClr>
                        <a:defRPr sz="1400">
                          <a:solidFill>
                            <a:schemeClr val="bg1"/>
                          </a:solidFill>
                          <a:latin typeface="Arial" panose="020B0604020202020204" pitchFamily="34" charset="0"/>
                        </a:defRPr>
                      </a:lvl4pPr>
                      <a:lvl5pPr marL="2057400" indent="-228600" algn="l" eaLnBrk="0" hangingPunct="0">
                        <a:spcBef>
                          <a:spcPct val="20000"/>
                        </a:spcBef>
                        <a:buClr>
                          <a:schemeClr val="bg1"/>
                        </a:buClr>
                        <a:defRPr sz="1400">
                          <a:solidFill>
                            <a:schemeClr val="bg1"/>
                          </a:solidFill>
                          <a:latin typeface="Arial" panose="020B0604020202020204" pitchFamily="34" charset="0"/>
                        </a:defRPr>
                      </a:lvl5pPr>
                      <a:lvl6pPr marL="25146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6pPr>
                      <a:lvl7pPr marL="29718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7pPr>
                      <a:lvl8pPr marL="34290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8pPr>
                      <a:lvl9pPr marL="3886200" indent="-228600" eaLnBrk="0" fontAlgn="base" hangingPunct="0">
                        <a:spcBef>
                          <a:spcPct val="20000"/>
                        </a:spcBef>
                        <a:spcAft>
                          <a:spcPct val="0"/>
                        </a:spcAft>
                        <a:buClr>
                          <a:schemeClr val="bg1"/>
                        </a:buClr>
                        <a:defRPr sz="1400">
                          <a:solidFill>
                            <a:schemeClr val="bg1"/>
                          </a:solidFill>
                          <a:latin typeface="Arial" panose="020B0604020202020204" pitchFamily="34" charset="0"/>
                        </a:defRPr>
                      </a:lvl9pPr>
                    </a:lstStyle>
                    <a:p>
                      <a:pPr marL="0" marR="0" lvl="0" indent="0" algn="l" defTabSz="914400" rtl="0" eaLnBrk="0" fontAlgn="b" latinLnBrk="0" hangingPunct="0">
                        <a:lnSpc>
                          <a:spcPct val="100000"/>
                        </a:lnSpc>
                        <a:spcBef>
                          <a:spcPct val="20000"/>
                        </a:spcBef>
                        <a:spcAft>
                          <a:spcPct val="0"/>
                        </a:spcAft>
                        <a:buClr>
                          <a:schemeClr val="tx1"/>
                        </a:buClr>
                        <a:buSzTx/>
                        <a:buFontTx/>
                        <a:buNone/>
                        <a:tabLst/>
                      </a:pPr>
                      <a:r>
                        <a:rPr kumimoji="0" lang="en-US" altLang="en-US" sz="1500" b="0" i="0" u="none" strike="noStrike" cap="none" normalizeH="0" baseline="0" dirty="0">
                          <a:ln>
                            <a:noFill/>
                          </a:ln>
                          <a:solidFill>
                            <a:srgbClr val="FFFFFF"/>
                          </a:solidFill>
                          <a:effectLst/>
                          <a:latin typeface="IBM Plex Sans" panose="020B0503050000000000" pitchFamily="34" charset="77"/>
                          <a:ea typeface="Arial" charset="0"/>
                          <a:cs typeface="Arial" charset="0"/>
                        </a:rPr>
                        <a:t>Acquire, allocate, produce, deliver, maintain</a:t>
                      </a:r>
                    </a:p>
                  </a:txBody>
                  <a:tcPr marL="121920" marR="0" marT="60960" marB="60960"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65656"/>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46411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304889" y="136525"/>
            <a:ext cx="8561531" cy="1072896"/>
          </a:xfrm>
        </p:spPr>
        <p:txBody>
          <a:bodyPr>
            <a:normAutofit fontScale="90000"/>
          </a:bodyPr>
          <a:lstStyle/>
          <a:p>
            <a:r>
              <a:rPr lang="en-US" dirty="0">
                <a:solidFill>
                  <a:srgbClr val="FFFFFF"/>
                </a:solidFill>
              </a:rPr>
              <a:t>Delivering massive return on investment</a:t>
            </a: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10</a:t>
            </a:fld>
            <a:endParaRPr lang="en-US" dirty="0"/>
          </a:p>
        </p:txBody>
      </p:sp>
      <p:graphicFrame>
        <p:nvGraphicFramePr>
          <p:cNvPr id="5" name="Group 3">
            <a:extLst>
              <a:ext uri="{FF2B5EF4-FFF2-40B4-BE49-F238E27FC236}">
                <a16:creationId xmlns:a16="http://schemas.microsoft.com/office/drawing/2014/main" id="{255DABC6-8C8A-1341-8D87-2D4DB8BCAEDF}"/>
              </a:ext>
            </a:extLst>
          </p:cNvPr>
          <p:cNvGraphicFramePr>
            <a:graphicFrameLocks/>
          </p:cNvGraphicFramePr>
          <p:nvPr>
            <p:extLst>
              <p:ext uri="{D42A27DB-BD31-4B8C-83A1-F6EECF244321}">
                <p14:modId xmlns:p14="http://schemas.microsoft.com/office/powerpoint/2010/main" val="1042199700"/>
              </p:ext>
            </p:extLst>
          </p:nvPr>
        </p:nvGraphicFramePr>
        <p:xfrm>
          <a:off x="304889" y="1297587"/>
          <a:ext cx="10085860" cy="4653493"/>
        </p:xfrm>
        <a:graphic>
          <a:graphicData uri="http://schemas.openxmlformats.org/drawingml/2006/table">
            <a:tbl>
              <a:tblPr/>
              <a:tblGrid>
                <a:gridCol w="3047912">
                  <a:extLst>
                    <a:ext uri="{9D8B030D-6E8A-4147-A177-3AD203B41FA5}">
                      <a16:colId xmlns:a16="http://schemas.microsoft.com/office/drawing/2014/main" val="20000"/>
                    </a:ext>
                  </a:extLst>
                </a:gridCol>
                <a:gridCol w="3061855">
                  <a:extLst>
                    <a:ext uri="{9D8B030D-6E8A-4147-A177-3AD203B41FA5}">
                      <a16:colId xmlns:a16="http://schemas.microsoft.com/office/drawing/2014/main" val="20001"/>
                    </a:ext>
                  </a:extLst>
                </a:gridCol>
                <a:gridCol w="3976093">
                  <a:extLst>
                    <a:ext uri="{9D8B030D-6E8A-4147-A177-3AD203B41FA5}">
                      <a16:colId xmlns:a16="http://schemas.microsoft.com/office/drawing/2014/main" val="20002"/>
                    </a:ext>
                  </a:extLst>
                </a:gridCol>
              </a:tblGrid>
              <a:tr h="55560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Chilean forestry companies (two examples)</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Timber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harvesting</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$20M/year + 30% fewer trucks</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extLst>
                  <a:ext uri="{0D108BD9-81ED-4DB2-BD59-A6C34878D82A}">
                    <a16:rowId xmlns:a16="http://schemas.microsoft.com/office/drawing/2014/main" val="10000"/>
                  </a:ext>
                </a:extLst>
              </a:tr>
              <a:tr h="47836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UPS</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Air network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design</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$40M/year + 10% fewer planes</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0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South African National Defence Forces</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Force and equipment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planning</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$1.1B/year</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extLst>
                  <a:ext uri="{0D108BD9-81ED-4DB2-BD59-A6C34878D82A}">
                    <a16:rowId xmlns:a16="http://schemas.microsoft.com/office/drawing/2014/main" val="10002"/>
                  </a:ext>
                </a:extLst>
              </a:tr>
              <a:tr h="47836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Motorola</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Procurement</a:t>
                      </a: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 management</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$100M–150M/year</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836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Samsung Electronics</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Semiconductor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manufacturing</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50% reduction in cycle times</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extLst>
                  <a:ext uri="{0D108BD9-81ED-4DB2-BD59-A6C34878D82A}">
                    <a16:rowId xmlns:a16="http://schemas.microsoft.com/office/drawing/2014/main" val="10004"/>
                  </a:ext>
                </a:extLst>
              </a:tr>
              <a:tr h="55560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SNCF (French rail network)</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Scheduling</a:t>
                      </a: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 and pricing</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$16M/year rev + 2% lower operating expense</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836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Continental Airlines</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Crew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rescheduling</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$40M/year</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solidFill>
                      <a:srgbClr val="3D3D3D"/>
                    </a:solidFill>
                  </a:tcPr>
                </a:tc>
                <a:extLst>
                  <a:ext uri="{0D108BD9-81ED-4DB2-BD59-A6C34878D82A}">
                    <a16:rowId xmlns:a16="http://schemas.microsoft.com/office/drawing/2014/main" val="10006"/>
                  </a:ext>
                </a:extLst>
              </a:tr>
              <a:tr h="47836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AT&amp;T</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Network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recovery</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35% reduction spare capacity</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55601">
                <a:tc>
                  <a:txBody>
                    <a:bodyPr/>
                    <a:lstStyle/>
                    <a:p>
                      <a:pPr marL="0" marR="0" lvl="0" indent="0" algn="l" defTabSz="914400" rtl="0" eaLnBrk="0" fontAlgn="base" latinLnBrk="0" hangingPunct="0">
                        <a:lnSpc>
                          <a:spcPct val="97000"/>
                        </a:lnSpc>
                        <a:spcBef>
                          <a:spcPct val="20000"/>
                        </a:spcBef>
                        <a:spcAft>
                          <a:spcPct val="0"/>
                        </a:spcAft>
                        <a:buClr>
                          <a:srgbClr val="FFFFFF"/>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Grantham, Mayo, </a:t>
                      </a:r>
                      <a:b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br>
                      <a:r>
                        <a:rPr kumimoji="0" lang="en-GB" sz="1500" b="1" i="0" u="none" strike="noStrike" cap="none" normalizeH="0" baseline="0" dirty="0">
                          <a:ln>
                            <a:noFill/>
                          </a:ln>
                          <a:solidFill>
                            <a:srgbClr val="6EA6FF"/>
                          </a:solidFill>
                          <a:effectLst/>
                          <a:latin typeface="IBM Plex Sans" panose="020B0503050000000000" pitchFamily="34" charset="77"/>
                          <a:cs typeface="Arial" pitchFamily="34" charset="0"/>
                        </a:rPr>
                        <a:t>Van Otterloo &amp; Co. (GMO)</a:t>
                      </a:r>
                    </a:p>
                  </a:txBody>
                  <a:tcPr marL="126553" marR="126553" marT="60969" marB="60969" anchor="ctr" horzOverflow="overflow">
                    <a:lnL w="6350" cap="flat" cmpd="sng" algn="ctr">
                      <a:no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Portfolio </a:t>
                      </a:r>
                      <a:r>
                        <a:rPr kumimoji="0" lang="en-GB" sz="1500" b="1" i="0" u="none" strike="noStrike" cap="none" normalizeH="0" baseline="0" dirty="0">
                          <a:ln>
                            <a:noFill/>
                          </a:ln>
                          <a:solidFill>
                            <a:schemeClr val="bg1"/>
                          </a:solidFill>
                          <a:effectLst/>
                          <a:latin typeface="IBM Plex Sans" panose="020B0503050000000000" pitchFamily="34" charset="77"/>
                          <a:cs typeface="Arial" pitchFamily="34" charset="0"/>
                        </a:rPr>
                        <a:t>optimization</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solidFill>
                        <a:srgbClr val="6F6F6F"/>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3D3D3D"/>
                    </a:solidFill>
                  </a:tcPr>
                </a:tc>
                <a:tc>
                  <a:txBody>
                    <a:bodyPr/>
                    <a:lstStyle/>
                    <a:p>
                      <a:pPr marL="0" marR="0" lvl="0" indent="0" algn="l" defTabSz="914400" rtl="0" eaLnBrk="0" fontAlgn="base" latinLnBrk="0" hangingPunct="0">
                        <a:lnSpc>
                          <a:spcPct val="97000"/>
                        </a:lnSpc>
                        <a:spcBef>
                          <a:spcPct val="20000"/>
                        </a:spcBef>
                        <a:spcAft>
                          <a:spcPct val="0"/>
                        </a:spcAft>
                        <a:buClr>
                          <a:schemeClr val="folHlink"/>
                        </a:buClr>
                        <a:buSzTx/>
                        <a:buFont typeface="Wingdings" pitchFamily="2"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GB" sz="1500" b="0" i="0" u="none" strike="noStrike" cap="none" normalizeH="0" baseline="0" dirty="0">
                          <a:ln>
                            <a:noFill/>
                          </a:ln>
                          <a:solidFill>
                            <a:schemeClr val="bg1"/>
                          </a:solidFill>
                          <a:effectLst/>
                          <a:latin typeface="IBM Plex Sans" panose="020B0503050000000000" pitchFamily="34" charset="77"/>
                          <a:cs typeface="Arial" pitchFamily="34" charset="0"/>
                        </a:rPr>
                        <a:t>$4M/year</a:t>
                      </a:r>
                    </a:p>
                  </a:txBody>
                  <a:tcPr marL="126553" marR="126553" marT="60969" marB="60969" anchor="ctr" horzOverflow="overflow">
                    <a:lnL w="6350" cap="flat" cmpd="sng" algn="ctr">
                      <a:solidFill>
                        <a:srgbClr val="6F6F6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3D3D3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32394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F6A-367A-D142-A239-6C771F12A84B}"/>
              </a:ext>
            </a:extLst>
          </p:cNvPr>
          <p:cNvSpPr>
            <a:spLocks noGrp="1"/>
          </p:cNvSpPr>
          <p:nvPr>
            <p:ph type="title"/>
          </p:nvPr>
        </p:nvSpPr>
        <p:spPr>
          <a:xfrm>
            <a:off x="280416" y="268224"/>
            <a:ext cx="5815584" cy="1072896"/>
          </a:xfrm>
        </p:spPr>
        <p:txBody>
          <a:bodyPr>
            <a:normAutofit fontScale="90000"/>
          </a:bodyPr>
          <a:lstStyle/>
          <a:p>
            <a:r>
              <a:rPr lang="en-US" dirty="0"/>
              <a:t>Decision Optimization features</a:t>
            </a:r>
            <a:br>
              <a:rPr lang="en-US" dirty="0"/>
            </a:br>
            <a:r>
              <a:rPr lang="en-US" sz="2400" dirty="0"/>
              <a:t>Not found in standalone</a:t>
            </a:r>
            <a:br>
              <a:rPr lang="en-US" dirty="0"/>
            </a:br>
            <a:br>
              <a:rPr lang="en-US" dirty="0"/>
            </a:br>
            <a:endParaRPr lang="en-US" dirty="0"/>
          </a:p>
        </p:txBody>
      </p:sp>
      <p:sp>
        <p:nvSpPr>
          <p:cNvPr id="3" name="Footer Placeholder 2">
            <a:extLst>
              <a:ext uri="{FF2B5EF4-FFF2-40B4-BE49-F238E27FC236}">
                <a16:creationId xmlns:a16="http://schemas.microsoft.com/office/drawing/2014/main" id="{0EB615D0-5A98-B34D-AEBC-7DC7C6E46F91}"/>
              </a:ext>
            </a:extLst>
          </p:cNvPr>
          <p:cNvSpPr>
            <a:spLocks noGrp="1"/>
          </p:cNvSpPr>
          <p:nvPr>
            <p:ph type="ftr" sz="quarter" idx="10"/>
          </p:nvPr>
        </p:nvSpPr>
        <p:spPr/>
        <p:txBody>
          <a:bodyPr/>
          <a:lstStyle/>
          <a:p>
            <a:r>
              <a:rPr lang="en-US"/>
              <a:t>© 2020 IBM Corporation</a:t>
            </a:r>
            <a:endParaRPr lang="en-US" dirty="0"/>
          </a:p>
        </p:txBody>
      </p:sp>
      <p:sp>
        <p:nvSpPr>
          <p:cNvPr id="4" name="Slide Number Placeholder 3">
            <a:extLst>
              <a:ext uri="{FF2B5EF4-FFF2-40B4-BE49-F238E27FC236}">
                <a16:creationId xmlns:a16="http://schemas.microsoft.com/office/drawing/2014/main" id="{54E043C5-C7B3-D343-8DA8-7D7B2DEC122F}"/>
              </a:ext>
            </a:extLst>
          </p:cNvPr>
          <p:cNvSpPr>
            <a:spLocks noGrp="1"/>
          </p:cNvSpPr>
          <p:nvPr>
            <p:ph type="sldNum" sz="quarter" idx="11"/>
          </p:nvPr>
        </p:nvSpPr>
        <p:spPr/>
        <p:txBody>
          <a:bodyPr/>
          <a:lstStyle/>
          <a:p>
            <a:fld id="{59395FB3-9C97-154F-86B2-7E381B951268}" type="slidenum">
              <a:rPr lang="en-US" smtClean="0"/>
              <a:pPr/>
              <a:t>11</a:t>
            </a:fld>
            <a:endParaRPr lang="en-US" dirty="0"/>
          </a:p>
        </p:txBody>
      </p:sp>
      <p:sp>
        <p:nvSpPr>
          <p:cNvPr id="6" name="Text Placeholder 7">
            <a:extLst>
              <a:ext uri="{FF2B5EF4-FFF2-40B4-BE49-F238E27FC236}">
                <a16:creationId xmlns:a16="http://schemas.microsoft.com/office/drawing/2014/main" id="{1E25CAAE-AEE8-1043-B052-22D432AC8ACE}"/>
              </a:ext>
            </a:extLst>
          </p:cNvPr>
          <p:cNvSpPr txBox="1">
            <a:spLocks/>
          </p:cNvSpPr>
          <p:nvPr/>
        </p:nvSpPr>
        <p:spPr>
          <a:xfrm>
            <a:off x="305489" y="5108006"/>
            <a:ext cx="4280843" cy="664756"/>
          </a:xfrm>
          <a:prstGeom prst="rect">
            <a:avLst/>
          </a:prstGeom>
        </p:spPr>
        <p:txBody>
          <a:bodyPr vert="horz" lIns="0" tIns="0" rIns="0" bIns="0" rtlCol="0" anchor="t">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defTabSz="1219140"/>
            <a:r>
              <a:rPr lang="en-US" sz="1600" dirty="0">
                <a:solidFill>
                  <a:srgbClr val="FFFFFF"/>
                </a:solidFill>
              </a:rPr>
              <a:t>Use natural language to build your optimization model with no coding.</a:t>
            </a:r>
            <a:endParaRPr lang="en-US" kern="0" dirty="0">
              <a:solidFill>
                <a:srgbClr val="FFFFFF"/>
              </a:solidFill>
              <a:latin typeface="IBM Plex Sans Light" panose="020B0403050203000203" pitchFamily="34" charset="0"/>
              <a:ea typeface="+mn-ea"/>
              <a:cs typeface="+mn-cs"/>
            </a:endParaRPr>
          </a:p>
          <a:p>
            <a:endParaRPr lang="en-US" kern="0" dirty="0">
              <a:solidFill>
                <a:srgbClr val="FFFFFF"/>
              </a:solidFill>
              <a:latin typeface="IBM Plex Sans Light" panose="020B0403050203000203" pitchFamily="34" charset="0"/>
              <a:ea typeface="+mn-ea"/>
              <a:cs typeface="+mn-cs"/>
            </a:endParaRPr>
          </a:p>
          <a:p>
            <a:pPr marL="171446" indent="-171446">
              <a:buFont typeface="Arial" panose="020B0604020202020204" pitchFamily="34" charset="0"/>
              <a:buChar char="•"/>
            </a:pPr>
            <a:endParaRPr lang="en-US" kern="0" dirty="0">
              <a:solidFill>
                <a:srgbClr val="FFFFFF"/>
              </a:solidFill>
              <a:latin typeface="IBM Plex Sans Light" panose="020B0403050203000203" pitchFamily="34" charset="0"/>
              <a:ea typeface="+mn-ea"/>
              <a:cs typeface="+mn-cs"/>
            </a:endParaRPr>
          </a:p>
          <a:p>
            <a:pPr marL="171446" indent="-171446">
              <a:buFont typeface="Arial" panose="020B0604020202020204" pitchFamily="34" charset="0"/>
              <a:buChar char="•"/>
            </a:pPr>
            <a:endParaRPr lang="en-US" kern="0" dirty="0">
              <a:solidFill>
                <a:srgbClr val="FFFFFF"/>
              </a:solidFill>
              <a:latin typeface="IBM Plex Sans Light" panose="020B0403050203000203" pitchFamily="34" charset="0"/>
              <a:ea typeface="+mn-ea"/>
              <a:cs typeface="+mn-cs"/>
            </a:endParaRPr>
          </a:p>
          <a:p>
            <a:pPr marL="171446" indent="-171446">
              <a:buFont typeface="Arial" panose="020B0604020202020204" pitchFamily="34" charset="0"/>
              <a:buChar char="•"/>
            </a:pPr>
            <a:endParaRPr lang="en-US" kern="0" dirty="0">
              <a:solidFill>
                <a:srgbClr val="FFFFFF"/>
              </a:solidFill>
              <a:latin typeface="IBM Plex Sans Light" panose="020B0403050203000203" pitchFamily="34" charset="0"/>
              <a:ea typeface="+mn-ea"/>
              <a:cs typeface="+mn-cs"/>
            </a:endParaRPr>
          </a:p>
          <a:p>
            <a:pPr marL="171446" indent="-171446">
              <a:buFont typeface="Arial" panose="020B0604020202020204" pitchFamily="34" charset="0"/>
              <a:buChar char="•"/>
            </a:pPr>
            <a:endParaRPr lang="en-US" kern="0" dirty="0">
              <a:solidFill>
                <a:srgbClr val="FFFFFF"/>
              </a:solidFill>
              <a:latin typeface="IBM Plex Sans Light" panose="020B0403050203000203" pitchFamily="34" charset="0"/>
              <a:ea typeface="+mn-ea"/>
              <a:cs typeface="+mn-cs"/>
            </a:endParaRPr>
          </a:p>
          <a:p>
            <a:pPr marL="171446" indent="-171446">
              <a:buFont typeface="Arial" panose="020B0604020202020204" pitchFamily="34" charset="0"/>
              <a:buChar char="•"/>
            </a:pPr>
            <a:endParaRPr lang="en-US" sz="1100" kern="0" dirty="0">
              <a:solidFill>
                <a:srgbClr val="FFFFFF"/>
              </a:solidFill>
              <a:latin typeface="IBM Plex Sans Light" panose="020B0403050203000203" pitchFamily="34" charset="0"/>
            </a:endParaRPr>
          </a:p>
        </p:txBody>
      </p:sp>
      <p:sp>
        <p:nvSpPr>
          <p:cNvPr id="7" name="Text Placeholder 7">
            <a:extLst>
              <a:ext uri="{FF2B5EF4-FFF2-40B4-BE49-F238E27FC236}">
                <a16:creationId xmlns:a16="http://schemas.microsoft.com/office/drawing/2014/main" id="{520E8C04-332B-BF48-83C9-A6F7A98931D4}"/>
              </a:ext>
            </a:extLst>
          </p:cNvPr>
          <p:cNvSpPr txBox="1">
            <a:spLocks/>
          </p:cNvSpPr>
          <p:nvPr/>
        </p:nvSpPr>
        <p:spPr>
          <a:xfrm>
            <a:off x="6389053" y="5108006"/>
            <a:ext cx="5308923" cy="1193925"/>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defTabSz="1219140"/>
            <a:r>
              <a:rPr lang="en-US" sz="1600" dirty="0">
                <a:solidFill>
                  <a:srgbClr val="FFFFFF"/>
                </a:solidFill>
              </a:rPr>
              <a:t>Model builder is a modern and intuitive development experience that includes visualization and scenario management.</a:t>
            </a:r>
          </a:p>
          <a:p>
            <a:pPr marL="285744" indent="-285744" defTabSz="1219140">
              <a:buFont typeface="Arial" panose="020B0604020202020204" pitchFamily="34" charset="0"/>
              <a:buChar char="•"/>
            </a:pPr>
            <a:endParaRPr lang="en-US" sz="1600" dirty="0">
              <a:solidFill>
                <a:srgbClr val="FFFFFF"/>
              </a:solidFill>
            </a:endParaRPr>
          </a:p>
          <a:p>
            <a:pPr marL="171446" indent="-171446">
              <a:buFont typeface="Arial" panose="020B0604020202020204" pitchFamily="34" charset="0"/>
              <a:buChar char="•"/>
            </a:pPr>
            <a:endParaRPr lang="en-US" sz="1200" i="1" kern="0" dirty="0">
              <a:solidFill>
                <a:srgbClr val="8A3FFC"/>
              </a:solidFill>
              <a:latin typeface="IBM Plex Sans Light" panose="020B0403050203000203" pitchFamily="34" charset="0"/>
            </a:endParaRPr>
          </a:p>
          <a:p>
            <a:pPr marL="171446" indent="-171446">
              <a:buFont typeface="Arial" panose="020B0604020202020204" pitchFamily="34" charset="0"/>
              <a:buChar char="•"/>
            </a:pPr>
            <a:endParaRPr lang="en-US" sz="1200" i="1" kern="0" dirty="0">
              <a:solidFill>
                <a:srgbClr val="FFFFFF"/>
              </a:solidFill>
              <a:latin typeface="IBM Plex Sans Light" panose="020B0403050203000203" pitchFamily="34" charset="0"/>
            </a:endParaRPr>
          </a:p>
          <a:p>
            <a:pPr marL="171446" indent="-171446">
              <a:buFont typeface="Arial" panose="020B0604020202020204" pitchFamily="34" charset="0"/>
              <a:buChar char="•"/>
            </a:pPr>
            <a:endParaRPr lang="en-US" sz="1200" i="1" kern="0" dirty="0">
              <a:solidFill>
                <a:srgbClr val="FFFFFF"/>
              </a:solidFill>
              <a:latin typeface="IBM Plex Sans Light" panose="020B0403050203000203" pitchFamily="34" charset="0"/>
            </a:endParaRPr>
          </a:p>
          <a:p>
            <a:r>
              <a:rPr lang="en-US" sz="1200" i="1" kern="0" dirty="0">
                <a:solidFill>
                  <a:srgbClr val="FFFFFF"/>
                </a:solidFill>
                <a:latin typeface="IBM Plex Sans Light" panose="020B0403050203000203" pitchFamily="34" charset="0"/>
              </a:rPr>
              <a:t> </a:t>
            </a:r>
            <a:endParaRPr lang="en-US" sz="1200" i="1" u="sng" kern="0" dirty="0">
              <a:solidFill>
                <a:srgbClr val="D12765"/>
              </a:solidFill>
              <a:latin typeface="IBM Plex Sans Light" panose="020B0403050203000203" pitchFamily="34" charset="0"/>
            </a:endParaRPr>
          </a:p>
          <a:p>
            <a:endParaRPr lang="en-US" sz="1200" i="1" u="sng" kern="0" dirty="0">
              <a:solidFill>
                <a:srgbClr val="D12765"/>
              </a:solidFill>
              <a:latin typeface="IBM Plex Sans Light" panose="020B0403050203000203" pitchFamily="34" charset="0"/>
            </a:endParaRPr>
          </a:p>
          <a:p>
            <a:pPr marL="457179" lvl="1" indent="-228589" defTabSz="1219140">
              <a:buClr>
                <a:srgbClr val="FFFFFF"/>
              </a:buClr>
              <a:buFont typeface="Arial" panose="020B0604020202020204" pitchFamily="34" charset="0"/>
              <a:buChar char="•"/>
            </a:pPr>
            <a:endParaRPr lang="en-US" sz="1600" kern="0" dirty="0">
              <a:solidFill>
                <a:srgbClr val="FFFFFF"/>
              </a:solidFill>
            </a:endParaRPr>
          </a:p>
        </p:txBody>
      </p:sp>
      <p:sp>
        <p:nvSpPr>
          <p:cNvPr id="8" name="TextBox 7">
            <a:extLst>
              <a:ext uri="{FF2B5EF4-FFF2-40B4-BE49-F238E27FC236}">
                <a16:creationId xmlns:a16="http://schemas.microsoft.com/office/drawing/2014/main" id="{1CE26038-3D13-5842-8F40-39B3DE69849D}"/>
              </a:ext>
            </a:extLst>
          </p:cNvPr>
          <p:cNvSpPr txBox="1"/>
          <p:nvPr/>
        </p:nvSpPr>
        <p:spPr>
          <a:xfrm>
            <a:off x="291403" y="1417082"/>
            <a:ext cx="3684727" cy="492443"/>
          </a:xfrm>
          <a:prstGeom prst="rect">
            <a:avLst/>
          </a:prstGeom>
          <a:noFill/>
        </p:spPr>
        <p:txBody>
          <a:bodyPr wrap="square" lIns="0" tIns="0" rIns="0" bIns="0" rtlCol="0">
            <a:spAutoFit/>
          </a:bodyPr>
          <a:lstStyle/>
          <a:p>
            <a:pPr defTabSz="1219140">
              <a:spcBef>
                <a:spcPts val="1467"/>
              </a:spcBef>
            </a:pPr>
            <a:r>
              <a:rPr lang="en-US" sz="1600" kern="0" dirty="0">
                <a:solidFill>
                  <a:srgbClr val="6EA6FF"/>
                </a:solidFill>
                <a:latin typeface="IBM Plex Sans Regular"/>
              </a:rPr>
              <a:t>Found only in Watson Studio Premium on Cloud Pak for Data</a:t>
            </a:r>
          </a:p>
        </p:txBody>
      </p:sp>
      <p:pic>
        <p:nvPicPr>
          <p:cNvPr id="9" name="Picture 8" descr="A screenshot of a social media post&#10;&#10;Description automatically generated">
            <a:extLst>
              <a:ext uri="{FF2B5EF4-FFF2-40B4-BE49-F238E27FC236}">
                <a16:creationId xmlns:a16="http://schemas.microsoft.com/office/drawing/2014/main" id="{07967412-AAC1-D24F-9967-32FE9E49F7CE}"/>
              </a:ext>
            </a:extLst>
          </p:cNvPr>
          <p:cNvPicPr>
            <a:picLocks noChangeAspect="1"/>
          </p:cNvPicPr>
          <p:nvPr/>
        </p:nvPicPr>
        <p:blipFill>
          <a:blip r:embed="rId3"/>
          <a:stretch>
            <a:fillRect/>
          </a:stretch>
        </p:blipFill>
        <p:spPr>
          <a:xfrm>
            <a:off x="6411022" y="1881287"/>
            <a:ext cx="4868597" cy="2859323"/>
          </a:xfrm>
          <a:prstGeom prst="rect">
            <a:avLst/>
          </a:prstGeom>
        </p:spPr>
      </p:pic>
      <p:pic>
        <p:nvPicPr>
          <p:cNvPr id="10" name="Picture 9" descr="A screenshot of a social media post&#10;&#10;Description automatically generated">
            <a:extLst>
              <a:ext uri="{FF2B5EF4-FFF2-40B4-BE49-F238E27FC236}">
                <a16:creationId xmlns:a16="http://schemas.microsoft.com/office/drawing/2014/main" id="{68C239D5-8A8B-AE4E-8C8B-B41644BAA98E}"/>
              </a:ext>
            </a:extLst>
          </p:cNvPr>
          <p:cNvPicPr>
            <a:picLocks noChangeAspect="1"/>
          </p:cNvPicPr>
          <p:nvPr/>
        </p:nvPicPr>
        <p:blipFill>
          <a:blip r:embed="rId4"/>
          <a:stretch>
            <a:fillRect/>
          </a:stretch>
        </p:blipFill>
        <p:spPr>
          <a:xfrm>
            <a:off x="304889" y="2070340"/>
            <a:ext cx="4281444" cy="2670269"/>
          </a:xfrm>
          <a:prstGeom prst="rect">
            <a:avLst/>
          </a:prstGeom>
        </p:spPr>
      </p:pic>
    </p:spTree>
    <p:extLst>
      <p:ext uri="{BB962C8B-B14F-4D97-AF65-F5344CB8AC3E}">
        <p14:creationId xmlns:p14="http://schemas.microsoft.com/office/powerpoint/2010/main" val="1075085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B5A66-DF38-154C-B559-4B72149EFD09}"/>
              </a:ext>
            </a:extLst>
          </p:cNvPr>
          <p:cNvSpPr>
            <a:spLocks noGrp="1"/>
          </p:cNvSpPr>
          <p:nvPr>
            <p:ph type="title"/>
          </p:nvPr>
        </p:nvSpPr>
        <p:spPr>
          <a:xfrm>
            <a:off x="269127" y="548254"/>
            <a:ext cx="9784659" cy="1072896"/>
          </a:xfrm>
        </p:spPr>
        <p:txBody>
          <a:bodyPr>
            <a:normAutofit fontScale="90000"/>
          </a:bodyPr>
          <a:lstStyle/>
          <a:p>
            <a:r>
              <a:rPr lang="en-US" dirty="0"/>
              <a:t>Why Watson Studio for Cloud Pak for Data? </a:t>
            </a:r>
            <a:br>
              <a:rPr lang="en-US" dirty="0"/>
            </a:br>
            <a:r>
              <a:rPr lang="en-US" sz="2400" dirty="0">
                <a:solidFill>
                  <a:srgbClr val="FFFFFF"/>
                </a:solidFill>
                <a:latin typeface="IBM Plex Sans" panose="020B0503050203000203" pitchFamily="34" charset="77"/>
              </a:rPr>
              <a:t>Increase your returns on AI investment  by applying </a:t>
            </a:r>
            <a:br>
              <a:rPr lang="en-US" sz="2400" dirty="0">
                <a:solidFill>
                  <a:srgbClr val="FFFFFF"/>
                </a:solidFill>
                <a:latin typeface="IBM Plex Sans" panose="020B0503050203000203" pitchFamily="34" charset="77"/>
              </a:rPr>
            </a:br>
            <a:r>
              <a:rPr lang="en-US" sz="2400" dirty="0">
                <a:solidFill>
                  <a:srgbClr val="FFFFFF"/>
                </a:solidFill>
                <a:latin typeface="IBM Plex Sans" panose="020B0503050203000203" pitchFamily="34" charset="77"/>
              </a:rPr>
              <a:t>decision optimization to your discovery and prediction</a:t>
            </a:r>
            <a:br>
              <a:rPr lang="en-US" sz="2400" dirty="0">
                <a:solidFill>
                  <a:srgbClr val="FFFFFF"/>
                </a:solidFill>
                <a:latin typeface="IBM Plex Sans" panose="020B0503050203000203" pitchFamily="34" charset="77"/>
              </a:rPr>
            </a:br>
            <a:br>
              <a:rPr lang="en-US" sz="2400" dirty="0">
                <a:solidFill>
                  <a:srgbClr val="FFFFFF"/>
                </a:solidFill>
                <a:latin typeface="IBM Plex Sans" panose="020B0503050203000203" pitchFamily="34" charset="77"/>
              </a:rPr>
            </a:br>
            <a:endParaRPr lang="en-US" sz="2400" dirty="0"/>
          </a:p>
        </p:txBody>
      </p:sp>
      <p:sp>
        <p:nvSpPr>
          <p:cNvPr id="3" name="Text Placeholder 2">
            <a:extLst>
              <a:ext uri="{FF2B5EF4-FFF2-40B4-BE49-F238E27FC236}">
                <a16:creationId xmlns:a16="http://schemas.microsoft.com/office/drawing/2014/main" id="{5AD15621-EB5A-6F45-9A14-1EE293A1FC1B}"/>
              </a:ext>
            </a:extLst>
          </p:cNvPr>
          <p:cNvSpPr>
            <a:spLocks noGrp="1"/>
          </p:cNvSpPr>
          <p:nvPr>
            <p:ph type="body" sz="quarter" idx="12"/>
          </p:nvPr>
        </p:nvSpPr>
        <p:spPr>
          <a:xfrm>
            <a:off x="281320" y="3429000"/>
            <a:ext cx="2046937" cy="2457621"/>
          </a:xfrm>
        </p:spPr>
        <p:txBody>
          <a:bodyPr/>
          <a:lstStyle/>
          <a:p>
            <a:r>
              <a:rPr lang="en-US" sz="1600" dirty="0">
                <a:solidFill>
                  <a:srgbClr val="FFFFFF"/>
                </a:solidFill>
                <a:cs typeface="Arial" charset="0"/>
              </a:rPr>
              <a:t>Automate AI life cycle management</a:t>
            </a:r>
          </a:p>
          <a:p>
            <a:r>
              <a:rPr lang="en-US" sz="1600" i="1" dirty="0">
                <a:solidFill>
                  <a:srgbClr val="69A6FF">
                    <a:lumMod val="60000"/>
                    <a:lumOff val="40000"/>
                  </a:srgbClr>
                </a:solidFill>
                <a:cs typeface="Calibri"/>
              </a:rPr>
              <a:t>Speed data science  projects and manage AI success end-to-end</a:t>
            </a:r>
            <a:endParaRPr lang="en-US" sz="1600" i="1" dirty="0">
              <a:solidFill>
                <a:srgbClr val="69A6FF">
                  <a:lumMod val="60000"/>
                  <a:lumOff val="40000"/>
                </a:srgbClr>
              </a:solidFill>
              <a:cs typeface="Arial" panose="020B0604020202020204" pitchFamily="34" charset="0"/>
            </a:endParaRPr>
          </a:p>
          <a:p>
            <a:endParaRPr lang="en-US" sz="1600" dirty="0"/>
          </a:p>
        </p:txBody>
      </p:sp>
      <p:sp>
        <p:nvSpPr>
          <p:cNvPr id="4" name="Text Placeholder 3">
            <a:extLst>
              <a:ext uri="{FF2B5EF4-FFF2-40B4-BE49-F238E27FC236}">
                <a16:creationId xmlns:a16="http://schemas.microsoft.com/office/drawing/2014/main" id="{3C18DD93-D278-554A-AA0E-46A40273E444}"/>
              </a:ext>
            </a:extLst>
          </p:cNvPr>
          <p:cNvSpPr>
            <a:spLocks noGrp="1"/>
          </p:cNvSpPr>
          <p:nvPr>
            <p:ph type="body" sz="quarter" idx="13"/>
          </p:nvPr>
        </p:nvSpPr>
        <p:spPr>
          <a:xfrm>
            <a:off x="3329319" y="3429000"/>
            <a:ext cx="2450592" cy="2457621"/>
          </a:xfrm>
        </p:spPr>
        <p:txBody>
          <a:bodyPr/>
          <a:lstStyle/>
          <a:p>
            <a:r>
              <a:rPr lang="en-US" sz="1600" dirty="0">
                <a:solidFill>
                  <a:srgbClr val="FFFFFF"/>
                </a:solidFill>
                <a:cs typeface="Arial" charset="0"/>
              </a:rPr>
              <a:t>Empower data and analytics experts</a:t>
            </a:r>
          </a:p>
          <a:p>
            <a:r>
              <a:rPr lang="en-US" sz="1600" i="1" dirty="0">
                <a:solidFill>
                  <a:srgbClr val="69A6FF">
                    <a:lumMod val="60000"/>
                    <a:lumOff val="40000"/>
                  </a:srgbClr>
                </a:solidFill>
                <a:cs typeface="Arial" panose="020B0604020202020204" pitchFamily="34" charset="0"/>
              </a:rPr>
              <a:t>Activate and reskill developers and analytic experts to be AI ready</a:t>
            </a:r>
          </a:p>
          <a:p>
            <a:endParaRPr lang="en-US" sz="1600" dirty="0"/>
          </a:p>
        </p:txBody>
      </p:sp>
      <p:sp>
        <p:nvSpPr>
          <p:cNvPr id="5" name="Text Placeholder 4">
            <a:extLst>
              <a:ext uri="{FF2B5EF4-FFF2-40B4-BE49-F238E27FC236}">
                <a16:creationId xmlns:a16="http://schemas.microsoft.com/office/drawing/2014/main" id="{2D6B4706-089F-6646-BD02-AE3514FD6B61}"/>
              </a:ext>
            </a:extLst>
          </p:cNvPr>
          <p:cNvSpPr>
            <a:spLocks noGrp="1"/>
          </p:cNvSpPr>
          <p:nvPr>
            <p:ph type="body" sz="quarter" idx="14"/>
          </p:nvPr>
        </p:nvSpPr>
        <p:spPr>
          <a:xfrm>
            <a:off x="6377319" y="3429000"/>
            <a:ext cx="2450592" cy="2457621"/>
          </a:xfrm>
        </p:spPr>
        <p:txBody>
          <a:bodyPr/>
          <a:lstStyle/>
          <a:p>
            <a:r>
              <a:rPr lang="en-US" sz="1600" dirty="0">
                <a:solidFill>
                  <a:srgbClr val="FFFFFF"/>
                </a:solidFill>
                <a:cs typeface="Arial" charset="0"/>
              </a:rPr>
              <a:t>Predict and optimize business outcomes</a:t>
            </a:r>
          </a:p>
          <a:p>
            <a:r>
              <a:rPr lang="en-US" sz="1600" i="1" dirty="0">
                <a:solidFill>
                  <a:srgbClr val="69A6FF">
                    <a:lumMod val="60000"/>
                    <a:lumOff val="40000"/>
                  </a:srgbClr>
                </a:solidFill>
                <a:cs typeface="Arial" panose="020B0604020202020204" pitchFamily="34" charset="0"/>
              </a:rPr>
              <a:t>Activate and reskill developers and analytic experts to be AI ready</a:t>
            </a:r>
          </a:p>
          <a:p>
            <a:endParaRPr lang="en-US" sz="1600" dirty="0"/>
          </a:p>
        </p:txBody>
      </p:sp>
      <p:sp>
        <p:nvSpPr>
          <p:cNvPr id="6" name="Text Placeholder 5">
            <a:extLst>
              <a:ext uri="{FF2B5EF4-FFF2-40B4-BE49-F238E27FC236}">
                <a16:creationId xmlns:a16="http://schemas.microsoft.com/office/drawing/2014/main" id="{8F915B13-11F9-8E45-97BE-B4964A2E8939}"/>
              </a:ext>
            </a:extLst>
          </p:cNvPr>
          <p:cNvSpPr>
            <a:spLocks noGrp="1"/>
          </p:cNvSpPr>
          <p:nvPr>
            <p:ph type="body" sz="quarter" idx="15"/>
          </p:nvPr>
        </p:nvSpPr>
        <p:spPr>
          <a:xfrm>
            <a:off x="9425319" y="3429000"/>
            <a:ext cx="2450592" cy="2457621"/>
          </a:xfrm>
        </p:spPr>
        <p:txBody>
          <a:bodyPr/>
          <a:lstStyle/>
          <a:p>
            <a:r>
              <a:rPr lang="en-US" sz="1600" dirty="0">
                <a:solidFill>
                  <a:srgbClr val="FFFFFF"/>
                </a:solidFill>
                <a:cs typeface="Arial" charset="0"/>
              </a:rPr>
              <a:t>Bring analytics closer to data</a:t>
            </a:r>
          </a:p>
          <a:p>
            <a:r>
              <a:rPr lang="en-US" sz="1600" i="1" dirty="0">
                <a:solidFill>
                  <a:srgbClr val="69A6FF">
                    <a:lumMod val="60000"/>
                    <a:lumOff val="40000"/>
                  </a:srgbClr>
                </a:solidFill>
                <a:cs typeface="Arial" panose="020B0604020202020204" pitchFamily="34" charset="0"/>
              </a:rPr>
              <a:t>Take advantage of  your existing Hadoop/big data securely</a:t>
            </a:r>
          </a:p>
          <a:p>
            <a:endParaRPr lang="en-US" sz="1600" dirty="0"/>
          </a:p>
        </p:txBody>
      </p:sp>
      <p:sp>
        <p:nvSpPr>
          <p:cNvPr id="8" name="Slide Number Placeholder 7">
            <a:extLst>
              <a:ext uri="{FF2B5EF4-FFF2-40B4-BE49-F238E27FC236}">
                <a16:creationId xmlns:a16="http://schemas.microsoft.com/office/drawing/2014/main" id="{A6F278EA-8941-F345-A2B7-631D3A7675DF}"/>
              </a:ext>
            </a:extLst>
          </p:cNvPr>
          <p:cNvSpPr>
            <a:spLocks noGrp="1"/>
          </p:cNvSpPr>
          <p:nvPr>
            <p:ph type="sldNum" sz="quarter" idx="11"/>
          </p:nvPr>
        </p:nvSpPr>
        <p:spPr>
          <a:xfrm>
            <a:off x="9049988" y="6284760"/>
            <a:ext cx="2743200" cy="365125"/>
          </a:xfrm>
        </p:spPr>
        <p:txBody>
          <a:bodyPr/>
          <a:lstStyle/>
          <a:p>
            <a:fld id="{59395FB3-9C97-154F-86B2-7E381B951268}" type="slidenum">
              <a:rPr lang="en-US" smtClean="0"/>
              <a:pPr/>
              <a:t>12</a:t>
            </a:fld>
            <a:endParaRPr lang="en-US" dirty="0"/>
          </a:p>
        </p:txBody>
      </p:sp>
      <p:grpSp>
        <p:nvGrpSpPr>
          <p:cNvPr id="10" name="Group 9">
            <a:extLst>
              <a:ext uri="{FF2B5EF4-FFF2-40B4-BE49-F238E27FC236}">
                <a16:creationId xmlns:a16="http://schemas.microsoft.com/office/drawing/2014/main" id="{D0A7DBD1-0367-7546-8835-AF6676E2432F}"/>
              </a:ext>
            </a:extLst>
          </p:cNvPr>
          <p:cNvGrpSpPr/>
          <p:nvPr/>
        </p:nvGrpSpPr>
        <p:grpSpPr>
          <a:xfrm>
            <a:off x="269127" y="2018277"/>
            <a:ext cx="1171539" cy="1171539"/>
            <a:chOff x="228600" y="1554237"/>
            <a:chExt cx="587987" cy="587987"/>
          </a:xfrm>
        </p:grpSpPr>
        <p:sp>
          <p:nvSpPr>
            <p:cNvPr id="11" name="Oval 10">
              <a:extLst>
                <a:ext uri="{FF2B5EF4-FFF2-40B4-BE49-F238E27FC236}">
                  <a16:creationId xmlns:a16="http://schemas.microsoft.com/office/drawing/2014/main" id="{1E8CD871-900C-D04A-B318-5F4344254482}"/>
                </a:ext>
              </a:extLst>
            </p:cNvPr>
            <p:cNvSpPr/>
            <p:nvPr/>
          </p:nvSpPr>
          <p:spPr>
            <a:xfrm>
              <a:off x="228600" y="1554237"/>
              <a:ext cx="587987" cy="587987"/>
            </a:xfrm>
            <a:prstGeom prst="ellipse">
              <a:avLst/>
            </a:prstGeom>
            <a:solidFill>
              <a:schemeClr val="accent1">
                <a:lumMod val="75000"/>
              </a:schemeClr>
            </a:solidFill>
          </p:spPr>
          <p:txBody>
            <a:bodyPr wrap="square" lIns="0" tIns="0" rIns="0" bIns="0" rtlCol="0" anchor="ctr">
              <a:noAutofit/>
            </a:bodyPr>
            <a:lstStyle/>
            <a:p>
              <a:pPr algn="ctr" defTabSz="914377">
                <a:defRPr/>
              </a:pPr>
              <a:endParaRPr lang="en-US" sz="1600" err="1">
                <a:solidFill>
                  <a:srgbClr val="FFFFFF"/>
                </a:solidFill>
                <a:latin typeface="Arial"/>
                <a:cs typeface="Arial"/>
              </a:endParaRPr>
            </a:p>
          </p:txBody>
        </p:sp>
        <p:pic>
          <p:nvPicPr>
            <p:cNvPr id="12" name="Picture 74">
              <a:extLst>
                <a:ext uri="{FF2B5EF4-FFF2-40B4-BE49-F238E27FC236}">
                  <a16:creationId xmlns:a16="http://schemas.microsoft.com/office/drawing/2014/main" id="{87F3CB5A-1761-C34A-BFB1-1611D8FFB443}"/>
                </a:ext>
              </a:extLst>
            </p:cNvPr>
            <p:cNvPicPr>
              <a:picLocks/>
            </p:cNvPicPr>
            <p:nvPr/>
          </p:nvPicPr>
          <p:blipFill>
            <a:blip r:embed="rId3">
              <a:extLst>
                <a:ext uri="{96DAC541-7B7A-43D3-8B79-37D633B846F1}">
                  <asvg:svgBlip xmlns:asvg="http://schemas.microsoft.com/office/drawing/2016/SVG/main" r:embed="rId4"/>
                </a:ext>
              </a:extLst>
            </a:blip>
            <a:srcRect/>
            <a:stretch/>
          </p:blipFill>
          <p:spPr>
            <a:xfrm>
              <a:off x="360163" y="1690031"/>
              <a:ext cx="324861" cy="324861"/>
            </a:xfrm>
            <a:prstGeom prst="rect">
              <a:avLst/>
            </a:prstGeom>
          </p:spPr>
        </p:pic>
      </p:grpSp>
      <p:grpSp>
        <p:nvGrpSpPr>
          <p:cNvPr id="13" name="Group 12">
            <a:extLst>
              <a:ext uri="{FF2B5EF4-FFF2-40B4-BE49-F238E27FC236}">
                <a16:creationId xmlns:a16="http://schemas.microsoft.com/office/drawing/2014/main" id="{0CCF5D92-8864-024E-90CE-1FCACE9001BC}"/>
              </a:ext>
            </a:extLst>
          </p:cNvPr>
          <p:cNvGrpSpPr/>
          <p:nvPr/>
        </p:nvGrpSpPr>
        <p:grpSpPr>
          <a:xfrm>
            <a:off x="3317127" y="2018274"/>
            <a:ext cx="1171539" cy="1171539"/>
            <a:chOff x="228600" y="1554237"/>
            <a:chExt cx="587987" cy="587987"/>
          </a:xfrm>
          <a:solidFill>
            <a:schemeClr val="accent1">
              <a:lumMod val="50000"/>
            </a:schemeClr>
          </a:solidFill>
        </p:grpSpPr>
        <p:sp>
          <p:nvSpPr>
            <p:cNvPr id="14" name="Oval 13">
              <a:extLst>
                <a:ext uri="{FF2B5EF4-FFF2-40B4-BE49-F238E27FC236}">
                  <a16:creationId xmlns:a16="http://schemas.microsoft.com/office/drawing/2014/main" id="{5A167CD5-10D3-B647-8C67-EBF7233A2824}"/>
                </a:ext>
              </a:extLst>
            </p:cNvPr>
            <p:cNvSpPr/>
            <p:nvPr/>
          </p:nvSpPr>
          <p:spPr>
            <a:xfrm>
              <a:off x="228600" y="1554237"/>
              <a:ext cx="587987" cy="587987"/>
            </a:xfrm>
            <a:prstGeom prst="ellipse">
              <a:avLst/>
            </a:prstGeom>
            <a:grpFill/>
          </p:spPr>
          <p:txBody>
            <a:bodyPr wrap="square" lIns="0" tIns="0" rIns="0" bIns="0" rtlCol="0" anchor="ctr">
              <a:noAutofit/>
            </a:bodyPr>
            <a:lstStyle/>
            <a:p>
              <a:pPr algn="ctr" defTabSz="914377">
                <a:defRPr/>
              </a:pPr>
              <a:endParaRPr lang="en-US" sz="1600" err="1">
                <a:solidFill>
                  <a:srgbClr val="FFFFFF"/>
                </a:solidFill>
                <a:latin typeface="Arial"/>
                <a:cs typeface="Arial"/>
              </a:endParaRPr>
            </a:p>
          </p:txBody>
        </p:sp>
        <p:pic>
          <p:nvPicPr>
            <p:cNvPr id="15" name="Picture 74">
              <a:extLst>
                <a:ext uri="{FF2B5EF4-FFF2-40B4-BE49-F238E27FC236}">
                  <a16:creationId xmlns:a16="http://schemas.microsoft.com/office/drawing/2014/main" id="{CFB7981A-346C-3946-B164-B3782009C418}"/>
                </a:ext>
              </a:extLst>
            </p:cNvPr>
            <p:cNvPicPr>
              <a:picLocks/>
            </p:cNvPicPr>
            <p:nvPr/>
          </p:nvPicPr>
          <p:blipFill>
            <a:blip r:embed="rId5">
              <a:extLst>
                <a:ext uri="{96DAC541-7B7A-43D3-8B79-37D633B846F1}">
                  <asvg:svgBlip xmlns:asvg="http://schemas.microsoft.com/office/drawing/2016/SVG/main" r:embed="rId6"/>
                </a:ext>
              </a:extLst>
            </a:blip>
            <a:srcRect/>
            <a:stretch/>
          </p:blipFill>
          <p:spPr>
            <a:xfrm>
              <a:off x="360163" y="1690031"/>
              <a:ext cx="324861" cy="324861"/>
            </a:xfrm>
            <a:prstGeom prst="rect">
              <a:avLst/>
            </a:prstGeom>
          </p:spPr>
        </p:pic>
      </p:grpSp>
      <p:grpSp>
        <p:nvGrpSpPr>
          <p:cNvPr id="16" name="Group 15">
            <a:extLst>
              <a:ext uri="{FF2B5EF4-FFF2-40B4-BE49-F238E27FC236}">
                <a16:creationId xmlns:a16="http://schemas.microsoft.com/office/drawing/2014/main" id="{25CE8EE4-7356-7942-AC27-4DA0CF15AEA4}"/>
              </a:ext>
            </a:extLst>
          </p:cNvPr>
          <p:cNvGrpSpPr/>
          <p:nvPr/>
        </p:nvGrpSpPr>
        <p:grpSpPr>
          <a:xfrm>
            <a:off x="9468014" y="1973266"/>
            <a:ext cx="1171539" cy="1171539"/>
            <a:chOff x="228600" y="1554237"/>
            <a:chExt cx="587987" cy="587987"/>
          </a:xfrm>
          <a:solidFill>
            <a:schemeClr val="accent1">
              <a:lumMod val="50000"/>
            </a:schemeClr>
          </a:solidFill>
        </p:grpSpPr>
        <p:sp>
          <p:nvSpPr>
            <p:cNvPr id="17" name="Oval 16">
              <a:extLst>
                <a:ext uri="{FF2B5EF4-FFF2-40B4-BE49-F238E27FC236}">
                  <a16:creationId xmlns:a16="http://schemas.microsoft.com/office/drawing/2014/main" id="{54F5BD63-4B6E-CE4D-A17E-0511E5217A3F}"/>
                </a:ext>
              </a:extLst>
            </p:cNvPr>
            <p:cNvSpPr/>
            <p:nvPr/>
          </p:nvSpPr>
          <p:spPr>
            <a:xfrm>
              <a:off x="228600" y="1554237"/>
              <a:ext cx="587987" cy="587987"/>
            </a:xfrm>
            <a:prstGeom prst="ellipse">
              <a:avLst/>
            </a:prstGeom>
            <a:grpFill/>
          </p:spPr>
          <p:txBody>
            <a:bodyPr wrap="square" lIns="0" tIns="0" rIns="0" bIns="0" rtlCol="0" anchor="ctr">
              <a:noAutofit/>
            </a:bodyPr>
            <a:lstStyle/>
            <a:p>
              <a:pPr algn="ctr" defTabSz="914377">
                <a:defRPr/>
              </a:pPr>
              <a:endParaRPr lang="en-US" sz="1600" err="1">
                <a:solidFill>
                  <a:srgbClr val="FFFFFF"/>
                </a:solidFill>
                <a:latin typeface="Arial"/>
                <a:cs typeface="Arial"/>
              </a:endParaRPr>
            </a:p>
          </p:txBody>
        </p:sp>
        <p:pic>
          <p:nvPicPr>
            <p:cNvPr id="18" name="Picture 74">
              <a:extLst>
                <a:ext uri="{FF2B5EF4-FFF2-40B4-BE49-F238E27FC236}">
                  <a16:creationId xmlns:a16="http://schemas.microsoft.com/office/drawing/2014/main" id="{97BB6701-2D1C-0C48-9F71-E7067CE8047A}"/>
                </a:ext>
              </a:extLst>
            </p:cNvPr>
            <p:cNvPicPr>
              <a:picLocks/>
            </p:cNvPicPr>
            <p:nvPr/>
          </p:nvPicPr>
          <p:blipFill>
            <a:blip r:embed="rId7">
              <a:extLst>
                <a:ext uri="{96DAC541-7B7A-43D3-8B79-37D633B846F1}">
                  <asvg:svgBlip xmlns:asvg="http://schemas.microsoft.com/office/drawing/2016/SVG/main" r:embed="rId8"/>
                </a:ext>
              </a:extLst>
            </a:blip>
            <a:srcRect/>
            <a:stretch/>
          </p:blipFill>
          <p:spPr>
            <a:xfrm>
              <a:off x="382331" y="1690031"/>
              <a:ext cx="324861" cy="324861"/>
            </a:xfrm>
            <a:prstGeom prst="rect">
              <a:avLst/>
            </a:prstGeom>
          </p:spPr>
        </p:pic>
      </p:grpSp>
      <p:grpSp>
        <p:nvGrpSpPr>
          <p:cNvPr id="19" name="Group 18">
            <a:extLst>
              <a:ext uri="{FF2B5EF4-FFF2-40B4-BE49-F238E27FC236}">
                <a16:creationId xmlns:a16="http://schemas.microsoft.com/office/drawing/2014/main" id="{B30F5090-E5FB-8A44-8C11-EF0D40585D67}"/>
              </a:ext>
            </a:extLst>
          </p:cNvPr>
          <p:cNvGrpSpPr/>
          <p:nvPr/>
        </p:nvGrpSpPr>
        <p:grpSpPr>
          <a:xfrm>
            <a:off x="6420014" y="1986897"/>
            <a:ext cx="1171539" cy="1171539"/>
            <a:chOff x="228600" y="1554237"/>
            <a:chExt cx="587987" cy="587987"/>
          </a:xfrm>
          <a:solidFill>
            <a:schemeClr val="accent1">
              <a:lumMod val="50000"/>
            </a:schemeClr>
          </a:solidFill>
        </p:grpSpPr>
        <p:sp>
          <p:nvSpPr>
            <p:cNvPr id="20" name="Oval 19">
              <a:extLst>
                <a:ext uri="{FF2B5EF4-FFF2-40B4-BE49-F238E27FC236}">
                  <a16:creationId xmlns:a16="http://schemas.microsoft.com/office/drawing/2014/main" id="{31E5CF3E-38B0-E740-980D-FBB8DDA8DF8A}"/>
                </a:ext>
              </a:extLst>
            </p:cNvPr>
            <p:cNvSpPr/>
            <p:nvPr/>
          </p:nvSpPr>
          <p:spPr>
            <a:xfrm>
              <a:off x="228600" y="1554237"/>
              <a:ext cx="587987" cy="587987"/>
            </a:xfrm>
            <a:prstGeom prst="ellipse">
              <a:avLst/>
            </a:prstGeom>
            <a:grpFill/>
          </p:spPr>
          <p:txBody>
            <a:bodyPr wrap="square" lIns="0" tIns="0" rIns="0" bIns="0" rtlCol="0" anchor="ctr">
              <a:noAutofit/>
            </a:bodyPr>
            <a:lstStyle/>
            <a:p>
              <a:pPr algn="ctr" defTabSz="914377">
                <a:defRPr/>
              </a:pPr>
              <a:endParaRPr lang="en-US" sz="1600" err="1">
                <a:solidFill>
                  <a:srgbClr val="FFFFFF"/>
                </a:solidFill>
                <a:latin typeface="Arial"/>
                <a:cs typeface="Arial"/>
              </a:endParaRPr>
            </a:p>
          </p:txBody>
        </p:sp>
        <p:pic>
          <p:nvPicPr>
            <p:cNvPr id="21" name="Picture 74">
              <a:extLst>
                <a:ext uri="{FF2B5EF4-FFF2-40B4-BE49-F238E27FC236}">
                  <a16:creationId xmlns:a16="http://schemas.microsoft.com/office/drawing/2014/main" id="{30D0B496-127A-4749-92AE-A39CE4B96880}"/>
                </a:ext>
              </a:extLst>
            </p:cNvPr>
            <p:cNvPicPr>
              <a:picLocks/>
            </p:cNvPicPr>
            <p:nvPr/>
          </p:nvPicPr>
          <p:blipFill>
            <a:blip r:embed="rId9">
              <a:extLst>
                <a:ext uri="{96DAC541-7B7A-43D3-8B79-37D633B846F1}">
                  <asvg:svgBlip xmlns:asvg="http://schemas.microsoft.com/office/drawing/2016/SVG/main" r:embed="rId10"/>
                </a:ext>
              </a:extLst>
            </a:blip>
            <a:srcRect/>
            <a:stretch/>
          </p:blipFill>
          <p:spPr>
            <a:xfrm>
              <a:off x="360163" y="1690031"/>
              <a:ext cx="324861" cy="324861"/>
            </a:xfrm>
            <a:prstGeom prst="rect">
              <a:avLst/>
            </a:prstGeom>
          </p:spPr>
        </p:pic>
      </p:grpSp>
      <p:sp>
        <p:nvSpPr>
          <p:cNvPr id="26" name="TextBox 25">
            <a:extLst>
              <a:ext uri="{FF2B5EF4-FFF2-40B4-BE49-F238E27FC236}">
                <a16:creationId xmlns:a16="http://schemas.microsoft.com/office/drawing/2014/main" id="{18A4D471-7567-EC4C-B8B9-1C9D4906B406}"/>
              </a:ext>
            </a:extLst>
          </p:cNvPr>
          <p:cNvSpPr txBox="1"/>
          <p:nvPr/>
        </p:nvSpPr>
        <p:spPr>
          <a:xfrm>
            <a:off x="269126" y="5379933"/>
            <a:ext cx="11606696" cy="338554"/>
          </a:xfrm>
          <a:prstGeom prst="rect">
            <a:avLst/>
          </a:prstGeom>
          <a:gradFill>
            <a:gsLst>
              <a:gs pos="0">
                <a:srgbClr val="282828"/>
              </a:gs>
              <a:gs pos="100000">
                <a:srgbClr val="3D3D3D"/>
              </a:gs>
            </a:gsLst>
            <a:lin ang="8100000" scaled="0"/>
          </a:gradFill>
        </p:spPr>
        <p:txBody>
          <a:bodyPr wrap="square" rtlCol="0">
            <a:spAutoFit/>
          </a:bodyPr>
          <a:lstStyle/>
          <a:p>
            <a:pPr defTabSz="914377" hangingPunct="0">
              <a:tabLst>
                <a:tab pos="968350" algn="l"/>
              </a:tabLst>
              <a:defRPr/>
            </a:pPr>
            <a:r>
              <a:rPr lang="en-US" sz="1600" kern="0" dirty="0">
                <a:solidFill>
                  <a:srgbClr val="FFFFFF"/>
                </a:solidFill>
                <a:latin typeface="IBM Plex Sans"/>
                <a:sym typeface="Calibri"/>
              </a:rPr>
              <a:t>Watson Studio </a:t>
            </a:r>
            <a:r>
              <a:rPr lang="en-US" sz="1600" kern="0" dirty="0">
                <a:solidFill>
                  <a:srgbClr val="0F6FFF">
                    <a:lumMod val="60000"/>
                    <a:lumOff val="40000"/>
                  </a:srgbClr>
                </a:solidFill>
                <a:latin typeface="IBM Plex Sans"/>
                <a:sym typeface="Calibri"/>
              </a:rPr>
              <a:t>=</a:t>
            </a:r>
            <a:r>
              <a:rPr lang="en-US" sz="1600" kern="0" dirty="0">
                <a:solidFill>
                  <a:srgbClr val="FFFFFF"/>
                </a:solidFill>
                <a:latin typeface="IBM Plex Sans"/>
                <a:sym typeface="Calibri"/>
              </a:rPr>
              <a:t> SPSS Modeler </a:t>
            </a:r>
            <a:r>
              <a:rPr lang="en-US" sz="1600" kern="0" dirty="0">
                <a:solidFill>
                  <a:srgbClr val="D7AEFF"/>
                </a:solidFill>
                <a:latin typeface="IBM Plex Sans"/>
                <a:sym typeface="Calibri"/>
              </a:rPr>
              <a:t>+</a:t>
            </a:r>
            <a:r>
              <a:rPr lang="en-US" sz="1600" kern="0" dirty="0">
                <a:solidFill>
                  <a:srgbClr val="FFFFFF"/>
                </a:solidFill>
                <a:latin typeface="IBM Plex Sans"/>
                <a:sym typeface="Calibri"/>
              </a:rPr>
              <a:t> Decision Optimization </a:t>
            </a:r>
            <a:r>
              <a:rPr lang="en-US" sz="1600" kern="0" dirty="0">
                <a:solidFill>
                  <a:srgbClr val="D7AEFF"/>
                </a:solidFill>
                <a:latin typeface="IBM Plex Sans"/>
                <a:sym typeface="Calibri"/>
              </a:rPr>
              <a:t>+</a:t>
            </a:r>
            <a:r>
              <a:rPr lang="en-US" sz="1600" kern="0" dirty="0">
                <a:solidFill>
                  <a:srgbClr val="FFFFFF"/>
                </a:solidFill>
                <a:latin typeface="IBM Plex Sans"/>
                <a:sym typeface="Calibri"/>
              </a:rPr>
              <a:t> Hadoop Execution Engine </a:t>
            </a:r>
          </a:p>
        </p:txBody>
      </p:sp>
    </p:spTree>
    <p:extLst>
      <p:ext uri="{BB962C8B-B14F-4D97-AF65-F5344CB8AC3E}">
        <p14:creationId xmlns:p14="http://schemas.microsoft.com/office/powerpoint/2010/main" val="3437093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CCFA542-2BD6-2446-89A1-AF815FD34F23}"/>
              </a:ext>
            </a:extLst>
          </p:cNvPr>
          <p:cNvSpPr>
            <a:spLocks noGrp="1"/>
          </p:cNvSpPr>
          <p:nvPr>
            <p:ph type="ftr" sz="quarter" idx="10"/>
          </p:nvPr>
        </p:nvSpPr>
        <p:spPr/>
        <p:txBody>
          <a:bodyPr/>
          <a:lstStyle/>
          <a:p>
            <a:r>
              <a:rPr lang="en-US"/>
              <a:t>© 2020 IBM Corporation</a:t>
            </a:r>
            <a:endParaRPr lang="en-US" dirty="0"/>
          </a:p>
        </p:txBody>
      </p:sp>
      <p:sp>
        <p:nvSpPr>
          <p:cNvPr id="3" name="Slide Number Placeholder 2">
            <a:extLst>
              <a:ext uri="{FF2B5EF4-FFF2-40B4-BE49-F238E27FC236}">
                <a16:creationId xmlns:a16="http://schemas.microsoft.com/office/drawing/2014/main" id="{B2E684FF-14F6-1F42-81FC-0FC84A597BCE}"/>
              </a:ext>
            </a:extLst>
          </p:cNvPr>
          <p:cNvSpPr>
            <a:spLocks noGrp="1"/>
          </p:cNvSpPr>
          <p:nvPr>
            <p:ph type="sldNum" sz="quarter" idx="11"/>
          </p:nvPr>
        </p:nvSpPr>
        <p:spPr/>
        <p:txBody>
          <a:bodyPr/>
          <a:lstStyle/>
          <a:p>
            <a:fld id="{59395FB3-9C97-154F-86B2-7E381B951268}" type="slidenum">
              <a:rPr lang="en-US" smtClean="0"/>
              <a:pPr/>
              <a:t>13</a:t>
            </a:fld>
            <a:endParaRPr lang="en-US" dirty="0"/>
          </a:p>
        </p:txBody>
      </p:sp>
    </p:spTree>
    <p:extLst>
      <p:ext uri="{BB962C8B-B14F-4D97-AF65-F5344CB8AC3E}">
        <p14:creationId xmlns:p14="http://schemas.microsoft.com/office/powerpoint/2010/main" val="30323879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TotalTime>
  <Words>2337</Words>
  <Application>Microsoft Macintosh PowerPoint</Application>
  <PresentationFormat>Widescreen</PresentationFormat>
  <Paragraphs>293</Paragraphs>
  <Slides>13</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Calibri</vt:lpstr>
      <vt:lpstr>Calibri Light</vt:lpstr>
      <vt:lpstr>IBM Plex Sans</vt:lpstr>
      <vt:lpstr>IBM Plex Sans Light</vt:lpstr>
      <vt:lpstr>IBM Plex Sans Medium</vt:lpstr>
      <vt:lpstr>IBM Plex Sans Regular</vt:lpstr>
      <vt:lpstr>IBM Plex Sans SemiBold</vt:lpstr>
      <vt:lpstr>System Font Regular</vt:lpstr>
      <vt:lpstr>Wingdings</vt:lpstr>
      <vt:lpstr>Office Theme</vt:lpstr>
      <vt:lpstr>Watson Studio — Decision Optimization  Collect. Optimize. Transform your business.  — Presenter Name Presenter Title BU IBM Email:  xxx Linkedin: xxx  </vt:lpstr>
      <vt:lpstr>With predictive analytics alone, you’re only getting half the story</vt:lpstr>
      <vt:lpstr>Solve for what to do next  with machine learning and prescriptive and predictive analytics </vt:lpstr>
      <vt:lpstr>Machine learning + optimization = actionable insights</vt:lpstr>
      <vt:lpstr>Prescribe action by optimizing decisions on discovery and predictions for modern apps</vt:lpstr>
      <vt:lpstr>Power of the platform  Example 3: Predictive to prescriptive</vt:lpstr>
      <vt:lpstr>Power of the platform  Example 4: No-coding model generation with NLP</vt:lpstr>
      <vt:lpstr>Power of the platform  Example 5: No-coding model generation with NLP</vt:lpstr>
      <vt:lpstr>  IBM Decision Optimization  </vt:lpstr>
      <vt:lpstr>Delivering massive return on investment</vt:lpstr>
      <vt:lpstr>Decision Optimization features Not found in standalone  </vt:lpstr>
      <vt:lpstr>Why Watson Studio for Cloud Pak for Data?  Increase your returns on AI investment  by applying  decision optimization to your discovery and prediction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Rachana Vishwanathula</dc:creator>
  <cp:lastModifiedBy>Rachana Vishwanathula</cp:lastModifiedBy>
  <cp:revision>12</cp:revision>
  <dcterms:created xsi:type="dcterms:W3CDTF">2020-08-18T14:34:38Z</dcterms:created>
  <dcterms:modified xsi:type="dcterms:W3CDTF">2020-08-18T14:43:17Z</dcterms:modified>
</cp:coreProperties>
</file>